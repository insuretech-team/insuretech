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305" r:id="rId2"/>
    <p:sldId id="267" r:id="rId3"/>
    <p:sldId id="307" r:id="rId4"/>
    <p:sldId id="258" r:id="rId5"/>
    <p:sldId id="262" r:id="rId6"/>
    <p:sldId id="260" r:id="rId7"/>
    <p:sldId id="259" r:id="rId8"/>
    <p:sldId id="275" r:id="rId9"/>
    <p:sldId id="274" r:id="rId10"/>
    <p:sldId id="276" r:id="rId11"/>
    <p:sldId id="261" r:id="rId12"/>
    <p:sldId id="272" r:id="rId13"/>
    <p:sldId id="278" r:id="rId14"/>
    <p:sldId id="273" r:id="rId15"/>
    <p:sldId id="280" r:id="rId16"/>
    <p:sldId id="263" r:id="rId17"/>
    <p:sldId id="264" r:id="rId18"/>
    <p:sldId id="306" r:id="rId19"/>
    <p:sldId id="266" r:id="rId20"/>
    <p:sldId id="277" r:id="rId21"/>
    <p:sldId id="281" r:id="rId22"/>
    <p:sldId id="297" r:id="rId23"/>
    <p:sldId id="299" r:id="rId24"/>
    <p:sldId id="300" r:id="rId25"/>
    <p:sldId id="301" r:id="rId26"/>
    <p:sldId id="308" r:id="rId27"/>
    <p:sldId id="302" r:id="rId28"/>
    <p:sldId id="309" r:id="rId29"/>
    <p:sldId id="310" r:id="rId30"/>
    <p:sldId id="311" r:id="rId31"/>
    <p:sldId id="303" r:id="rId32"/>
    <p:sldId id="304" r:id="rId33"/>
    <p:sldId id="3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7" d="100"/>
          <a:sy n="87" d="100"/>
        </p:scale>
        <p:origin x="52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iagrams/_rels/data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image" Target="../media/image24.jpg"/></Relationships>
</file>

<file path=ppt/diagrams/_rels/drawing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image" Target="../media/image24.jp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FCBAB6-0FFB-4A60-B4E1-8586A7138607}" type="doc">
      <dgm:prSet loTypeId="urn:microsoft.com/office/officeart/2005/8/layout/radial6" loCatId="relationship" qsTypeId="urn:microsoft.com/office/officeart/2005/8/quickstyle/3d3" qsCatId="3D" csTypeId="urn:microsoft.com/office/officeart/2005/8/colors/colorful2" csCatId="colorful" phldr="1"/>
      <dgm:spPr/>
      <dgm:t>
        <a:bodyPr/>
        <a:lstStyle/>
        <a:p>
          <a:endParaRPr lang="en-US"/>
        </a:p>
      </dgm:t>
    </dgm:pt>
    <dgm:pt modelId="{C02F7741-F30B-486E-A3C2-10004603C767}">
      <dgm:prSet phldrT="[Text]"/>
      <dgm:spPr/>
      <dgm:t>
        <a:bodyPr/>
        <a:lstStyle/>
        <a:p>
          <a:pPr algn="ctr"/>
          <a:r>
            <a:rPr lang="en-US" b="1" dirty="0"/>
            <a:t>Cause of Claims</a:t>
          </a:r>
        </a:p>
      </dgm:t>
    </dgm:pt>
    <dgm:pt modelId="{CF5214C6-B92E-4F37-B72B-E0F01F1B5DB0}" type="parTrans" cxnId="{066FA2DE-3204-4D4A-AD40-D8E06B86E275}">
      <dgm:prSet/>
      <dgm:spPr/>
      <dgm:t>
        <a:bodyPr/>
        <a:lstStyle/>
        <a:p>
          <a:pPr algn="ctr"/>
          <a:endParaRPr lang="en-US"/>
        </a:p>
      </dgm:t>
    </dgm:pt>
    <dgm:pt modelId="{C399FBB0-9B83-46E0-A7D7-AB3C620060A0}" type="sibTrans" cxnId="{066FA2DE-3204-4D4A-AD40-D8E06B86E275}">
      <dgm:prSet/>
      <dgm:spPr/>
      <dgm:t>
        <a:bodyPr/>
        <a:lstStyle/>
        <a:p>
          <a:pPr algn="ctr"/>
          <a:endParaRPr lang="en-US"/>
        </a:p>
      </dgm:t>
    </dgm:pt>
    <dgm:pt modelId="{DFC19057-12D2-46A1-ADDA-066F2101051A}">
      <dgm:prSet phldrT="[Text]" custT="1"/>
      <dgm:spPr/>
      <dgm:t>
        <a:bodyPr/>
        <a:lstStyle/>
        <a:p>
          <a:pPr algn="ctr"/>
          <a:r>
            <a:rPr lang="en-US" sz="3200" b="1" dirty="0"/>
            <a:t>Road Accident</a:t>
          </a:r>
        </a:p>
      </dgm:t>
    </dgm:pt>
    <dgm:pt modelId="{B41E9D86-D04C-4321-B30E-2BECCD47EB53}" type="parTrans" cxnId="{D9E1CB48-1E97-4A67-A27F-728C5747EAFF}">
      <dgm:prSet/>
      <dgm:spPr/>
      <dgm:t>
        <a:bodyPr/>
        <a:lstStyle/>
        <a:p>
          <a:pPr algn="ctr"/>
          <a:endParaRPr lang="en-US"/>
        </a:p>
      </dgm:t>
    </dgm:pt>
    <dgm:pt modelId="{713E6B0A-265B-4FE6-A544-A8389C6CE8CE}" type="sibTrans" cxnId="{D9E1CB48-1E97-4A67-A27F-728C5747EAFF}">
      <dgm:prSet/>
      <dgm:spPr/>
      <dgm:t>
        <a:bodyPr/>
        <a:lstStyle/>
        <a:p>
          <a:pPr algn="ctr"/>
          <a:endParaRPr lang="en-US"/>
        </a:p>
      </dgm:t>
    </dgm:pt>
    <dgm:pt modelId="{0B1BD59F-92D7-4FA6-BAA6-FE6E477C61F8}">
      <dgm:prSet phldrT="[Text]" custT="1"/>
      <dgm:spPr/>
      <dgm:t>
        <a:bodyPr/>
        <a:lstStyle/>
        <a:p>
          <a:pPr algn="ctr"/>
          <a:r>
            <a:rPr lang="en-US" sz="3600" b="1" dirty="0"/>
            <a:t>Theft</a:t>
          </a:r>
        </a:p>
      </dgm:t>
    </dgm:pt>
    <dgm:pt modelId="{45E2B7D5-C8FF-4BD6-BA4C-3BA5FF42CF97}" type="parTrans" cxnId="{5EB0E77D-2A9A-47BD-A233-76929194AA1B}">
      <dgm:prSet/>
      <dgm:spPr/>
      <dgm:t>
        <a:bodyPr/>
        <a:lstStyle/>
        <a:p>
          <a:pPr algn="ctr"/>
          <a:endParaRPr lang="en-US"/>
        </a:p>
      </dgm:t>
    </dgm:pt>
    <dgm:pt modelId="{F22B39F2-13C6-4132-B6E4-3032A38A44F2}" type="sibTrans" cxnId="{5EB0E77D-2A9A-47BD-A233-76929194AA1B}">
      <dgm:prSet/>
      <dgm:spPr/>
      <dgm:t>
        <a:bodyPr/>
        <a:lstStyle/>
        <a:p>
          <a:pPr algn="ctr"/>
          <a:endParaRPr lang="en-US"/>
        </a:p>
      </dgm:t>
    </dgm:pt>
    <dgm:pt modelId="{74BDFE91-4FE9-42C8-B7E5-39B81BE2A751}">
      <dgm:prSet phldrT="[Text]" custT="1"/>
      <dgm:spPr/>
      <dgm:t>
        <a:bodyPr/>
        <a:lstStyle/>
        <a:p>
          <a:pPr algn="ctr"/>
          <a:r>
            <a:rPr lang="en-US" sz="2800" b="1" dirty="0"/>
            <a:t>Natural Disaster</a:t>
          </a:r>
        </a:p>
      </dgm:t>
    </dgm:pt>
    <dgm:pt modelId="{0D74A437-D50E-4B21-A800-F34168C89B8F}" type="parTrans" cxnId="{9FAA5CB5-5106-48F8-A379-CD6A4A3FAE86}">
      <dgm:prSet/>
      <dgm:spPr/>
      <dgm:t>
        <a:bodyPr/>
        <a:lstStyle/>
        <a:p>
          <a:pPr algn="ctr"/>
          <a:endParaRPr lang="en-US"/>
        </a:p>
      </dgm:t>
    </dgm:pt>
    <dgm:pt modelId="{580BD9C6-2995-4B89-AC96-0CC725A60479}" type="sibTrans" cxnId="{9FAA5CB5-5106-48F8-A379-CD6A4A3FAE86}">
      <dgm:prSet/>
      <dgm:spPr/>
      <dgm:t>
        <a:bodyPr/>
        <a:lstStyle/>
        <a:p>
          <a:pPr algn="ctr"/>
          <a:endParaRPr lang="en-US"/>
        </a:p>
      </dgm:t>
    </dgm:pt>
    <dgm:pt modelId="{D6CA11B9-81F0-4D9F-8405-99258026A5D5}">
      <dgm:prSet phldrT="[Text]" custT="1"/>
      <dgm:spPr/>
      <dgm:t>
        <a:bodyPr/>
        <a:lstStyle/>
        <a:p>
          <a:pPr algn="ctr"/>
          <a:r>
            <a:rPr lang="en-US" sz="3600" b="1" dirty="0"/>
            <a:t>Fire </a:t>
          </a:r>
        </a:p>
      </dgm:t>
    </dgm:pt>
    <dgm:pt modelId="{D882EEF4-5BEC-400D-A9BE-941BBB8140DA}" type="parTrans" cxnId="{BF4CF5CC-62F3-436A-BD12-6D459681196D}">
      <dgm:prSet/>
      <dgm:spPr/>
      <dgm:t>
        <a:bodyPr/>
        <a:lstStyle/>
        <a:p>
          <a:pPr algn="ctr"/>
          <a:endParaRPr lang="en-US"/>
        </a:p>
      </dgm:t>
    </dgm:pt>
    <dgm:pt modelId="{46AB6CB7-30B0-441C-973C-7C93789BAAD4}" type="sibTrans" cxnId="{BF4CF5CC-62F3-436A-BD12-6D459681196D}">
      <dgm:prSet/>
      <dgm:spPr/>
      <dgm:t>
        <a:bodyPr/>
        <a:lstStyle/>
        <a:p>
          <a:pPr algn="ctr"/>
          <a:endParaRPr lang="en-US"/>
        </a:p>
      </dgm:t>
    </dgm:pt>
    <dgm:pt modelId="{88D8F2CE-E725-436A-9EB8-51A2FC80BAEA}">
      <dgm:prSet phldrT="[Text]" custT="1"/>
      <dgm:spPr/>
      <dgm:t>
        <a:bodyPr/>
        <a:lstStyle/>
        <a:p>
          <a:pPr algn="ctr"/>
          <a:r>
            <a:rPr lang="en-US" sz="2000" b="1" dirty="0"/>
            <a:t>Flood</a:t>
          </a:r>
        </a:p>
      </dgm:t>
    </dgm:pt>
    <dgm:pt modelId="{5FCFCDB6-30E8-4550-98B6-FDBD28D4FF9D}" type="parTrans" cxnId="{45679572-F2A4-4332-B131-D5BC5E843365}">
      <dgm:prSet/>
      <dgm:spPr/>
      <dgm:t>
        <a:bodyPr/>
        <a:lstStyle/>
        <a:p>
          <a:pPr algn="ctr"/>
          <a:endParaRPr lang="en-US"/>
        </a:p>
      </dgm:t>
    </dgm:pt>
    <dgm:pt modelId="{F4EE0789-3B09-42A7-A410-A706FA13DB9A}" type="sibTrans" cxnId="{45679572-F2A4-4332-B131-D5BC5E843365}">
      <dgm:prSet/>
      <dgm:spPr/>
      <dgm:t>
        <a:bodyPr/>
        <a:lstStyle/>
        <a:p>
          <a:pPr algn="ctr"/>
          <a:endParaRPr lang="en-US"/>
        </a:p>
      </dgm:t>
    </dgm:pt>
    <dgm:pt modelId="{F58866A9-C663-4E61-AA60-F48F3AA5B9FF}">
      <dgm:prSet phldrT="[Text]" custT="1"/>
      <dgm:spPr/>
      <dgm:t>
        <a:bodyPr/>
        <a:lstStyle/>
        <a:p>
          <a:pPr algn="ctr"/>
          <a:r>
            <a:rPr lang="en-US" sz="2000" b="1" dirty="0"/>
            <a:t>Earthquake</a:t>
          </a:r>
        </a:p>
      </dgm:t>
    </dgm:pt>
    <dgm:pt modelId="{C6E5C677-7807-4C9B-93EF-FCC75E39391B}" type="parTrans" cxnId="{A4F8E770-EAB8-4A5E-BA83-BE5E30CEC2C5}">
      <dgm:prSet/>
      <dgm:spPr/>
      <dgm:t>
        <a:bodyPr/>
        <a:lstStyle/>
        <a:p>
          <a:pPr algn="ctr"/>
          <a:endParaRPr lang="en-US"/>
        </a:p>
      </dgm:t>
    </dgm:pt>
    <dgm:pt modelId="{0715DC57-4F86-4051-8C97-EBD60301D713}" type="sibTrans" cxnId="{A4F8E770-EAB8-4A5E-BA83-BE5E30CEC2C5}">
      <dgm:prSet/>
      <dgm:spPr/>
      <dgm:t>
        <a:bodyPr/>
        <a:lstStyle/>
        <a:p>
          <a:pPr algn="ctr"/>
          <a:endParaRPr lang="en-US"/>
        </a:p>
      </dgm:t>
    </dgm:pt>
    <dgm:pt modelId="{4583CDC9-5050-4F7A-974C-570B97335ADC}" type="pres">
      <dgm:prSet presAssocID="{9FFCBAB6-0FFB-4A60-B4E1-8586A7138607}" presName="Name0" presStyleCnt="0">
        <dgm:presLayoutVars>
          <dgm:chMax val="1"/>
          <dgm:dir/>
          <dgm:animLvl val="ctr"/>
          <dgm:resizeHandles val="exact"/>
        </dgm:presLayoutVars>
      </dgm:prSet>
      <dgm:spPr/>
    </dgm:pt>
    <dgm:pt modelId="{5BCF0E59-54B4-429D-8BC0-C179F4CEE30B}" type="pres">
      <dgm:prSet presAssocID="{C02F7741-F30B-486E-A3C2-10004603C767}" presName="centerShape" presStyleLbl="node0" presStyleIdx="0" presStyleCnt="1"/>
      <dgm:spPr/>
    </dgm:pt>
    <dgm:pt modelId="{4A47FA8F-F842-40F3-944D-9CC2FF0104C5}" type="pres">
      <dgm:prSet presAssocID="{DFC19057-12D2-46A1-ADDA-066F2101051A}" presName="node" presStyleLbl="node1" presStyleIdx="0" presStyleCnt="4" custScaleX="185899" custRadScaleRad="101167">
        <dgm:presLayoutVars>
          <dgm:bulletEnabled val="1"/>
        </dgm:presLayoutVars>
      </dgm:prSet>
      <dgm:spPr/>
    </dgm:pt>
    <dgm:pt modelId="{E1FBB920-84F3-4447-9D26-9A40B1A70604}" type="pres">
      <dgm:prSet presAssocID="{DFC19057-12D2-46A1-ADDA-066F2101051A}" presName="dummy" presStyleCnt="0"/>
      <dgm:spPr/>
    </dgm:pt>
    <dgm:pt modelId="{1CACAB63-CA80-4A94-9176-062C7FACA9BA}" type="pres">
      <dgm:prSet presAssocID="{713E6B0A-265B-4FE6-A544-A8389C6CE8CE}" presName="sibTrans" presStyleLbl="sibTrans2D1" presStyleIdx="0" presStyleCnt="4"/>
      <dgm:spPr/>
    </dgm:pt>
    <dgm:pt modelId="{DEFF60D7-26D9-49A6-AC8D-D9E584FB9A6C}" type="pres">
      <dgm:prSet presAssocID="{0B1BD59F-92D7-4FA6-BAA6-FE6E477C61F8}" presName="node" presStyleLbl="node1" presStyleIdx="1" presStyleCnt="4" custScaleX="138616">
        <dgm:presLayoutVars>
          <dgm:bulletEnabled val="1"/>
        </dgm:presLayoutVars>
      </dgm:prSet>
      <dgm:spPr/>
    </dgm:pt>
    <dgm:pt modelId="{C8423C63-846D-4FD1-8BC5-7475EA00C8B4}" type="pres">
      <dgm:prSet presAssocID="{0B1BD59F-92D7-4FA6-BAA6-FE6E477C61F8}" presName="dummy" presStyleCnt="0"/>
      <dgm:spPr/>
    </dgm:pt>
    <dgm:pt modelId="{1BCFC21F-6F79-48BC-9F93-626D88113E39}" type="pres">
      <dgm:prSet presAssocID="{F22B39F2-13C6-4132-B6E4-3032A38A44F2}" presName="sibTrans" presStyleLbl="sibTrans2D1" presStyleIdx="1" presStyleCnt="4"/>
      <dgm:spPr/>
    </dgm:pt>
    <dgm:pt modelId="{E7977B70-BAC8-40E7-BE8E-E83A5DCA312A}" type="pres">
      <dgm:prSet presAssocID="{74BDFE91-4FE9-42C8-B7E5-39B81BE2A751}" presName="node" presStyleLbl="node1" presStyleIdx="2" presStyleCnt="4" custScaleX="168591" custScaleY="110286">
        <dgm:presLayoutVars>
          <dgm:bulletEnabled val="1"/>
        </dgm:presLayoutVars>
      </dgm:prSet>
      <dgm:spPr/>
    </dgm:pt>
    <dgm:pt modelId="{84BD27C4-DE8C-4D2D-AD09-DAA19AC5489A}" type="pres">
      <dgm:prSet presAssocID="{74BDFE91-4FE9-42C8-B7E5-39B81BE2A751}" presName="dummy" presStyleCnt="0"/>
      <dgm:spPr/>
    </dgm:pt>
    <dgm:pt modelId="{C5FE2823-5616-468B-830D-5423FED28466}" type="pres">
      <dgm:prSet presAssocID="{580BD9C6-2995-4B89-AC96-0CC725A60479}" presName="sibTrans" presStyleLbl="sibTrans2D1" presStyleIdx="2" presStyleCnt="4"/>
      <dgm:spPr/>
    </dgm:pt>
    <dgm:pt modelId="{4412C0C4-C377-469B-A5EF-85B53D291D79}" type="pres">
      <dgm:prSet presAssocID="{D6CA11B9-81F0-4D9F-8405-99258026A5D5}" presName="node" presStyleLbl="node1" presStyleIdx="3" presStyleCnt="4">
        <dgm:presLayoutVars>
          <dgm:bulletEnabled val="1"/>
        </dgm:presLayoutVars>
      </dgm:prSet>
      <dgm:spPr/>
    </dgm:pt>
    <dgm:pt modelId="{0B9BE542-EEE8-424F-857D-A4C7C9C3EF03}" type="pres">
      <dgm:prSet presAssocID="{D6CA11B9-81F0-4D9F-8405-99258026A5D5}" presName="dummy" presStyleCnt="0"/>
      <dgm:spPr/>
    </dgm:pt>
    <dgm:pt modelId="{E0AE85D5-777D-45F7-B326-8E73EFAFF7B9}" type="pres">
      <dgm:prSet presAssocID="{46AB6CB7-30B0-441C-973C-7C93789BAAD4}" presName="sibTrans" presStyleLbl="sibTrans2D1" presStyleIdx="3" presStyleCnt="4"/>
      <dgm:spPr/>
    </dgm:pt>
  </dgm:ptLst>
  <dgm:cxnLst>
    <dgm:cxn modelId="{4E08A314-C8B3-44A9-941E-CE5A7698E8A4}" type="presOf" srcId="{46AB6CB7-30B0-441C-973C-7C93789BAAD4}" destId="{E0AE85D5-777D-45F7-B326-8E73EFAFF7B9}" srcOrd="0" destOrd="0" presId="urn:microsoft.com/office/officeart/2005/8/layout/radial6"/>
    <dgm:cxn modelId="{DFE73726-A54C-4A19-BEB7-FC2DE814F10D}" type="presOf" srcId="{C02F7741-F30B-486E-A3C2-10004603C767}" destId="{5BCF0E59-54B4-429D-8BC0-C179F4CEE30B}" srcOrd="0" destOrd="0" presId="urn:microsoft.com/office/officeart/2005/8/layout/radial6"/>
    <dgm:cxn modelId="{6EDF7238-BBD4-4D44-9318-AA53AF164F0B}" type="presOf" srcId="{88D8F2CE-E725-436A-9EB8-51A2FC80BAEA}" destId="{E7977B70-BAC8-40E7-BE8E-E83A5DCA312A}" srcOrd="0" destOrd="1" presId="urn:microsoft.com/office/officeart/2005/8/layout/radial6"/>
    <dgm:cxn modelId="{7FD50F3B-90B0-45CB-B4CA-F0FFAE7D3A01}" type="presOf" srcId="{9FFCBAB6-0FFB-4A60-B4E1-8586A7138607}" destId="{4583CDC9-5050-4F7A-974C-570B97335ADC}" srcOrd="0" destOrd="0" presId="urn:microsoft.com/office/officeart/2005/8/layout/radial6"/>
    <dgm:cxn modelId="{C6D9413B-A6D7-4161-9CBB-B9FE3D4CD293}" type="presOf" srcId="{713E6B0A-265B-4FE6-A544-A8389C6CE8CE}" destId="{1CACAB63-CA80-4A94-9176-062C7FACA9BA}" srcOrd="0" destOrd="0" presId="urn:microsoft.com/office/officeart/2005/8/layout/radial6"/>
    <dgm:cxn modelId="{D9E1CB48-1E97-4A67-A27F-728C5747EAFF}" srcId="{C02F7741-F30B-486E-A3C2-10004603C767}" destId="{DFC19057-12D2-46A1-ADDA-066F2101051A}" srcOrd="0" destOrd="0" parTransId="{B41E9D86-D04C-4321-B30E-2BECCD47EB53}" sibTransId="{713E6B0A-265B-4FE6-A544-A8389C6CE8CE}"/>
    <dgm:cxn modelId="{F7AD4C4B-4F35-43C1-8310-4CBDF9226F78}" type="presOf" srcId="{F22B39F2-13C6-4132-B6E4-3032A38A44F2}" destId="{1BCFC21F-6F79-48BC-9F93-626D88113E39}" srcOrd="0" destOrd="0" presId="urn:microsoft.com/office/officeart/2005/8/layout/radial6"/>
    <dgm:cxn modelId="{A4F8E770-EAB8-4A5E-BA83-BE5E30CEC2C5}" srcId="{74BDFE91-4FE9-42C8-B7E5-39B81BE2A751}" destId="{F58866A9-C663-4E61-AA60-F48F3AA5B9FF}" srcOrd="1" destOrd="0" parTransId="{C6E5C677-7807-4C9B-93EF-FCC75E39391B}" sibTransId="{0715DC57-4F86-4051-8C97-EBD60301D713}"/>
    <dgm:cxn modelId="{45679572-F2A4-4332-B131-D5BC5E843365}" srcId="{74BDFE91-4FE9-42C8-B7E5-39B81BE2A751}" destId="{88D8F2CE-E725-436A-9EB8-51A2FC80BAEA}" srcOrd="0" destOrd="0" parTransId="{5FCFCDB6-30E8-4550-98B6-FDBD28D4FF9D}" sibTransId="{F4EE0789-3B09-42A7-A410-A706FA13DB9A}"/>
    <dgm:cxn modelId="{C0152056-4159-4098-9505-4B8670E0851F}" type="presOf" srcId="{74BDFE91-4FE9-42C8-B7E5-39B81BE2A751}" destId="{E7977B70-BAC8-40E7-BE8E-E83A5DCA312A}" srcOrd="0" destOrd="0" presId="urn:microsoft.com/office/officeart/2005/8/layout/radial6"/>
    <dgm:cxn modelId="{5EB0E77D-2A9A-47BD-A233-76929194AA1B}" srcId="{C02F7741-F30B-486E-A3C2-10004603C767}" destId="{0B1BD59F-92D7-4FA6-BAA6-FE6E477C61F8}" srcOrd="1" destOrd="0" parTransId="{45E2B7D5-C8FF-4BD6-BA4C-3BA5FF42CF97}" sibTransId="{F22B39F2-13C6-4132-B6E4-3032A38A44F2}"/>
    <dgm:cxn modelId="{4D1FE6A0-F127-4BE8-A2E0-9DBE0A3F3EFF}" type="presOf" srcId="{D6CA11B9-81F0-4D9F-8405-99258026A5D5}" destId="{4412C0C4-C377-469B-A5EF-85B53D291D79}" srcOrd="0" destOrd="0" presId="urn:microsoft.com/office/officeart/2005/8/layout/radial6"/>
    <dgm:cxn modelId="{7BBC02A6-0183-49C2-80A4-4D850C61071F}" type="presOf" srcId="{DFC19057-12D2-46A1-ADDA-066F2101051A}" destId="{4A47FA8F-F842-40F3-944D-9CC2FF0104C5}" srcOrd="0" destOrd="0" presId="urn:microsoft.com/office/officeart/2005/8/layout/radial6"/>
    <dgm:cxn modelId="{165B57AC-1FBB-48F5-BF82-466A762C18F2}" type="presOf" srcId="{F58866A9-C663-4E61-AA60-F48F3AA5B9FF}" destId="{E7977B70-BAC8-40E7-BE8E-E83A5DCA312A}" srcOrd="0" destOrd="2" presId="urn:microsoft.com/office/officeart/2005/8/layout/radial6"/>
    <dgm:cxn modelId="{9FAA5CB5-5106-48F8-A379-CD6A4A3FAE86}" srcId="{C02F7741-F30B-486E-A3C2-10004603C767}" destId="{74BDFE91-4FE9-42C8-B7E5-39B81BE2A751}" srcOrd="2" destOrd="0" parTransId="{0D74A437-D50E-4B21-A800-F34168C89B8F}" sibTransId="{580BD9C6-2995-4B89-AC96-0CC725A60479}"/>
    <dgm:cxn modelId="{E0D96FBC-EAE1-423A-B5D6-1C2AEEDB0259}" type="presOf" srcId="{580BD9C6-2995-4B89-AC96-0CC725A60479}" destId="{C5FE2823-5616-468B-830D-5423FED28466}" srcOrd="0" destOrd="0" presId="urn:microsoft.com/office/officeart/2005/8/layout/radial6"/>
    <dgm:cxn modelId="{3284D5BE-11C7-4DBE-B8DE-DD71016A8403}" type="presOf" srcId="{0B1BD59F-92D7-4FA6-BAA6-FE6E477C61F8}" destId="{DEFF60D7-26D9-49A6-AC8D-D9E584FB9A6C}" srcOrd="0" destOrd="0" presId="urn:microsoft.com/office/officeart/2005/8/layout/radial6"/>
    <dgm:cxn modelId="{BF4CF5CC-62F3-436A-BD12-6D459681196D}" srcId="{C02F7741-F30B-486E-A3C2-10004603C767}" destId="{D6CA11B9-81F0-4D9F-8405-99258026A5D5}" srcOrd="3" destOrd="0" parTransId="{D882EEF4-5BEC-400D-A9BE-941BBB8140DA}" sibTransId="{46AB6CB7-30B0-441C-973C-7C93789BAAD4}"/>
    <dgm:cxn modelId="{066FA2DE-3204-4D4A-AD40-D8E06B86E275}" srcId="{9FFCBAB6-0FFB-4A60-B4E1-8586A7138607}" destId="{C02F7741-F30B-486E-A3C2-10004603C767}" srcOrd="0" destOrd="0" parTransId="{CF5214C6-B92E-4F37-B72B-E0F01F1B5DB0}" sibTransId="{C399FBB0-9B83-46E0-A7D7-AB3C620060A0}"/>
    <dgm:cxn modelId="{C6676425-AE70-4B54-8D54-04B7690B0719}" type="presParOf" srcId="{4583CDC9-5050-4F7A-974C-570B97335ADC}" destId="{5BCF0E59-54B4-429D-8BC0-C179F4CEE30B}" srcOrd="0" destOrd="0" presId="urn:microsoft.com/office/officeart/2005/8/layout/radial6"/>
    <dgm:cxn modelId="{A43E51E1-835E-480E-BD47-D82F1A5F0982}" type="presParOf" srcId="{4583CDC9-5050-4F7A-974C-570B97335ADC}" destId="{4A47FA8F-F842-40F3-944D-9CC2FF0104C5}" srcOrd="1" destOrd="0" presId="urn:microsoft.com/office/officeart/2005/8/layout/radial6"/>
    <dgm:cxn modelId="{A3C7222A-BCD5-4288-B71C-78989731D41A}" type="presParOf" srcId="{4583CDC9-5050-4F7A-974C-570B97335ADC}" destId="{E1FBB920-84F3-4447-9D26-9A40B1A70604}" srcOrd="2" destOrd="0" presId="urn:microsoft.com/office/officeart/2005/8/layout/radial6"/>
    <dgm:cxn modelId="{E9CF6B18-41A7-4957-8BBD-802068CA6BA2}" type="presParOf" srcId="{4583CDC9-5050-4F7A-974C-570B97335ADC}" destId="{1CACAB63-CA80-4A94-9176-062C7FACA9BA}" srcOrd="3" destOrd="0" presId="urn:microsoft.com/office/officeart/2005/8/layout/radial6"/>
    <dgm:cxn modelId="{2CD0522E-C7C3-4644-AFFE-19B8F37C4E36}" type="presParOf" srcId="{4583CDC9-5050-4F7A-974C-570B97335ADC}" destId="{DEFF60D7-26D9-49A6-AC8D-D9E584FB9A6C}" srcOrd="4" destOrd="0" presId="urn:microsoft.com/office/officeart/2005/8/layout/radial6"/>
    <dgm:cxn modelId="{BF04E86F-D921-4ACF-8AF9-EC12CDB5C844}" type="presParOf" srcId="{4583CDC9-5050-4F7A-974C-570B97335ADC}" destId="{C8423C63-846D-4FD1-8BC5-7475EA00C8B4}" srcOrd="5" destOrd="0" presId="urn:microsoft.com/office/officeart/2005/8/layout/radial6"/>
    <dgm:cxn modelId="{AE9C9C10-8B1A-4218-A385-BD7977D55CFA}" type="presParOf" srcId="{4583CDC9-5050-4F7A-974C-570B97335ADC}" destId="{1BCFC21F-6F79-48BC-9F93-626D88113E39}" srcOrd="6" destOrd="0" presId="urn:microsoft.com/office/officeart/2005/8/layout/radial6"/>
    <dgm:cxn modelId="{B67890A4-76D1-482F-AF58-7F41F3BB58B1}" type="presParOf" srcId="{4583CDC9-5050-4F7A-974C-570B97335ADC}" destId="{E7977B70-BAC8-40E7-BE8E-E83A5DCA312A}" srcOrd="7" destOrd="0" presId="urn:microsoft.com/office/officeart/2005/8/layout/radial6"/>
    <dgm:cxn modelId="{A863F9FB-A38C-4A3B-957B-4E03CE75E724}" type="presParOf" srcId="{4583CDC9-5050-4F7A-974C-570B97335ADC}" destId="{84BD27C4-DE8C-4D2D-AD09-DAA19AC5489A}" srcOrd="8" destOrd="0" presId="urn:microsoft.com/office/officeart/2005/8/layout/radial6"/>
    <dgm:cxn modelId="{8E04362E-1627-48EC-85B8-EC0DEBCD66CC}" type="presParOf" srcId="{4583CDC9-5050-4F7A-974C-570B97335ADC}" destId="{C5FE2823-5616-468B-830D-5423FED28466}" srcOrd="9" destOrd="0" presId="urn:microsoft.com/office/officeart/2005/8/layout/radial6"/>
    <dgm:cxn modelId="{A93661B1-B065-42DD-A048-C06EDF293601}" type="presParOf" srcId="{4583CDC9-5050-4F7A-974C-570B97335ADC}" destId="{4412C0C4-C377-469B-A5EF-85B53D291D79}" srcOrd="10" destOrd="0" presId="urn:microsoft.com/office/officeart/2005/8/layout/radial6"/>
    <dgm:cxn modelId="{5C669018-987E-4BF1-8BB3-DEBA4F61501B}" type="presParOf" srcId="{4583CDC9-5050-4F7A-974C-570B97335ADC}" destId="{0B9BE542-EEE8-424F-857D-A4C7C9C3EF03}" srcOrd="11" destOrd="0" presId="urn:microsoft.com/office/officeart/2005/8/layout/radial6"/>
    <dgm:cxn modelId="{C5AA001D-CC4F-42FF-9BFB-24AEA78A5939}" type="presParOf" srcId="{4583CDC9-5050-4F7A-974C-570B97335ADC}" destId="{E0AE85D5-777D-45F7-B326-8E73EFAFF7B9}" srcOrd="12"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722E17-4385-46C7-8AC2-61D010F90910}" type="doc">
      <dgm:prSet loTypeId="urn:microsoft.com/office/officeart/2005/8/layout/cycle3" loCatId="cycle" qsTypeId="urn:microsoft.com/office/officeart/2005/8/quickstyle/3d2" qsCatId="3D" csTypeId="urn:microsoft.com/office/officeart/2005/8/colors/colorful1" csCatId="colorful" phldr="1"/>
      <dgm:spPr/>
      <dgm:t>
        <a:bodyPr/>
        <a:lstStyle/>
        <a:p>
          <a:endParaRPr lang="en-US"/>
        </a:p>
      </dgm:t>
    </dgm:pt>
    <dgm:pt modelId="{87E483F3-B4D8-4213-9A23-75682508F192}">
      <dgm:prSet phldrT="[Text]"/>
      <dgm:spPr/>
      <dgm:t>
        <a:bodyPr/>
        <a:lstStyle/>
        <a:p>
          <a:r>
            <a:rPr lang="en-US" dirty="0"/>
            <a:t>Immediate Inform to PIL about the Situation </a:t>
          </a:r>
        </a:p>
      </dgm:t>
    </dgm:pt>
    <dgm:pt modelId="{99DA544E-7F5E-4B4B-ABA6-DDB3C10D758A}" type="parTrans" cxnId="{B9900C8F-1C6F-4884-9ADE-38276A40B5EC}">
      <dgm:prSet/>
      <dgm:spPr/>
      <dgm:t>
        <a:bodyPr/>
        <a:lstStyle/>
        <a:p>
          <a:endParaRPr lang="en-US"/>
        </a:p>
      </dgm:t>
    </dgm:pt>
    <dgm:pt modelId="{7D389033-F3B1-40FC-8E81-EBC894927F5C}" type="sibTrans" cxnId="{B9900C8F-1C6F-4884-9ADE-38276A40B5EC}">
      <dgm:prSet/>
      <dgm:spPr>
        <a:solidFill>
          <a:schemeClr val="accent2">
            <a:lumMod val="40000"/>
            <a:lumOff val="60000"/>
          </a:schemeClr>
        </a:solidFill>
        <a:ln>
          <a:solidFill>
            <a:schemeClr val="accent4">
              <a:lumMod val="75000"/>
            </a:schemeClr>
          </a:solidFill>
        </a:ln>
      </dgm:spPr>
      <dgm:t>
        <a:bodyPr/>
        <a:lstStyle/>
        <a:p>
          <a:endParaRPr lang="en-US"/>
        </a:p>
      </dgm:t>
    </dgm:pt>
    <dgm:pt modelId="{937D7057-5424-4D44-9387-23FE59E1DE42}">
      <dgm:prSet phldrT="[Text]"/>
      <dgm:spPr/>
      <dgm:t>
        <a:bodyPr/>
        <a:lstStyle/>
        <a:p>
          <a:r>
            <a:rPr lang="en-US" dirty="0"/>
            <a:t>Send the original Document of Policy</a:t>
          </a:r>
        </a:p>
      </dgm:t>
    </dgm:pt>
    <dgm:pt modelId="{E171898C-8BE5-43B9-B0F3-DF4F28B169F5}" type="parTrans" cxnId="{B0BA7E71-CDCC-4B59-9B61-441096CB79CD}">
      <dgm:prSet/>
      <dgm:spPr/>
      <dgm:t>
        <a:bodyPr/>
        <a:lstStyle/>
        <a:p>
          <a:endParaRPr lang="en-US"/>
        </a:p>
      </dgm:t>
    </dgm:pt>
    <dgm:pt modelId="{AC63FC71-69E8-4ADA-A2B0-CA71454905B3}" type="sibTrans" cxnId="{B0BA7E71-CDCC-4B59-9B61-441096CB79CD}">
      <dgm:prSet/>
      <dgm:spPr/>
      <dgm:t>
        <a:bodyPr/>
        <a:lstStyle/>
        <a:p>
          <a:endParaRPr lang="en-US"/>
        </a:p>
      </dgm:t>
    </dgm:pt>
    <dgm:pt modelId="{35AF8D51-6A57-42F0-BBA1-0EE8A3458434}">
      <dgm:prSet phldrT="[Text]"/>
      <dgm:spPr/>
      <dgm:t>
        <a:bodyPr/>
        <a:lstStyle/>
        <a:p>
          <a:r>
            <a:rPr lang="en-US" dirty="0"/>
            <a:t>Verifying the Documents</a:t>
          </a:r>
        </a:p>
      </dgm:t>
    </dgm:pt>
    <dgm:pt modelId="{7CD51F9D-2B6F-4EA5-9F08-B7E2F166242A}" type="parTrans" cxnId="{FDEDE2DC-3177-4A95-8734-D03A95BB94F1}">
      <dgm:prSet/>
      <dgm:spPr/>
      <dgm:t>
        <a:bodyPr/>
        <a:lstStyle/>
        <a:p>
          <a:endParaRPr lang="en-US"/>
        </a:p>
      </dgm:t>
    </dgm:pt>
    <dgm:pt modelId="{600B38CF-DE15-482F-89A8-C8E5F0D7C101}" type="sibTrans" cxnId="{FDEDE2DC-3177-4A95-8734-D03A95BB94F1}">
      <dgm:prSet/>
      <dgm:spPr/>
      <dgm:t>
        <a:bodyPr/>
        <a:lstStyle/>
        <a:p>
          <a:endParaRPr lang="en-US"/>
        </a:p>
      </dgm:t>
    </dgm:pt>
    <dgm:pt modelId="{8DBE797C-0092-4DC5-A369-651D8064F835}">
      <dgm:prSet phldrT="[Text]"/>
      <dgm:spPr/>
      <dgm:t>
        <a:bodyPr/>
        <a:lstStyle/>
        <a:p>
          <a:r>
            <a:rPr lang="en-US" dirty="0"/>
            <a:t>Surveyor Appointment (If the Claims Value more that BDT 5,000/-</a:t>
          </a:r>
        </a:p>
      </dgm:t>
    </dgm:pt>
    <dgm:pt modelId="{E90C8071-F672-4A48-B414-10F188CC4923}" type="parTrans" cxnId="{207AB7EC-1720-48B0-8FEC-8D65FA54FFB5}">
      <dgm:prSet/>
      <dgm:spPr/>
      <dgm:t>
        <a:bodyPr/>
        <a:lstStyle/>
        <a:p>
          <a:endParaRPr lang="en-US"/>
        </a:p>
      </dgm:t>
    </dgm:pt>
    <dgm:pt modelId="{85B8C3C3-CD10-4F01-8B90-DD54A165EE26}" type="sibTrans" cxnId="{207AB7EC-1720-48B0-8FEC-8D65FA54FFB5}">
      <dgm:prSet/>
      <dgm:spPr/>
      <dgm:t>
        <a:bodyPr/>
        <a:lstStyle/>
        <a:p>
          <a:endParaRPr lang="en-US"/>
        </a:p>
      </dgm:t>
    </dgm:pt>
    <dgm:pt modelId="{1F686514-DC8F-48ED-BD71-AEE7981AE05C}">
      <dgm:prSet phldrT="[Text]"/>
      <dgm:spPr/>
      <dgm:t>
        <a:bodyPr/>
        <a:lstStyle/>
        <a:p>
          <a:r>
            <a:rPr lang="en-US" dirty="0"/>
            <a:t>Accept / Reject the Claims</a:t>
          </a:r>
        </a:p>
      </dgm:t>
    </dgm:pt>
    <dgm:pt modelId="{3073847B-6C45-492F-BD12-5D450EF31E1F}" type="parTrans" cxnId="{21DD9AF6-16C8-4777-B05E-D199DE56582E}">
      <dgm:prSet/>
      <dgm:spPr/>
      <dgm:t>
        <a:bodyPr/>
        <a:lstStyle/>
        <a:p>
          <a:endParaRPr lang="en-US"/>
        </a:p>
      </dgm:t>
    </dgm:pt>
    <dgm:pt modelId="{249CC151-2157-4260-912E-C42FA1AB55C1}" type="sibTrans" cxnId="{21DD9AF6-16C8-4777-B05E-D199DE56582E}">
      <dgm:prSet/>
      <dgm:spPr/>
      <dgm:t>
        <a:bodyPr/>
        <a:lstStyle/>
        <a:p>
          <a:endParaRPr lang="en-US"/>
        </a:p>
      </dgm:t>
    </dgm:pt>
    <dgm:pt modelId="{D080E37D-F756-4EAF-9007-A0D153D7D22D}">
      <dgm:prSet phldrT="[Text]"/>
      <dgm:spPr/>
      <dgm:t>
        <a:bodyPr/>
        <a:lstStyle/>
        <a:p>
          <a:r>
            <a:rPr lang="en-US" dirty="0"/>
            <a:t>Disburse the Claims</a:t>
          </a:r>
        </a:p>
      </dgm:t>
    </dgm:pt>
    <dgm:pt modelId="{223DA3C6-2F72-486E-AEBE-D2215AB05C48}" type="parTrans" cxnId="{F6B5A6CF-1838-44DB-B9B2-D1E3B510D0FE}">
      <dgm:prSet/>
      <dgm:spPr/>
      <dgm:t>
        <a:bodyPr/>
        <a:lstStyle/>
        <a:p>
          <a:endParaRPr lang="en-US"/>
        </a:p>
      </dgm:t>
    </dgm:pt>
    <dgm:pt modelId="{E9DFD68D-F8D2-4989-AD2C-B6943ECAF90B}" type="sibTrans" cxnId="{F6B5A6CF-1838-44DB-B9B2-D1E3B510D0FE}">
      <dgm:prSet/>
      <dgm:spPr/>
      <dgm:t>
        <a:bodyPr/>
        <a:lstStyle/>
        <a:p>
          <a:endParaRPr lang="en-US"/>
        </a:p>
      </dgm:t>
    </dgm:pt>
    <dgm:pt modelId="{B5DBC709-9AF4-406F-8368-277811E086C8}" type="pres">
      <dgm:prSet presAssocID="{7D722E17-4385-46C7-8AC2-61D010F90910}" presName="Name0" presStyleCnt="0">
        <dgm:presLayoutVars>
          <dgm:dir/>
          <dgm:resizeHandles val="exact"/>
        </dgm:presLayoutVars>
      </dgm:prSet>
      <dgm:spPr/>
    </dgm:pt>
    <dgm:pt modelId="{F2B7640B-3891-49BC-95CB-F127CDFAD281}" type="pres">
      <dgm:prSet presAssocID="{7D722E17-4385-46C7-8AC2-61D010F90910}" presName="cycle" presStyleCnt="0"/>
      <dgm:spPr/>
    </dgm:pt>
    <dgm:pt modelId="{822F8485-D89C-4C22-99D6-D8E2AF6CE5A4}" type="pres">
      <dgm:prSet presAssocID="{87E483F3-B4D8-4213-9A23-75682508F192}" presName="nodeFirstNode" presStyleLbl="node1" presStyleIdx="0" presStyleCnt="6">
        <dgm:presLayoutVars>
          <dgm:bulletEnabled val="1"/>
        </dgm:presLayoutVars>
      </dgm:prSet>
      <dgm:spPr/>
    </dgm:pt>
    <dgm:pt modelId="{EDF460E9-90BA-4833-B409-39B663C8CF3D}" type="pres">
      <dgm:prSet presAssocID="{7D389033-F3B1-40FC-8E81-EBC894927F5C}" presName="sibTransFirstNode" presStyleLbl="bgShp" presStyleIdx="0" presStyleCnt="1" custScaleX="97232" custLinFactNeighborX="0"/>
      <dgm:spPr/>
    </dgm:pt>
    <dgm:pt modelId="{CD011DC8-0736-4F19-803B-789653545ECD}" type="pres">
      <dgm:prSet presAssocID="{937D7057-5424-4D44-9387-23FE59E1DE42}" presName="nodeFollowingNodes" presStyleLbl="node1" presStyleIdx="1" presStyleCnt="6">
        <dgm:presLayoutVars>
          <dgm:bulletEnabled val="1"/>
        </dgm:presLayoutVars>
      </dgm:prSet>
      <dgm:spPr/>
    </dgm:pt>
    <dgm:pt modelId="{1FAC182C-1D33-48EC-BD20-D9AAA612068A}" type="pres">
      <dgm:prSet presAssocID="{35AF8D51-6A57-42F0-BBA1-0EE8A3458434}" presName="nodeFollowingNodes" presStyleLbl="node1" presStyleIdx="2" presStyleCnt="6">
        <dgm:presLayoutVars>
          <dgm:bulletEnabled val="1"/>
        </dgm:presLayoutVars>
      </dgm:prSet>
      <dgm:spPr/>
    </dgm:pt>
    <dgm:pt modelId="{0BBCF575-D50B-41A6-8912-1A75BBB14AEC}" type="pres">
      <dgm:prSet presAssocID="{8DBE797C-0092-4DC5-A369-651D8064F835}" presName="nodeFollowingNodes" presStyleLbl="node1" presStyleIdx="3" presStyleCnt="6">
        <dgm:presLayoutVars>
          <dgm:bulletEnabled val="1"/>
        </dgm:presLayoutVars>
      </dgm:prSet>
      <dgm:spPr/>
    </dgm:pt>
    <dgm:pt modelId="{69F51D58-F6F3-42C3-854B-5F3E6FF0A663}" type="pres">
      <dgm:prSet presAssocID="{1F686514-DC8F-48ED-BD71-AEE7981AE05C}" presName="nodeFollowingNodes" presStyleLbl="node1" presStyleIdx="4" presStyleCnt="6">
        <dgm:presLayoutVars>
          <dgm:bulletEnabled val="1"/>
        </dgm:presLayoutVars>
      </dgm:prSet>
      <dgm:spPr/>
    </dgm:pt>
    <dgm:pt modelId="{960B71F0-0468-442D-A2CA-C1E2529FB438}" type="pres">
      <dgm:prSet presAssocID="{D080E37D-F756-4EAF-9007-A0D153D7D22D}" presName="nodeFollowingNodes" presStyleLbl="node1" presStyleIdx="5" presStyleCnt="6">
        <dgm:presLayoutVars>
          <dgm:bulletEnabled val="1"/>
        </dgm:presLayoutVars>
      </dgm:prSet>
      <dgm:spPr/>
    </dgm:pt>
  </dgm:ptLst>
  <dgm:cxnLst>
    <dgm:cxn modelId="{E20B8F5F-263A-446F-9C2A-E33B78544C26}" type="presOf" srcId="{87E483F3-B4D8-4213-9A23-75682508F192}" destId="{822F8485-D89C-4C22-99D6-D8E2AF6CE5A4}" srcOrd="0" destOrd="0" presId="urn:microsoft.com/office/officeart/2005/8/layout/cycle3"/>
    <dgm:cxn modelId="{4E14CE67-4970-4969-AEDE-4100AE43F421}" type="presOf" srcId="{937D7057-5424-4D44-9387-23FE59E1DE42}" destId="{CD011DC8-0736-4F19-803B-789653545ECD}" srcOrd="0" destOrd="0" presId="urn:microsoft.com/office/officeart/2005/8/layout/cycle3"/>
    <dgm:cxn modelId="{978F066E-FD51-4EC0-9B1B-06170213EE0D}" type="presOf" srcId="{D080E37D-F756-4EAF-9007-A0D153D7D22D}" destId="{960B71F0-0468-442D-A2CA-C1E2529FB438}" srcOrd="0" destOrd="0" presId="urn:microsoft.com/office/officeart/2005/8/layout/cycle3"/>
    <dgm:cxn modelId="{B0BA7E71-CDCC-4B59-9B61-441096CB79CD}" srcId="{7D722E17-4385-46C7-8AC2-61D010F90910}" destId="{937D7057-5424-4D44-9387-23FE59E1DE42}" srcOrd="1" destOrd="0" parTransId="{E171898C-8BE5-43B9-B0F3-DF4F28B169F5}" sibTransId="{AC63FC71-69E8-4ADA-A2B0-CA71454905B3}"/>
    <dgm:cxn modelId="{CDF11073-4A21-4EAE-AD81-1E16923BF2ED}" type="presOf" srcId="{1F686514-DC8F-48ED-BD71-AEE7981AE05C}" destId="{69F51D58-F6F3-42C3-854B-5F3E6FF0A663}" srcOrd="0" destOrd="0" presId="urn:microsoft.com/office/officeart/2005/8/layout/cycle3"/>
    <dgm:cxn modelId="{2A39618D-CC21-43C0-9C3A-D91FE85095FC}" type="presOf" srcId="{8DBE797C-0092-4DC5-A369-651D8064F835}" destId="{0BBCF575-D50B-41A6-8912-1A75BBB14AEC}" srcOrd="0" destOrd="0" presId="urn:microsoft.com/office/officeart/2005/8/layout/cycle3"/>
    <dgm:cxn modelId="{B9900C8F-1C6F-4884-9ADE-38276A40B5EC}" srcId="{7D722E17-4385-46C7-8AC2-61D010F90910}" destId="{87E483F3-B4D8-4213-9A23-75682508F192}" srcOrd="0" destOrd="0" parTransId="{99DA544E-7F5E-4B4B-ABA6-DDB3C10D758A}" sibTransId="{7D389033-F3B1-40FC-8E81-EBC894927F5C}"/>
    <dgm:cxn modelId="{F6B5A6CF-1838-44DB-B9B2-D1E3B510D0FE}" srcId="{7D722E17-4385-46C7-8AC2-61D010F90910}" destId="{D080E37D-F756-4EAF-9007-A0D153D7D22D}" srcOrd="5" destOrd="0" parTransId="{223DA3C6-2F72-486E-AEBE-D2215AB05C48}" sibTransId="{E9DFD68D-F8D2-4989-AD2C-B6943ECAF90B}"/>
    <dgm:cxn modelId="{90796EDB-52B6-4FC5-8FFF-A1DBA315BB29}" type="presOf" srcId="{7D722E17-4385-46C7-8AC2-61D010F90910}" destId="{B5DBC709-9AF4-406F-8368-277811E086C8}" srcOrd="0" destOrd="0" presId="urn:microsoft.com/office/officeart/2005/8/layout/cycle3"/>
    <dgm:cxn modelId="{FDEDE2DC-3177-4A95-8734-D03A95BB94F1}" srcId="{7D722E17-4385-46C7-8AC2-61D010F90910}" destId="{35AF8D51-6A57-42F0-BBA1-0EE8A3458434}" srcOrd="2" destOrd="0" parTransId="{7CD51F9D-2B6F-4EA5-9F08-B7E2F166242A}" sibTransId="{600B38CF-DE15-482F-89A8-C8E5F0D7C101}"/>
    <dgm:cxn modelId="{7C43B8DF-0460-46CA-965D-4BF8487B78B1}" type="presOf" srcId="{7D389033-F3B1-40FC-8E81-EBC894927F5C}" destId="{EDF460E9-90BA-4833-B409-39B663C8CF3D}" srcOrd="0" destOrd="0" presId="urn:microsoft.com/office/officeart/2005/8/layout/cycle3"/>
    <dgm:cxn modelId="{207AB7EC-1720-48B0-8FEC-8D65FA54FFB5}" srcId="{7D722E17-4385-46C7-8AC2-61D010F90910}" destId="{8DBE797C-0092-4DC5-A369-651D8064F835}" srcOrd="3" destOrd="0" parTransId="{E90C8071-F672-4A48-B414-10F188CC4923}" sibTransId="{85B8C3C3-CD10-4F01-8B90-DD54A165EE26}"/>
    <dgm:cxn modelId="{21DD9AF6-16C8-4777-B05E-D199DE56582E}" srcId="{7D722E17-4385-46C7-8AC2-61D010F90910}" destId="{1F686514-DC8F-48ED-BD71-AEE7981AE05C}" srcOrd="4" destOrd="0" parTransId="{3073847B-6C45-492F-BD12-5D450EF31E1F}" sibTransId="{249CC151-2157-4260-912E-C42FA1AB55C1}"/>
    <dgm:cxn modelId="{C885C3FD-4024-4E65-9680-31E6FA29526D}" type="presOf" srcId="{35AF8D51-6A57-42F0-BBA1-0EE8A3458434}" destId="{1FAC182C-1D33-48EC-BD20-D9AAA612068A}" srcOrd="0" destOrd="0" presId="urn:microsoft.com/office/officeart/2005/8/layout/cycle3"/>
    <dgm:cxn modelId="{B072DD99-9ACF-4DE1-A8D6-B076F124DCAB}" type="presParOf" srcId="{B5DBC709-9AF4-406F-8368-277811E086C8}" destId="{F2B7640B-3891-49BC-95CB-F127CDFAD281}" srcOrd="0" destOrd="0" presId="urn:microsoft.com/office/officeart/2005/8/layout/cycle3"/>
    <dgm:cxn modelId="{B06D89D7-A1D5-4F3D-B94A-778FCE0A8A93}" type="presParOf" srcId="{F2B7640B-3891-49BC-95CB-F127CDFAD281}" destId="{822F8485-D89C-4C22-99D6-D8E2AF6CE5A4}" srcOrd="0" destOrd="0" presId="urn:microsoft.com/office/officeart/2005/8/layout/cycle3"/>
    <dgm:cxn modelId="{D55C79FE-C6FF-4B81-9346-E0D3B0714AE5}" type="presParOf" srcId="{F2B7640B-3891-49BC-95CB-F127CDFAD281}" destId="{EDF460E9-90BA-4833-B409-39B663C8CF3D}" srcOrd="1" destOrd="0" presId="urn:microsoft.com/office/officeart/2005/8/layout/cycle3"/>
    <dgm:cxn modelId="{5BB669E3-9B76-4ED8-8032-751E53F7C5F8}" type="presParOf" srcId="{F2B7640B-3891-49BC-95CB-F127CDFAD281}" destId="{CD011DC8-0736-4F19-803B-789653545ECD}" srcOrd="2" destOrd="0" presId="urn:microsoft.com/office/officeart/2005/8/layout/cycle3"/>
    <dgm:cxn modelId="{F0672127-BD48-478D-B6FA-07A6EFE8A011}" type="presParOf" srcId="{F2B7640B-3891-49BC-95CB-F127CDFAD281}" destId="{1FAC182C-1D33-48EC-BD20-D9AAA612068A}" srcOrd="3" destOrd="0" presId="urn:microsoft.com/office/officeart/2005/8/layout/cycle3"/>
    <dgm:cxn modelId="{5023BF63-52C0-4684-AB18-BE8D681BC1C2}" type="presParOf" srcId="{F2B7640B-3891-49BC-95CB-F127CDFAD281}" destId="{0BBCF575-D50B-41A6-8912-1A75BBB14AEC}" srcOrd="4" destOrd="0" presId="urn:microsoft.com/office/officeart/2005/8/layout/cycle3"/>
    <dgm:cxn modelId="{8BBB3289-3AB5-4BD3-BCED-6327AC2A252C}" type="presParOf" srcId="{F2B7640B-3891-49BC-95CB-F127CDFAD281}" destId="{69F51D58-F6F3-42C3-854B-5F3E6FF0A663}" srcOrd="5" destOrd="0" presId="urn:microsoft.com/office/officeart/2005/8/layout/cycle3"/>
    <dgm:cxn modelId="{D126EF1C-4700-45EF-AB58-A2E3691A40A1}" type="presParOf" srcId="{F2B7640B-3891-49BC-95CB-F127CDFAD281}" destId="{960B71F0-0468-442D-A2CA-C1E2529FB438}" srcOrd="6"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34F0D62-FC05-4A8D-BD91-33BAA35673BC}" type="doc">
      <dgm:prSet loTypeId="urn:microsoft.com/office/officeart/2005/8/layout/radial3" loCatId="cycle" qsTypeId="urn:microsoft.com/office/officeart/2005/8/quickstyle/simple1" qsCatId="simple" csTypeId="urn:microsoft.com/office/officeart/2005/8/colors/colorful3" csCatId="colorful" phldr="1"/>
      <dgm:spPr/>
      <dgm:t>
        <a:bodyPr/>
        <a:lstStyle/>
        <a:p>
          <a:endParaRPr lang="en-US"/>
        </a:p>
      </dgm:t>
    </dgm:pt>
    <dgm:pt modelId="{5B5F40BC-2416-4EFA-8F28-BB3A6478F4DD}">
      <dgm:prSet phldrT="[Text]"/>
      <dgm:spPr/>
      <dgm:t>
        <a:bodyPr/>
        <a:lstStyle/>
        <a:p>
          <a:r>
            <a:rPr lang="en-US" b="1" dirty="0"/>
            <a:t>Immediate Inform </a:t>
          </a:r>
        </a:p>
      </dgm:t>
    </dgm:pt>
    <dgm:pt modelId="{AC24A7CE-1364-465C-A68E-549EC7CD9AF1}" type="parTrans" cxnId="{87576DB3-2205-4D7F-9348-7DE2EC2475CA}">
      <dgm:prSet/>
      <dgm:spPr/>
      <dgm:t>
        <a:bodyPr/>
        <a:lstStyle/>
        <a:p>
          <a:endParaRPr lang="en-US" b="1"/>
        </a:p>
      </dgm:t>
    </dgm:pt>
    <dgm:pt modelId="{0E8B641C-5257-4F2D-855E-38DDC2BD58EB}" type="sibTrans" cxnId="{87576DB3-2205-4D7F-9348-7DE2EC2475CA}">
      <dgm:prSet/>
      <dgm:spPr/>
      <dgm:t>
        <a:bodyPr/>
        <a:lstStyle/>
        <a:p>
          <a:endParaRPr lang="en-US" b="1"/>
        </a:p>
      </dgm:t>
    </dgm:pt>
    <dgm:pt modelId="{1E0AA516-F693-4DBE-A77C-45A9DF34D5D2}">
      <dgm:prSet phldrT="[Text]"/>
      <dgm:spPr/>
      <dgm:t>
        <a:bodyPr/>
        <a:lstStyle/>
        <a:p>
          <a:r>
            <a:rPr lang="en-US" b="1" dirty="0"/>
            <a:t>By e-mail</a:t>
          </a:r>
        </a:p>
      </dgm:t>
    </dgm:pt>
    <dgm:pt modelId="{47285233-3C78-4361-8946-90C5FB4B2EC2}" type="parTrans" cxnId="{8EF15591-C093-40FC-8A3D-61A7F8DA0ABF}">
      <dgm:prSet/>
      <dgm:spPr/>
      <dgm:t>
        <a:bodyPr/>
        <a:lstStyle/>
        <a:p>
          <a:endParaRPr lang="en-US" b="1"/>
        </a:p>
      </dgm:t>
    </dgm:pt>
    <dgm:pt modelId="{95881664-E63B-49FB-A30F-D8CD14FF1846}" type="sibTrans" cxnId="{8EF15591-C093-40FC-8A3D-61A7F8DA0ABF}">
      <dgm:prSet/>
      <dgm:spPr/>
      <dgm:t>
        <a:bodyPr/>
        <a:lstStyle/>
        <a:p>
          <a:endParaRPr lang="en-US" b="1"/>
        </a:p>
      </dgm:t>
    </dgm:pt>
    <dgm:pt modelId="{66EEA81A-F126-4D24-9AB4-6D58AAE8DCE3}">
      <dgm:prSet phldrT="[Text]"/>
      <dgm:spPr/>
      <dgm:t>
        <a:bodyPr/>
        <a:lstStyle/>
        <a:p>
          <a:r>
            <a:rPr lang="en-US" b="1" dirty="0"/>
            <a:t>Time Limit: </a:t>
          </a:r>
          <a:r>
            <a:rPr lang="en-US" b="1" u="sng" dirty="0"/>
            <a:t>Within 24 Hours</a:t>
          </a:r>
        </a:p>
      </dgm:t>
    </dgm:pt>
    <dgm:pt modelId="{495CE9E2-2ED6-4DE9-B6A5-9931EDBCFA29}" type="parTrans" cxnId="{10BD32FA-9420-4D5A-88EB-A68434FFC6AD}">
      <dgm:prSet/>
      <dgm:spPr/>
      <dgm:t>
        <a:bodyPr/>
        <a:lstStyle/>
        <a:p>
          <a:endParaRPr lang="en-US"/>
        </a:p>
      </dgm:t>
    </dgm:pt>
    <dgm:pt modelId="{A90CD9FB-2FD3-4D1B-B026-5D73C8418325}" type="sibTrans" cxnId="{10BD32FA-9420-4D5A-88EB-A68434FFC6AD}">
      <dgm:prSet/>
      <dgm:spPr/>
      <dgm:t>
        <a:bodyPr/>
        <a:lstStyle/>
        <a:p>
          <a:endParaRPr lang="en-US"/>
        </a:p>
      </dgm:t>
    </dgm:pt>
    <dgm:pt modelId="{8854EE9B-A593-4F7F-A09C-4132299165F9}" type="pres">
      <dgm:prSet presAssocID="{434F0D62-FC05-4A8D-BD91-33BAA35673BC}" presName="composite" presStyleCnt="0">
        <dgm:presLayoutVars>
          <dgm:chMax val="1"/>
          <dgm:dir/>
          <dgm:resizeHandles val="exact"/>
        </dgm:presLayoutVars>
      </dgm:prSet>
      <dgm:spPr/>
    </dgm:pt>
    <dgm:pt modelId="{CF841D7E-7DBE-47E2-8953-53DD6C4E5CF5}" type="pres">
      <dgm:prSet presAssocID="{434F0D62-FC05-4A8D-BD91-33BAA35673BC}" presName="radial" presStyleCnt="0">
        <dgm:presLayoutVars>
          <dgm:animLvl val="ctr"/>
        </dgm:presLayoutVars>
      </dgm:prSet>
      <dgm:spPr/>
    </dgm:pt>
    <dgm:pt modelId="{887B718B-4D13-4280-95C5-6E23F5EF96B4}" type="pres">
      <dgm:prSet presAssocID="{5B5F40BC-2416-4EFA-8F28-BB3A6478F4DD}" presName="centerShape" presStyleLbl="vennNode1" presStyleIdx="0" presStyleCnt="3"/>
      <dgm:spPr/>
    </dgm:pt>
    <dgm:pt modelId="{424EFBE5-8126-4AC2-9127-1BE26D40B916}" type="pres">
      <dgm:prSet presAssocID="{1E0AA516-F693-4DBE-A77C-45A9DF34D5D2}" presName="node" presStyleLbl="vennNode1" presStyleIdx="1" presStyleCnt="3" custScaleX="146182">
        <dgm:presLayoutVars>
          <dgm:bulletEnabled val="1"/>
        </dgm:presLayoutVars>
      </dgm:prSet>
      <dgm:spPr/>
    </dgm:pt>
    <dgm:pt modelId="{2B851956-16A1-4BEE-A9A5-5A520B2F272E}" type="pres">
      <dgm:prSet presAssocID="{66EEA81A-F126-4D24-9AB4-6D58AAE8DCE3}" presName="node" presStyleLbl="vennNode1" presStyleIdx="2" presStyleCnt="3" custScaleX="150315">
        <dgm:presLayoutVars>
          <dgm:bulletEnabled val="1"/>
        </dgm:presLayoutVars>
      </dgm:prSet>
      <dgm:spPr/>
    </dgm:pt>
  </dgm:ptLst>
  <dgm:cxnLst>
    <dgm:cxn modelId="{B6AC6D84-A6FB-458B-A3BF-E1D6B849A399}" type="presOf" srcId="{1E0AA516-F693-4DBE-A77C-45A9DF34D5D2}" destId="{424EFBE5-8126-4AC2-9127-1BE26D40B916}" srcOrd="0" destOrd="0" presId="urn:microsoft.com/office/officeart/2005/8/layout/radial3"/>
    <dgm:cxn modelId="{8EF15591-C093-40FC-8A3D-61A7F8DA0ABF}" srcId="{5B5F40BC-2416-4EFA-8F28-BB3A6478F4DD}" destId="{1E0AA516-F693-4DBE-A77C-45A9DF34D5D2}" srcOrd="0" destOrd="0" parTransId="{47285233-3C78-4361-8946-90C5FB4B2EC2}" sibTransId="{95881664-E63B-49FB-A30F-D8CD14FF1846}"/>
    <dgm:cxn modelId="{C8335C9B-09DA-43DB-A012-689C88BA4C5A}" type="presOf" srcId="{66EEA81A-F126-4D24-9AB4-6D58AAE8DCE3}" destId="{2B851956-16A1-4BEE-A9A5-5A520B2F272E}" srcOrd="0" destOrd="0" presId="urn:microsoft.com/office/officeart/2005/8/layout/radial3"/>
    <dgm:cxn modelId="{87576DB3-2205-4D7F-9348-7DE2EC2475CA}" srcId="{434F0D62-FC05-4A8D-BD91-33BAA35673BC}" destId="{5B5F40BC-2416-4EFA-8F28-BB3A6478F4DD}" srcOrd="0" destOrd="0" parTransId="{AC24A7CE-1364-465C-A68E-549EC7CD9AF1}" sibTransId="{0E8B641C-5257-4F2D-855E-38DDC2BD58EB}"/>
    <dgm:cxn modelId="{104352C9-D606-4E80-A0BB-693DC3B8AC26}" type="presOf" srcId="{5B5F40BC-2416-4EFA-8F28-BB3A6478F4DD}" destId="{887B718B-4D13-4280-95C5-6E23F5EF96B4}" srcOrd="0" destOrd="0" presId="urn:microsoft.com/office/officeart/2005/8/layout/radial3"/>
    <dgm:cxn modelId="{2A9CA3F0-7BE6-4A49-B346-F9709A7480F5}" type="presOf" srcId="{434F0D62-FC05-4A8D-BD91-33BAA35673BC}" destId="{8854EE9B-A593-4F7F-A09C-4132299165F9}" srcOrd="0" destOrd="0" presId="urn:microsoft.com/office/officeart/2005/8/layout/radial3"/>
    <dgm:cxn modelId="{10BD32FA-9420-4D5A-88EB-A68434FFC6AD}" srcId="{5B5F40BC-2416-4EFA-8F28-BB3A6478F4DD}" destId="{66EEA81A-F126-4D24-9AB4-6D58AAE8DCE3}" srcOrd="1" destOrd="0" parTransId="{495CE9E2-2ED6-4DE9-B6A5-9931EDBCFA29}" sibTransId="{A90CD9FB-2FD3-4D1B-B026-5D73C8418325}"/>
    <dgm:cxn modelId="{90787BFF-FB41-47D2-AD94-CC031CC8271B}" type="presParOf" srcId="{8854EE9B-A593-4F7F-A09C-4132299165F9}" destId="{CF841D7E-7DBE-47E2-8953-53DD6C4E5CF5}" srcOrd="0" destOrd="0" presId="urn:microsoft.com/office/officeart/2005/8/layout/radial3"/>
    <dgm:cxn modelId="{3D2EA568-FBC2-4401-9406-CD30BA491C84}" type="presParOf" srcId="{CF841D7E-7DBE-47E2-8953-53DD6C4E5CF5}" destId="{887B718B-4D13-4280-95C5-6E23F5EF96B4}" srcOrd="0" destOrd="0" presId="urn:microsoft.com/office/officeart/2005/8/layout/radial3"/>
    <dgm:cxn modelId="{BAED85F6-A15C-4EE1-8DB9-D12B0C24CF3F}" type="presParOf" srcId="{CF841D7E-7DBE-47E2-8953-53DD6C4E5CF5}" destId="{424EFBE5-8126-4AC2-9127-1BE26D40B916}" srcOrd="1" destOrd="0" presId="urn:microsoft.com/office/officeart/2005/8/layout/radial3"/>
    <dgm:cxn modelId="{CB1FDC09-507E-4466-8DDA-BF75E3910897}" type="presParOf" srcId="{CF841D7E-7DBE-47E2-8953-53DD6C4E5CF5}" destId="{2B851956-16A1-4BEE-A9A5-5A520B2F272E}" srcOrd="2"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1D7074-3A58-4136-840C-E8175FBD2FD5}" type="doc">
      <dgm:prSet loTypeId="urn:microsoft.com/office/officeart/2005/8/layout/bList2" loCatId="list" qsTypeId="urn:microsoft.com/office/officeart/2005/8/quickstyle/simple1" qsCatId="simple" csTypeId="urn:microsoft.com/office/officeart/2005/8/colors/colorful4" csCatId="colorful" phldr="1"/>
      <dgm:spPr/>
    </dgm:pt>
    <dgm:pt modelId="{05E6CB02-698E-4DCC-9AFF-0A28B1A4D652}">
      <dgm:prSet phldrT="[Text]"/>
      <dgm:spPr/>
      <dgm:t>
        <a:bodyPr/>
        <a:lstStyle/>
        <a:p>
          <a:pPr algn="l"/>
          <a:r>
            <a:rPr lang="en-US" b="1"/>
            <a:t>Repair</a:t>
          </a:r>
          <a:endParaRPr lang="en-US" b="1" dirty="0"/>
        </a:p>
      </dgm:t>
    </dgm:pt>
    <dgm:pt modelId="{CB9CA91C-3253-4EEA-A6BC-98C3A7CC5E82}" type="parTrans" cxnId="{78F0B222-1BBA-4DD2-BD11-CF422EDB1053}">
      <dgm:prSet/>
      <dgm:spPr/>
      <dgm:t>
        <a:bodyPr/>
        <a:lstStyle/>
        <a:p>
          <a:endParaRPr lang="en-US"/>
        </a:p>
      </dgm:t>
    </dgm:pt>
    <dgm:pt modelId="{FA9EEEA0-8ADD-4033-B724-C917FA177CD6}" type="sibTrans" cxnId="{78F0B222-1BBA-4DD2-BD11-CF422EDB1053}">
      <dgm:prSet/>
      <dgm:spPr/>
      <dgm:t>
        <a:bodyPr/>
        <a:lstStyle/>
        <a:p>
          <a:endParaRPr lang="en-US"/>
        </a:p>
      </dgm:t>
    </dgm:pt>
    <dgm:pt modelId="{F9439F54-A1D6-46DC-ABF1-FF63EA0E80F1}">
      <dgm:prSet phldrT="[Text]"/>
      <dgm:spPr/>
      <dgm:t>
        <a:bodyPr/>
        <a:lstStyle/>
        <a:p>
          <a:pPr algn="l"/>
          <a:r>
            <a:rPr lang="en-US" b="1"/>
            <a:t>Sum insured Value, If Total Loss</a:t>
          </a:r>
          <a:endParaRPr lang="en-US" b="1" dirty="0"/>
        </a:p>
      </dgm:t>
    </dgm:pt>
    <dgm:pt modelId="{1AAAB364-A529-403B-B37A-A6BA46623FB8}" type="parTrans" cxnId="{24B7430A-ADD9-4CB4-8D1F-06D248D85919}">
      <dgm:prSet/>
      <dgm:spPr/>
      <dgm:t>
        <a:bodyPr/>
        <a:lstStyle/>
        <a:p>
          <a:endParaRPr lang="en-US"/>
        </a:p>
      </dgm:t>
    </dgm:pt>
    <dgm:pt modelId="{B2DCB323-73B8-4F52-9A42-D407C1C1BA9A}" type="sibTrans" cxnId="{24B7430A-ADD9-4CB4-8D1F-06D248D85919}">
      <dgm:prSet/>
      <dgm:spPr/>
      <dgm:t>
        <a:bodyPr/>
        <a:lstStyle/>
        <a:p>
          <a:endParaRPr lang="en-US"/>
        </a:p>
      </dgm:t>
    </dgm:pt>
    <dgm:pt modelId="{D39B28CE-AE5F-4A68-A841-38FDD67EE223}" type="pres">
      <dgm:prSet presAssocID="{DC1D7074-3A58-4136-840C-E8175FBD2FD5}" presName="diagram" presStyleCnt="0">
        <dgm:presLayoutVars>
          <dgm:dir/>
          <dgm:animLvl val="lvl"/>
          <dgm:resizeHandles val="exact"/>
        </dgm:presLayoutVars>
      </dgm:prSet>
      <dgm:spPr/>
    </dgm:pt>
    <dgm:pt modelId="{10E6B1F2-5AD8-46A2-BF36-CA04462F5964}" type="pres">
      <dgm:prSet presAssocID="{05E6CB02-698E-4DCC-9AFF-0A28B1A4D652}" presName="compNode" presStyleCnt="0"/>
      <dgm:spPr/>
    </dgm:pt>
    <dgm:pt modelId="{C689765B-47A7-49DB-8795-BAB5709AE21A}" type="pres">
      <dgm:prSet presAssocID="{05E6CB02-698E-4DCC-9AFF-0A28B1A4D652}" presName="childRect" presStyleLbl="bgAcc1" presStyleIdx="0" presStyleCnt="2" custLinFactNeighborX="281" custLinFactNeighborY="-1506">
        <dgm:presLayoutVars>
          <dgm:bulletEnabled val="1"/>
        </dgm:presLayoutVars>
      </dgm:prSet>
      <dgm:spPr/>
    </dgm:pt>
    <dgm:pt modelId="{3A53C290-1305-4EA3-8697-F92E58450168}" type="pres">
      <dgm:prSet presAssocID="{05E6CB02-698E-4DCC-9AFF-0A28B1A4D652}" presName="parentText" presStyleLbl="node1" presStyleIdx="0" presStyleCnt="0">
        <dgm:presLayoutVars>
          <dgm:chMax val="0"/>
          <dgm:bulletEnabled val="1"/>
        </dgm:presLayoutVars>
      </dgm:prSet>
      <dgm:spPr/>
    </dgm:pt>
    <dgm:pt modelId="{A6795B95-AA0B-443A-8F7A-0A223804D34A}" type="pres">
      <dgm:prSet presAssocID="{05E6CB02-698E-4DCC-9AFF-0A28B1A4D652}" presName="parentRect" presStyleLbl="alignNode1" presStyleIdx="0" presStyleCnt="2"/>
      <dgm:spPr/>
    </dgm:pt>
    <dgm:pt modelId="{8BBFC179-3C84-43D5-A2C1-52D9B77F522B}" type="pres">
      <dgm:prSet presAssocID="{05E6CB02-698E-4DCC-9AFF-0A28B1A4D652}" presName="adorn" presStyleLbl="fgAccFollowNode1" presStyleIdx="0" presStyleCnt="2" custScaleX="289302" custScaleY="205423" custLinFactX="-35341" custLinFactY="-76632" custLinFactNeighborX="-100000" custLinFactNeighborY="-100000"/>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AA38C3B4-D74C-4382-9562-95933F9F50BE}" type="pres">
      <dgm:prSet presAssocID="{FA9EEEA0-8ADD-4033-B724-C917FA177CD6}" presName="sibTrans" presStyleLbl="sibTrans2D1" presStyleIdx="0" presStyleCnt="0"/>
      <dgm:spPr/>
    </dgm:pt>
    <dgm:pt modelId="{4E9F70C9-9CCF-4018-8609-F9E146756BFA}" type="pres">
      <dgm:prSet presAssocID="{F9439F54-A1D6-46DC-ABF1-FF63EA0E80F1}" presName="compNode" presStyleCnt="0"/>
      <dgm:spPr/>
    </dgm:pt>
    <dgm:pt modelId="{1E489432-A4EF-483F-932E-1514C00366E9}" type="pres">
      <dgm:prSet presAssocID="{F9439F54-A1D6-46DC-ABF1-FF63EA0E80F1}" presName="childRect" presStyleLbl="bgAcc1" presStyleIdx="1" presStyleCnt="2" custLinFactNeighborX="-20377" custLinFactNeighborY="374">
        <dgm:presLayoutVars>
          <dgm:bulletEnabled val="1"/>
        </dgm:presLayoutVars>
      </dgm:prSet>
      <dgm:spPr/>
    </dgm:pt>
    <dgm:pt modelId="{C2AE47B8-8420-4553-83B3-EAD38D6DCC76}" type="pres">
      <dgm:prSet presAssocID="{F9439F54-A1D6-46DC-ABF1-FF63EA0E80F1}" presName="parentText" presStyleLbl="node1" presStyleIdx="0" presStyleCnt="0">
        <dgm:presLayoutVars>
          <dgm:chMax val="0"/>
          <dgm:bulletEnabled val="1"/>
        </dgm:presLayoutVars>
      </dgm:prSet>
      <dgm:spPr/>
    </dgm:pt>
    <dgm:pt modelId="{D9DB0742-1E3C-44A3-9BC6-25C2F5E12D11}" type="pres">
      <dgm:prSet presAssocID="{F9439F54-A1D6-46DC-ABF1-FF63EA0E80F1}" presName="parentRect" presStyleLbl="alignNode1" presStyleIdx="1" presStyleCnt="2" custLinFactNeighborX="-20098" custLinFactNeighborY="362"/>
      <dgm:spPr/>
    </dgm:pt>
    <dgm:pt modelId="{77CAD22E-424F-40C1-952E-92452F9EEF6C}" type="pres">
      <dgm:prSet presAssocID="{F9439F54-A1D6-46DC-ABF1-FF63EA0E80F1}" presName="adorn" presStyleLbl="fgAccFollowNode1" presStyleIdx="1" presStyleCnt="2" custScaleX="269857" custScaleY="214736" custLinFactX="-71522" custLinFactY="-67506" custLinFactNeighborX="-100000" custLinFactNeighborY="-100000"/>
      <dgm:spPr>
        <a:blipFill>
          <a:blip xmlns:r="http://schemas.openxmlformats.org/officeDocument/2006/relationships" r:embed="rId2">
            <a:extLst>
              <a:ext uri="{28A0092B-C50C-407E-A947-70E740481C1C}">
                <a14:useLocalDpi xmlns:a14="http://schemas.microsoft.com/office/drawing/2010/main" val="0"/>
              </a:ext>
            </a:extLst>
          </a:blip>
          <a:srcRect/>
          <a:stretch>
            <a:fillRect l="-39000" r="-39000"/>
          </a:stretch>
        </a:blipFill>
      </dgm:spPr>
    </dgm:pt>
  </dgm:ptLst>
  <dgm:cxnLst>
    <dgm:cxn modelId="{24B7430A-ADD9-4CB4-8D1F-06D248D85919}" srcId="{DC1D7074-3A58-4136-840C-E8175FBD2FD5}" destId="{F9439F54-A1D6-46DC-ABF1-FF63EA0E80F1}" srcOrd="1" destOrd="0" parTransId="{1AAAB364-A529-403B-B37A-A6BA46623FB8}" sibTransId="{B2DCB323-73B8-4F52-9A42-D407C1C1BA9A}"/>
    <dgm:cxn modelId="{98C8EE10-68D3-4D85-A686-499D5A6FD7A0}" type="presOf" srcId="{DC1D7074-3A58-4136-840C-E8175FBD2FD5}" destId="{D39B28CE-AE5F-4A68-A841-38FDD67EE223}" srcOrd="0" destOrd="0" presId="urn:microsoft.com/office/officeart/2005/8/layout/bList2"/>
    <dgm:cxn modelId="{78F0B222-1BBA-4DD2-BD11-CF422EDB1053}" srcId="{DC1D7074-3A58-4136-840C-E8175FBD2FD5}" destId="{05E6CB02-698E-4DCC-9AFF-0A28B1A4D652}" srcOrd="0" destOrd="0" parTransId="{CB9CA91C-3253-4EEA-A6BC-98C3A7CC5E82}" sibTransId="{FA9EEEA0-8ADD-4033-B724-C917FA177CD6}"/>
    <dgm:cxn modelId="{55D7E730-BDEB-4D15-8FCA-B027478778BC}" type="presOf" srcId="{05E6CB02-698E-4DCC-9AFF-0A28B1A4D652}" destId="{3A53C290-1305-4EA3-8697-F92E58450168}" srcOrd="0" destOrd="0" presId="urn:microsoft.com/office/officeart/2005/8/layout/bList2"/>
    <dgm:cxn modelId="{311F2972-EED3-4823-B654-DCBACB557C27}" type="presOf" srcId="{FA9EEEA0-8ADD-4033-B724-C917FA177CD6}" destId="{AA38C3B4-D74C-4382-9562-95933F9F50BE}" srcOrd="0" destOrd="0" presId="urn:microsoft.com/office/officeart/2005/8/layout/bList2"/>
    <dgm:cxn modelId="{14A54A83-ACA0-4D79-8C02-7982D3CFAC69}" type="presOf" srcId="{F9439F54-A1D6-46DC-ABF1-FF63EA0E80F1}" destId="{C2AE47B8-8420-4553-83B3-EAD38D6DCC76}" srcOrd="0" destOrd="0" presId="urn:microsoft.com/office/officeart/2005/8/layout/bList2"/>
    <dgm:cxn modelId="{C00949D9-8030-47C3-BD25-48B4F8D4E3BA}" type="presOf" srcId="{F9439F54-A1D6-46DC-ABF1-FF63EA0E80F1}" destId="{D9DB0742-1E3C-44A3-9BC6-25C2F5E12D11}" srcOrd="1" destOrd="0" presId="urn:microsoft.com/office/officeart/2005/8/layout/bList2"/>
    <dgm:cxn modelId="{2CDD9DF3-E7CF-4BBF-8CB1-72689DAF70F4}" type="presOf" srcId="{05E6CB02-698E-4DCC-9AFF-0A28B1A4D652}" destId="{A6795B95-AA0B-443A-8F7A-0A223804D34A}" srcOrd="1" destOrd="0" presId="urn:microsoft.com/office/officeart/2005/8/layout/bList2"/>
    <dgm:cxn modelId="{F597849B-9105-4D54-B36E-9A293CC7831E}" type="presParOf" srcId="{D39B28CE-AE5F-4A68-A841-38FDD67EE223}" destId="{10E6B1F2-5AD8-46A2-BF36-CA04462F5964}" srcOrd="0" destOrd="0" presId="urn:microsoft.com/office/officeart/2005/8/layout/bList2"/>
    <dgm:cxn modelId="{B276F731-8575-4D3D-B4A7-E7F8E12D754A}" type="presParOf" srcId="{10E6B1F2-5AD8-46A2-BF36-CA04462F5964}" destId="{C689765B-47A7-49DB-8795-BAB5709AE21A}" srcOrd="0" destOrd="0" presId="urn:microsoft.com/office/officeart/2005/8/layout/bList2"/>
    <dgm:cxn modelId="{0E0B41E4-B3FF-43C5-92DE-E42B66FFBCEE}" type="presParOf" srcId="{10E6B1F2-5AD8-46A2-BF36-CA04462F5964}" destId="{3A53C290-1305-4EA3-8697-F92E58450168}" srcOrd="1" destOrd="0" presId="urn:microsoft.com/office/officeart/2005/8/layout/bList2"/>
    <dgm:cxn modelId="{81D574EE-1B83-4ADE-85A8-E8830DA5FF02}" type="presParOf" srcId="{10E6B1F2-5AD8-46A2-BF36-CA04462F5964}" destId="{A6795B95-AA0B-443A-8F7A-0A223804D34A}" srcOrd="2" destOrd="0" presId="urn:microsoft.com/office/officeart/2005/8/layout/bList2"/>
    <dgm:cxn modelId="{D637417F-426F-439D-93DF-69A70D22A65C}" type="presParOf" srcId="{10E6B1F2-5AD8-46A2-BF36-CA04462F5964}" destId="{8BBFC179-3C84-43D5-A2C1-52D9B77F522B}" srcOrd="3" destOrd="0" presId="urn:microsoft.com/office/officeart/2005/8/layout/bList2"/>
    <dgm:cxn modelId="{FC9C3AEA-4DDF-484F-8692-9880FD394A41}" type="presParOf" srcId="{D39B28CE-AE5F-4A68-A841-38FDD67EE223}" destId="{AA38C3B4-D74C-4382-9562-95933F9F50BE}" srcOrd="1" destOrd="0" presId="urn:microsoft.com/office/officeart/2005/8/layout/bList2"/>
    <dgm:cxn modelId="{7C4A5CF5-67D5-4FB4-B708-9954F60F01BA}" type="presParOf" srcId="{D39B28CE-AE5F-4A68-A841-38FDD67EE223}" destId="{4E9F70C9-9CCF-4018-8609-F9E146756BFA}" srcOrd="2" destOrd="0" presId="urn:microsoft.com/office/officeart/2005/8/layout/bList2"/>
    <dgm:cxn modelId="{C9D338D2-D64D-49C2-B625-BDC7324613F6}" type="presParOf" srcId="{4E9F70C9-9CCF-4018-8609-F9E146756BFA}" destId="{1E489432-A4EF-483F-932E-1514C00366E9}" srcOrd="0" destOrd="0" presId="urn:microsoft.com/office/officeart/2005/8/layout/bList2"/>
    <dgm:cxn modelId="{6C4A2A25-9858-45A5-B3AD-F1A97ED5B709}" type="presParOf" srcId="{4E9F70C9-9CCF-4018-8609-F9E146756BFA}" destId="{C2AE47B8-8420-4553-83B3-EAD38D6DCC76}" srcOrd="1" destOrd="0" presId="urn:microsoft.com/office/officeart/2005/8/layout/bList2"/>
    <dgm:cxn modelId="{E9E9EAA5-AA5F-40EF-8371-6F8874ACA145}" type="presParOf" srcId="{4E9F70C9-9CCF-4018-8609-F9E146756BFA}" destId="{D9DB0742-1E3C-44A3-9BC6-25C2F5E12D11}" srcOrd="2" destOrd="0" presId="urn:microsoft.com/office/officeart/2005/8/layout/bList2"/>
    <dgm:cxn modelId="{8CB7086B-0C2A-40F0-91F9-60B8040CF1A9}" type="presParOf" srcId="{4E9F70C9-9CCF-4018-8609-F9E146756BFA}" destId="{77CAD22E-424F-40C1-952E-92452F9EEF6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AE85D5-777D-45F7-B326-8E73EFAFF7B9}">
      <dsp:nvSpPr>
        <dsp:cNvPr id="0" name=""/>
        <dsp:cNvSpPr/>
      </dsp:nvSpPr>
      <dsp:spPr>
        <a:xfrm>
          <a:off x="1447951" y="696365"/>
          <a:ext cx="4925811" cy="4925811"/>
        </a:xfrm>
        <a:prstGeom prst="blockArc">
          <a:avLst>
            <a:gd name="adj1" fmla="val 10800000"/>
            <a:gd name="adj2" fmla="val 16200000"/>
            <a:gd name="adj3" fmla="val 4637"/>
          </a:avLst>
        </a:prstGeom>
        <a:solidFill>
          <a:schemeClr val="accent2">
            <a:hueOff val="-1455363"/>
            <a:satOff val="-83928"/>
            <a:lumOff val="8628"/>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C5FE2823-5616-468B-830D-5423FED28466}">
      <dsp:nvSpPr>
        <dsp:cNvPr id="0" name=""/>
        <dsp:cNvSpPr/>
      </dsp:nvSpPr>
      <dsp:spPr>
        <a:xfrm>
          <a:off x="1447951" y="696365"/>
          <a:ext cx="4925811" cy="4925811"/>
        </a:xfrm>
        <a:prstGeom prst="blockArc">
          <a:avLst>
            <a:gd name="adj1" fmla="val 5400000"/>
            <a:gd name="adj2" fmla="val 10800000"/>
            <a:gd name="adj3" fmla="val 4637"/>
          </a:avLst>
        </a:prstGeom>
        <a:solidFill>
          <a:schemeClr val="accent2">
            <a:hueOff val="-970242"/>
            <a:satOff val="-55952"/>
            <a:lumOff val="5752"/>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1BCFC21F-6F79-48BC-9F93-626D88113E39}">
      <dsp:nvSpPr>
        <dsp:cNvPr id="0" name=""/>
        <dsp:cNvSpPr/>
      </dsp:nvSpPr>
      <dsp:spPr>
        <a:xfrm>
          <a:off x="1447951" y="696365"/>
          <a:ext cx="4925811" cy="4925811"/>
        </a:xfrm>
        <a:prstGeom prst="blockArc">
          <a:avLst>
            <a:gd name="adj1" fmla="val 0"/>
            <a:gd name="adj2" fmla="val 5400000"/>
            <a:gd name="adj3" fmla="val 4637"/>
          </a:avLst>
        </a:prstGeom>
        <a:solidFill>
          <a:schemeClr val="accent2">
            <a:hueOff val="-485121"/>
            <a:satOff val="-27976"/>
            <a:lumOff val="287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1CACAB63-CA80-4A94-9176-062C7FACA9BA}">
      <dsp:nvSpPr>
        <dsp:cNvPr id="0" name=""/>
        <dsp:cNvSpPr/>
      </dsp:nvSpPr>
      <dsp:spPr>
        <a:xfrm>
          <a:off x="1447951" y="696365"/>
          <a:ext cx="4925811" cy="4925811"/>
        </a:xfrm>
        <a:prstGeom prst="blockArc">
          <a:avLst>
            <a:gd name="adj1" fmla="val 16200000"/>
            <a:gd name="adj2" fmla="val 0"/>
            <a:gd name="adj3" fmla="val 4637"/>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5BCF0E59-54B4-429D-8BC0-C179F4CEE30B}">
      <dsp:nvSpPr>
        <dsp:cNvPr id="0" name=""/>
        <dsp:cNvSpPr/>
      </dsp:nvSpPr>
      <dsp:spPr>
        <a:xfrm>
          <a:off x="2777779" y="2026193"/>
          <a:ext cx="2266156" cy="2266156"/>
        </a:xfrm>
        <a:prstGeom prst="ellipse">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b="1" kern="1200" dirty="0"/>
            <a:t>Cause of Claims</a:t>
          </a:r>
        </a:p>
      </dsp:txBody>
      <dsp:txXfrm>
        <a:off x="3109650" y="2358064"/>
        <a:ext cx="1602414" cy="1602414"/>
      </dsp:txXfrm>
    </dsp:sp>
    <dsp:sp modelId="{4A47FA8F-F842-40F3-944D-9CC2FF0104C5}">
      <dsp:nvSpPr>
        <dsp:cNvPr id="0" name=""/>
        <dsp:cNvSpPr/>
      </dsp:nvSpPr>
      <dsp:spPr>
        <a:xfrm>
          <a:off x="2436391" y="-39681"/>
          <a:ext cx="2948933" cy="1586309"/>
        </a:xfrm>
        <a:prstGeom prst="ellips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b="1" kern="1200" dirty="0"/>
            <a:t>Road Accident</a:t>
          </a:r>
        </a:p>
      </dsp:txBody>
      <dsp:txXfrm>
        <a:off x="2868252" y="192629"/>
        <a:ext cx="2085211" cy="1121689"/>
      </dsp:txXfrm>
    </dsp:sp>
    <dsp:sp modelId="{DEFF60D7-26D9-49A6-AC8D-D9E584FB9A6C}">
      <dsp:nvSpPr>
        <dsp:cNvPr id="0" name=""/>
        <dsp:cNvSpPr/>
      </dsp:nvSpPr>
      <dsp:spPr>
        <a:xfrm>
          <a:off x="5217217" y="2366116"/>
          <a:ext cx="2198878" cy="1586309"/>
        </a:xfrm>
        <a:prstGeom prst="ellipse">
          <a:avLst/>
        </a:prstGeom>
        <a:solidFill>
          <a:schemeClr val="accent2">
            <a:hueOff val="-485121"/>
            <a:satOff val="-27976"/>
            <a:lumOff val="2876"/>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b="1" kern="1200" dirty="0"/>
            <a:t>Theft</a:t>
          </a:r>
        </a:p>
      </dsp:txBody>
      <dsp:txXfrm>
        <a:off x="5539235" y="2598426"/>
        <a:ext cx="1554842" cy="1121689"/>
      </dsp:txXfrm>
    </dsp:sp>
    <dsp:sp modelId="{E7977B70-BAC8-40E7-BE8E-E83A5DCA312A}">
      <dsp:nvSpPr>
        <dsp:cNvPr id="0" name=""/>
        <dsp:cNvSpPr/>
      </dsp:nvSpPr>
      <dsp:spPr>
        <a:xfrm>
          <a:off x="2573670" y="4690331"/>
          <a:ext cx="2674374" cy="1749477"/>
        </a:xfrm>
        <a:prstGeom prst="ellipse">
          <a:avLst/>
        </a:prstGeom>
        <a:solidFill>
          <a:schemeClr val="accent2">
            <a:hueOff val="-970242"/>
            <a:satOff val="-55952"/>
            <a:lumOff val="575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t>Natural Disaster</a:t>
          </a:r>
        </a:p>
        <a:p>
          <a:pPr marL="228600" lvl="1" indent="-228600" algn="ctr" defTabSz="889000">
            <a:lnSpc>
              <a:spcPct val="90000"/>
            </a:lnSpc>
            <a:spcBef>
              <a:spcPct val="0"/>
            </a:spcBef>
            <a:spcAft>
              <a:spcPct val="15000"/>
            </a:spcAft>
            <a:buChar char="•"/>
          </a:pPr>
          <a:r>
            <a:rPr lang="en-US" sz="2000" b="1" kern="1200" dirty="0"/>
            <a:t>Flood</a:t>
          </a:r>
        </a:p>
        <a:p>
          <a:pPr marL="228600" lvl="1" indent="-228600" algn="ctr" defTabSz="889000">
            <a:lnSpc>
              <a:spcPct val="90000"/>
            </a:lnSpc>
            <a:spcBef>
              <a:spcPct val="0"/>
            </a:spcBef>
            <a:spcAft>
              <a:spcPct val="15000"/>
            </a:spcAft>
            <a:buChar char="•"/>
          </a:pPr>
          <a:r>
            <a:rPr lang="en-US" sz="2000" b="1" kern="1200" dirty="0"/>
            <a:t>Earthquake</a:t>
          </a:r>
        </a:p>
      </dsp:txBody>
      <dsp:txXfrm>
        <a:off x="2965323" y="4946536"/>
        <a:ext cx="1891068" cy="1237067"/>
      </dsp:txXfrm>
    </dsp:sp>
    <dsp:sp modelId="{4412C0C4-C377-469B-A5EF-85B53D291D79}">
      <dsp:nvSpPr>
        <dsp:cNvPr id="0" name=""/>
        <dsp:cNvSpPr/>
      </dsp:nvSpPr>
      <dsp:spPr>
        <a:xfrm>
          <a:off x="711904" y="2366116"/>
          <a:ext cx="1586309" cy="1586309"/>
        </a:xfrm>
        <a:prstGeom prst="ellipse">
          <a:avLst/>
        </a:prstGeom>
        <a:solidFill>
          <a:schemeClr val="accent2">
            <a:hueOff val="-1455363"/>
            <a:satOff val="-83928"/>
            <a:lumOff val="862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b="1" kern="1200" dirty="0"/>
            <a:t>Fire </a:t>
          </a:r>
        </a:p>
      </dsp:txBody>
      <dsp:txXfrm>
        <a:off x="944214" y="2598426"/>
        <a:ext cx="1121689" cy="11216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F460E9-90BA-4833-B409-39B663C8CF3D}">
      <dsp:nvSpPr>
        <dsp:cNvPr id="0" name=""/>
        <dsp:cNvSpPr/>
      </dsp:nvSpPr>
      <dsp:spPr>
        <a:xfrm>
          <a:off x="3227046" y="-5258"/>
          <a:ext cx="5737906" cy="5901253"/>
        </a:xfrm>
        <a:prstGeom prst="circularArrow">
          <a:avLst>
            <a:gd name="adj1" fmla="val 5274"/>
            <a:gd name="adj2" fmla="val 312630"/>
            <a:gd name="adj3" fmla="val 14190016"/>
            <a:gd name="adj4" fmla="val 17149357"/>
            <a:gd name="adj5" fmla="val 5477"/>
          </a:avLst>
        </a:prstGeom>
        <a:solidFill>
          <a:schemeClr val="accent2">
            <a:lumMod val="40000"/>
            <a:lumOff val="60000"/>
          </a:schemeClr>
        </a:solidFill>
        <a:ln>
          <a:solidFill>
            <a:schemeClr val="accent4">
              <a:lumMod val="75000"/>
            </a:schemeClr>
          </a:solid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822F8485-D89C-4C22-99D6-D8E2AF6CE5A4}">
      <dsp:nvSpPr>
        <dsp:cNvPr id="0" name=""/>
        <dsp:cNvSpPr/>
      </dsp:nvSpPr>
      <dsp:spPr>
        <a:xfrm>
          <a:off x="4950023" y="1381"/>
          <a:ext cx="2291953" cy="114597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Immediate Inform to PIL about the Situation </a:t>
          </a:r>
        </a:p>
      </dsp:txBody>
      <dsp:txXfrm>
        <a:off x="5005965" y="57323"/>
        <a:ext cx="2180069" cy="1034092"/>
      </dsp:txXfrm>
    </dsp:sp>
    <dsp:sp modelId="{CD011DC8-0736-4F19-803B-789653545ECD}">
      <dsp:nvSpPr>
        <dsp:cNvPr id="0" name=""/>
        <dsp:cNvSpPr/>
      </dsp:nvSpPr>
      <dsp:spPr>
        <a:xfrm>
          <a:off x="7023303" y="1198389"/>
          <a:ext cx="2291953" cy="1145976"/>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Send the original Document of Policy</a:t>
          </a:r>
        </a:p>
      </dsp:txBody>
      <dsp:txXfrm>
        <a:off x="7079245" y="1254331"/>
        <a:ext cx="2180069" cy="1034092"/>
      </dsp:txXfrm>
    </dsp:sp>
    <dsp:sp modelId="{1FAC182C-1D33-48EC-BD20-D9AAA612068A}">
      <dsp:nvSpPr>
        <dsp:cNvPr id="0" name=""/>
        <dsp:cNvSpPr/>
      </dsp:nvSpPr>
      <dsp:spPr>
        <a:xfrm>
          <a:off x="7023303" y="3592407"/>
          <a:ext cx="2291953" cy="1145976"/>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Verifying the Documents</a:t>
          </a:r>
        </a:p>
      </dsp:txBody>
      <dsp:txXfrm>
        <a:off x="7079245" y="3648349"/>
        <a:ext cx="2180069" cy="1034092"/>
      </dsp:txXfrm>
    </dsp:sp>
    <dsp:sp modelId="{0BBCF575-D50B-41A6-8912-1A75BBB14AEC}">
      <dsp:nvSpPr>
        <dsp:cNvPr id="0" name=""/>
        <dsp:cNvSpPr/>
      </dsp:nvSpPr>
      <dsp:spPr>
        <a:xfrm>
          <a:off x="4950023" y="4789416"/>
          <a:ext cx="2291953" cy="1145976"/>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Surveyor Appointment (If the Claims Value more that BDT 5,000/-</a:t>
          </a:r>
        </a:p>
      </dsp:txBody>
      <dsp:txXfrm>
        <a:off x="5005965" y="4845358"/>
        <a:ext cx="2180069" cy="1034092"/>
      </dsp:txXfrm>
    </dsp:sp>
    <dsp:sp modelId="{69F51D58-F6F3-42C3-854B-5F3E6FF0A663}">
      <dsp:nvSpPr>
        <dsp:cNvPr id="0" name=""/>
        <dsp:cNvSpPr/>
      </dsp:nvSpPr>
      <dsp:spPr>
        <a:xfrm>
          <a:off x="2876743" y="3592407"/>
          <a:ext cx="2291953" cy="1145976"/>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Accept / Reject the Claims</a:t>
          </a:r>
        </a:p>
      </dsp:txBody>
      <dsp:txXfrm>
        <a:off x="2932685" y="3648349"/>
        <a:ext cx="2180069" cy="1034092"/>
      </dsp:txXfrm>
    </dsp:sp>
    <dsp:sp modelId="{960B71F0-0468-442D-A2CA-C1E2529FB438}">
      <dsp:nvSpPr>
        <dsp:cNvPr id="0" name=""/>
        <dsp:cNvSpPr/>
      </dsp:nvSpPr>
      <dsp:spPr>
        <a:xfrm>
          <a:off x="2876743" y="1198389"/>
          <a:ext cx="2291953" cy="114597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Disburse the Claims</a:t>
          </a:r>
        </a:p>
      </dsp:txBody>
      <dsp:txXfrm>
        <a:off x="2932685" y="1254331"/>
        <a:ext cx="2180069" cy="10340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7B718B-4D13-4280-95C5-6E23F5EF96B4}">
      <dsp:nvSpPr>
        <dsp:cNvPr id="0" name=""/>
        <dsp:cNvSpPr/>
      </dsp:nvSpPr>
      <dsp:spPr>
        <a:xfrm>
          <a:off x="4098170" y="1307695"/>
          <a:ext cx="3257766" cy="3257766"/>
        </a:xfrm>
        <a:prstGeom prst="ellipse">
          <a:avLst/>
        </a:prstGeom>
        <a:solidFill>
          <a:schemeClr val="accent3">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r>
            <a:rPr lang="en-US" sz="3800" b="1" kern="1200" dirty="0"/>
            <a:t>Immediate Inform </a:t>
          </a:r>
        </a:p>
      </dsp:txBody>
      <dsp:txXfrm>
        <a:off x="4575259" y="1784784"/>
        <a:ext cx="2303588" cy="2303588"/>
      </dsp:txXfrm>
    </dsp:sp>
    <dsp:sp modelId="{424EFBE5-8126-4AC2-9127-1BE26D40B916}">
      <dsp:nvSpPr>
        <dsp:cNvPr id="0" name=""/>
        <dsp:cNvSpPr/>
      </dsp:nvSpPr>
      <dsp:spPr>
        <a:xfrm>
          <a:off x="4536486" y="581"/>
          <a:ext cx="2381134" cy="1628883"/>
        </a:xfrm>
        <a:prstGeom prst="ellipse">
          <a:avLst/>
        </a:prstGeom>
        <a:solidFill>
          <a:schemeClr val="accent3">
            <a:alpha val="50000"/>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a:t>By e-mail</a:t>
          </a:r>
        </a:p>
      </dsp:txBody>
      <dsp:txXfrm>
        <a:off x="4885195" y="239125"/>
        <a:ext cx="1683716" cy="1151795"/>
      </dsp:txXfrm>
    </dsp:sp>
    <dsp:sp modelId="{2B851956-16A1-4BEE-A9A5-5A520B2F272E}">
      <dsp:nvSpPr>
        <dsp:cNvPr id="0" name=""/>
        <dsp:cNvSpPr/>
      </dsp:nvSpPr>
      <dsp:spPr>
        <a:xfrm>
          <a:off x="4502825" y="4243692"/>
          <a:ext cx="2448456" cy="1628883"/>
        </a:xfrm>
        <a:prstGeom prst="ellipse">
          <a:avLst/>
        </a:prstGeom>
        <a:solidFill>
          <a:schemeClr val="accent3">
            <a:alpha val="50000"/>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a:t>Time Limit: </a:t>
          </a:r>
          <a:r>
            <a:rPr lang="en-US" sz="2500" b="1" u="sng" kern="1200" dirty="0"/>
            <a:t>Within 24 Hours</a:t>
          </a:r>
        </a:p>
      </dsp:txBody>
      <dsp:txXfrm>
        <a:off x="4861393" y="4482236"/>
        <a:ext cx="1731320" cy="11517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89765B-47A7-49DB-8795-BAB5709AE21A}">
      <dsp:nvSpPr>
        <dsp:cNvPr id="0" name=""/>
        <dsp:cNvSpPr/>
      </dsp:nvSpPr>
      <dsp:spPr>
        <a:xfrm>
          <a:off x="13024" y="99109"/>
          <a:ext cx="3180426" cy="2374121"/>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795B95-AA0B-443A-8F7A-0A223804D34A}">
      <dsp:nvSpPr>
        <dsp:cNvPr id="0" name=""/>
        <dsp:cNvSpPr/>
      </dsp:nvSpPr>
      <dsp:spPr>
        <a:xfrm>
          <a:off x="4087" y="2508985"/>
          <a:ext cx="3180426" cy="1020872"/>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0" rIns="30480" bIns="0" numCol="1" spcCol="1270" anchor="ctr" anchorCtr="0">
          <a:noAutofit/>
        </a:bodyPr>
        <a:lstStyle/>
        <a:p>
          <a:pPr marL="0" lvl="0" indent="0" algn="l" defTabSz="1066800">
            <a:lnSpc>
              <a:spcPct val="90000"/>
            </a:lnSpc>
            <a:spcBef>
              <a:spcPct val="0"/>
            </a:spcBef>
            <a:spcAft>
              <a:spcPct val="35000"/>
            </a:spcAft>
            <a:buNone/>
          </a:pPr>
          <a:r>
            <a:rPr lang="en-US" sz="2400" b="1" kern="1200"/>
            <a:t>Repair</a:t>
          </a:r>
          <a:endParaRPr lang="en-US" sz="2400" b="1" kern="1200" dirty="0"/>
        </a:p>
      </dsp:txBody>
      <dsp:txXfrm>
        <a:off x="4087" y="2508985"/>
        <a:ext cx="2239737" cy="1020872"/>
      </dsp:txXfrm>
    </dsp:sp>
    <dsp:sp modelId="{8BBFC179-3C84-43D5-A2C1-52D9B77F522B}">
      <dsp:nvSpPr>
        <dsp:cNvPr id="0" name=""/>
        <dsp:cNvSpPr/>
      </dsp:nvSpPr>
      <dsp:spPr>
        <a:xfrm>
          <a:off x="0" y="118205"/>
          <a:ext cx="3220363" cy="228666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489432-A4EF-483F-932E-1514C00366E9}">
      <dsp:nvSpPr>
        <dsp:cNvPr id="0" name=""/>
        <dsp:cNvSpPr/>
      </dsp:nvSpPr>
      <dsp:spPr>
        <a:xfrm>
          <a:off x="4128249" y="117826"/>
          <a:ext cx="3180426" cy="2374121"/>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sp>
    <dsp:sp modelId="{D9DB0742-1E3C-44A3-9BC6-25C2F5E12D11}">
      <dsp:nvSpPr>
        <dsp:cNvPr id="0" name=""/>
        <dsp:cNvSpPr/>
      </dsp:nvSpPr>
      <dsp:spPr>
        <a:xfrm>
          <a:off x="4137123" y="2486763"/>
          <a:ext cx="3180426" cy="1020872"/>
        </a:xfrm>
        <a:prstGeom prst="rect">
          <a:avLst/>
        </a:prstGeom>
        <a:solidFill>
          <a:schemeClr val="accent4">
            <a:hueOff val="9800891"/>
            <a:satOff val="-40777"/>
            <a:lumOff val="9608"/>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0" rIns="30480" bIns="0" numCol="1" spcCol="1270" anchor="ctr" anchorCtr="0">
          <a:noAutofit/>
        </a:bodyPr>
        <a:lstStyle/>
        <a:p>
          <a:pPr marL="0" lvl="0" indent="0" algn="l" defTabSz="1066800">
            <a:lnSpc>
              <a:spcPct val="90000"/>
            </a:lnSpc>
            <a:spcBef>
              <a:spcPct val="0"/>
            </a:spcBef>
            <a:spcAft>
              <a:spcPct val="35000"/>
            </a:spcAft>
            <a:buNone/>
          </a:pPr>
          <a:r>
            <a:rPr lang="en-US" sz="2400" b="1" kern="1200"/>
            <a:t>Sum insured Value, If Total Loss</a:t>
          </a:r>
          <a:endParaRPr lang="en-US" sz="2400" b="1" kern="1200" dirty="0"/>
        </a:p>
      </dsp:txBody>
      <dsp:txXfrm>
        <a:off x="4137123" y="2486763"/>
        <a:ext cx="2239737" cy="1020872"/>
      </dsp:txXfrm>
    </dsp:sp>
    <dsp:sp modelId="{77CAD22E-424F-40C1-952E-92452F9EEF6C}">
      <dsp:nvSpPr>
        <dsp:cNvPr id="0" name=""/>
        <dsp:cNvSpPr/>
      </dsp:nvSpPr>
      <dsp:spPr>
        <a:xfrm>
          <a:off x="4251354" y="142040"/>
          <a:ext cx="3003911" cy="2390332"/>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9000" r="-39000"/>
          </a:stretch>
        </a:blipFill>
        <a:ln w="12700" cap="flat" cmpd="sng" algn="ctr">
          <a:solidFill>
            <a:schemeClr val="accent4">
              <a:tint val="40000"/>
              <a:alpha val="90000"/>
              <a:hueOff val="10861925"/>
              <a:satOff val="-51245"/>
              <a:lumOff val="-1851"/>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BB2306-CD3B-4A67-BB98-267F0A1C5F07}"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89227-2AC8-465F-A560-397A713372CB}" type="slidenum">
              <a:rPr lang="en-US" smtClean="0"/>
              <a:t>‹#›</a:t>
            </a:fld>
            <a:endParaRPr lang="en-US"/>
          </a:p>
        </p:txBody>
      </p:sp>
    </p:spTree>
    <p:extLst>
      <p:ext uri="{BB962C8B-B14F-4D97-AF65-F5344CB8AC3E}">
        <p14:creationId xmlns:p14="http://schemas.microsoft.com/office/powerpoint/2010/main" val="785660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Flood= </a:t>
            </a:r>
            <a:r>
              <a:rPr lang="as-IN" dirty="0"/>
              <a:t>বন্যা</a:t>
            </a:r>
            <a:r>
              <a:rPr lang="en-US" dirty="0"/>
              <a:t>, Typhoon= </a:t>
            </a:r>
            <a:r>
              <a:rPr lang="as-IN" dirty="0"/>
              <a:t>ঘূর্ণিঝড়</a:t>
            </a:r>
            <a:r>
              <a:rPr lang="en-US" dirty="0"/>
              <a:t>, Hurricane= </a:t>
            </a:r>
            <a:r>
              <a:rPr lang="as-IN" dirty="0"/>
              <a:t>প্রবল সামুদ্রিক ঝড়</a:t>
            </a:r>
            <a:r>
              <a:rPr lang="en-US" dirty="0"/>
              <a:t>, Storm= </a:t>
            </a:r>
            <a:r>
              <a:rPr lang="as-IN" dirty="0"/>
              <a:t>ঝড়</a:t>
            </a:r>
            <a:r>
              <a:rPr lang="en-US" dirty="0"/>
              <a:t>, tempest=</a:t>
            </a:r>
            <a:r>
              <a:rPr lang="as-IN" dirty="0"/>
              <a:t>প্রবল ঝড়</a:t>
            </a:r>
            <a:r>
              <a:rPr lang="en-US" dirty="0"/>
              <a:t>, inundation= </a:t>
            </a:r>
            <a:r>
              <a:rPr lang="as-IN" dirty="0"/>
              <a:t>প্লাবন</a:t>
            </a:r>
            <a:r>
              <a:rPr lang="en-US" dirty="0"/>
              <a:t>, cyclone= </a:t>
            </a:r>
            <a:r>
              <a:rPr lang="as-IN" dirty="0"/>
              <a:t>ঘূর্ণিঝড়</a:t>
            </a:r>
            <a:r>
              <a:rPr lang="en-US" dirty="0"/>
              <a:t>, hailstorm= </a:t>
            </a:r>
            <a:r>
              <a:rPr lang="as-IN" dirty="0"/>
              <a:t>শিলাবৃষ্টি</a:t>
            </a:r>
            <a:r>
              <a:rPr lang="en-US" dirty="0"/>
              <a:t>, frost= </a:t>
            </a:r>
            <a:r>
              <a:rPr lang="as-IN" dirty="0"/>
              <a:t>তুষারপাত</a:t>
            </a:r>
            <a:endParaRPr lang="en-US" dirty="0"/>
          </a:p>
        </p:txBody>
      </p:sp>
      <p:sp>
        <p:nvSpPr>
          <p:cNvPr id="4" name="Slide Number Placeholder 3"/>
          <p:cNvSpPr>
            <a:spLocks noGrp="1"/>
          </p:cNvSpPr>
          <p:nvPr>
            <p:ph type="sldNum" sz="quarter" idx="5"/>
          </p:nvPr>
        </p:nvSpPr>
        <p:spPr/>
        <p:txBody>
          <a:bodyPr/>
          <a:lstStyle/>
          <a:p>
            <a:fld id="{D4389227-2AC8-465F-A560-397A713372CB}" type="slidenum">
              <a:rPr lang="en-US" smtClean="0"/>
              <a:t>11</a:t>
            </a:fld>
            <a:endParaRPr lang="en-US"/>
          </a:p>
        </p:txBody>
      </p:sp>
    </p:spTree>
    <p:extLst>
      <p:ext uri="{BB962C8B-B14F-4D97-AF65-F5344CB8AC3E}">
        <p14:creationId xmlns:p14="http://schemas.microsoft.com/office/powerpoint/2010/main" val="3129440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Automatic Vehicle Location (AVL) system uses technology to track the real-time location and movement of vehicles, often using GPS or similar satellite navigation systems. It transmits this data to a central command center, enabling real-time monitoring and optimization of vehicle operations. AVL systems are widely used by organizations that manage fleets of vehicles or personnel, such as public safety agencies, transportation companies, and energy companies. </a:t>
            </a:r>
            <a:endParaRPr lang="en-US" dirty="0"/>
          </a:p>
        </p:txBody>
      </p:sp>
      <p:sp>
        <p:nvSpPr>
          <p:cNvPr id="4" name="Slide Number Placeholder 3"/>
          <p:cNvSpPr>
            <a:spLocks noGrp="1"/>
          </p:cNvSpPr>
          <p:nvPr>
            <p:ph type="sldNum" sz="quarter" idx="5"/>
          </p:nvPr>
        </p:nvSpPr>
        <p:spPr/>
        <p:txBody>
          <a:bodyPr/>
          <a:lstStyle/>
          <a:p>
            <a:fld id="{D4389227-2AC8-465F-A560-397A713372CB}" type="slidenum">
              <a:rPr lang="en-US" smtClean="0"/>
              <a:t>18</a:t>
            </a:fld>
            <a:endParaRPr lang="en-US"/>
          </a:p>
        </p:txBody>
      </p:sp>
    </p:spTree>
    <p:extLst>
      <p:ext uri="{BB962C8B-B14F-4D97-AF65-F5344CB8AC3E}">
        <p14:creationId xmlns:p14="http://schemas.microsoft.com/office/powerpoint/2010/main" val="3965138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9D840-2A81-4139-A990-3DAFFAADB6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6BFF14-B77F-41A3-B356-9378DA903F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008691-613F-4E41-9934-B17EA18F9F69}"/>
              </a:ext>
            </a:extLst>
          </p:cNvPr>
          <p:cNvSpPr>
            <a:spLocks noGrp="1"/>
          </p:cNvSpPr>
          <p:nvPr>
            <p:ph type="dt" sz="half" idx="10"/>
          </p:nvPr>
        </p:nvSpPr>
        <p:spPr/>
        <p:txBody>
          <a:bodyPr/>
          <a:lstStyle/>
          <a:p>
            <a:fld id="{6FC6AF3E-A5A4-41CA-B9F8-E38388574880}" type="datetimeFigureOut">
              <a:rPr lang="en-US" smtClean="0"/>
              <a:t>3/1/2026</a:t>
            </a:fld>
            <a:endParaRPr lang="en-US"/>
          </a:p>
        </p:txBody>
      </p:sp>
      <p:sp>
        <p:nvSpPr>
          <p:cNvPr id="5" name="Footer Placeholder 4">
            <a:extLst>
              <a:ext uri="{FF2B5EF4-FFF2-40B4-BE49-F238E27FC236}">
                <a16:creationId xmlns:a16="http://schemas.microsoft.com/office/drawing/2014/main" id="{A69D1AEC-DD5D-461B-8F52-688DCB4EB7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CE229C-CAB8-4E13-B045-80C0085DB594}"/>
              </a:ext>
            </a:extLst>
          </p:cNvPr>
          <p:cNvSpPr>
            <a:spLocks noGrp="1"/>
          </p:cNvSpPr>
          <p:nvPr>
            <p:ph type="sldNum" sz="quarter" idx="12"/>
          </p:nvPr>
        </p:nvSpPr>
        <p:spPr/>
        <p:txBody>
          <a:bodyPr/>
          <a:lstStyle/>
          <a:p>
            <a:fld id="{572D37EF-697F-4D29-A4A8-07E406EE7286}" type="slidenum">
              <a:rPr lang="en-US" smtClean="0"/>
              <a:t>‹#›</a:t>
            </a:fld>
            <a:endParaRPr lang="en-US"/>
          </a:p>
        </p:txBody>
      </p:sp>
    </p:spTree>
    <p:extLst>
      <p:ext uri="{BB962C8B-B14F-4D97-AF65-F5344CB8AC3E}">
        <p14:creationId xmlns:p14="http://schemas.microsoft.com/office/powerpoint/2010/main" val="276148180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52D02-06B4-42F6-BBA9-8B16B0B61533}"/>
              </a:ext>
            </a:extLst>
          </p:cNvPr>
          <p:cNvSpPr>
            <a:spLocks noGrp="1"/>
          </p:cNvSpPr>
          <p:nvPr>
            <p:ph type="title"/>
          </p:nvPr>
        </p:nvSpPr>
        <p:spPr>
          <a:xfrm>
            <a:off x="838200" y="279111"/>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DC563A6-0073-4864-A676-8FA26AABF76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060049-52A1-4711-A427-622C937B5AC8}"/>
              </a:ext>
            </a:extLst>
          </p:cNvPr>
          <p:cNvSpPr>
            <a:spLocks noGrp="1"/>
          </p:cNvSpPr>
          <p:nvPr>
            <p:ph type="dt" sz="half" idx="10"/>
          </p:nvPr>
        </p:nvSpPr>
        <p:spPr/>
        <p:txBody>
          <a:bodyPr/>
          <a:lstStyle/>
          <a:p>
            <a:fld id="{6FC6AF3E-A5A4-41CA-B9F8-E38388574880}" type="datetimeFigureOut">
              <a:rPr lang="en-US" smtClean="0"/>
              <a:t>3/1/2026</a:t>
            </a:fld>
            <a:endParaRPr lang="en-US"/>
          </a:p>
        </p:txBody>
      </p:sp>
      <p:sp>
        <p:nvSpPr>
          <p:cNvPr id="5" name="Footer Placeholder 4">
            <a:extLst>
              <a:ext uri="{FF2B5EF4-FFF2-40B4-BE49-F238E27FC236}">
                <a16:creationId xmlns:a16="http://schemas.microsoft.com/office/drawing/2014/main" id="{49E0F307-1D8F-4D1A-A375-16CE0DF07B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92C11-A198-4499-9661-4AB7B16E1FAF}"/>
              </a:ext>
            </a:extLst>
          </p:cNvPr>
          <p:cNvSpPr>
            <a:spLocks noGrp="1"/>
          </p:cNvSpPr>
          <p:nvPr>
            <p:ph type="sldNum" sz="quarter" idx="12"/>
          </p:nvPr>
        </p:nvSpPr>
        <p:spPr/>
        <p:txBody>
          <a:bodyPr/>
          <a:lstStyle/>
          <a:p>
            <a:fld id="{572D37EF-697F-4D29-A4A8-07E406EE7286}" type="slidenum">
              <a:rPr lang="en-US" smtClean="0"/>
              <a:t>‹#›</a:t>
            </a:fld>
            <a:endParaRPr lang="en-US"/>
          </a:p>
        </p:txBody>
      </p:sp>
    </p:spTree>
    <p:extLst>
      <p:ext uri="{BB962C8B-B14F-4D97-AF65-F5344CB8AC3E}">
        <p14:creationId xmlns:p14="http://schemas.microsoft.com/office/powerpoint/2010/main" val="250821884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2939F-CFE1-4D31-8355-D0C0EEED80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BEB001-3A70-4BD7-A923-0B7815B9A0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1B69432-627E-4862-9E78-6A81D151DB20}"/>
              </a:ext>
            </a:extLst>
          </p:cNvPr>
          <p:cNvSpPr>
            <a:spLocks noGrp="1"/>
          </p:cNvSpPr>
          <p:nvPr>
            <p:ph type="dt" sz="half" idx="10"/>
          </p:nvPr>
        </p:nvSpPr>
        <p:spPr/>
        <p:txBody>
          <a:bodyPr/>
          <a:lstStyle/>
          <a:p>
            <a:fld id="{6FC6AF3E-A5A4-41CA-B9F8-E38388574880}" type="datetimeFigureOut">
              <a:rPr lang="en-US" smtClean="0"/>
              <a:t>3/1/2026</a:t>
            </a:fld>
            <a:endParaRPr lang="en-US"/>
          </a:p>
        </p:txBody>
      </p:sp>
      <p:sp>
        <p:nvSpPr>
          <p:cNvPr id="5" name="Footer Placeholder 4">
            <a:extLst>
              <a:ext uri="{FF2B5EF4-FFF2-40B4-BE49-F238E27FC236}">
                <a16:creationId xmlns:a16="http://schemas.microsoft.com/office/drawing/2014/main" id="{7ABA62C3-271D-46A4-99F5-285417D645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B24698-F0CD-494E-B83B-AED80C5E0FDA}"/>
              </a:ext>
            </a:extLst>
          </p:cNvPr>
          <p:cNvSpPr>
            <a:spLocks noGrp="1"/>
          </p:cNvSpPr>
          <p:nvPr>
            <p:ph type="sldNum" sz="quarter" idx="12"/>
          </p:nvPr>
        </p:nvSpPr>
        <p:spPr/>
        <p:txBody>
          <a:bodyPr/>
          <a:lstStyle/>
          <a:p>
            <a:fld id="{572D37EF-697F-4D29-A4A8-07E406EE7286}" type="slidenum">
              <a:rPr lang="en-US" smtClean="0"/>
              <a:t>‹#›</a:t>
            </a:fld>
            <a:endParaRPr lang="en-US"/>
          </a:p>
        </p:txBody>
      </p:sp>
    </p:spTree>
    <p:extLst>
      <p:ext uri="{BB962C8B-B14F-4D97-AF65-F5344CB8AC3E}">
        <p14:creationId xmlns:p14="http://schemas.microsoft.com/office/powerpoint/2010/main" val="415179817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BCE58-80AC-43A5-930B-D756118CC3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6B19A8-51F6-426D-A99C-A3B14A44EE4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7F94A8-F74B-45B5-956F-B175DBA0DA1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78B9D4-11AC-40CF-86C1-1149BB9CDCF0}"/>
              </a:ext>
            </a:extLst>
          </p:cNvPr>
          <p:cNvSpPr>
            <a:spLocks noGrp="1"/>
          </p:cNvSpPr>
          <p:nvPr>
            <p:ph type="dt" sz="half" idx="10"/>
          </p:nvPr>
        </p:nvSpPr>
        <p:spPr/>
        <p:txBody>
          <a:bodyPr/>
          <a:lstStyle/>
          <a:p>
            <a:fld id="{6FC6AF3E-A5A4-41CA-B9F8-E38388574880}" type="datetimeFigureOut">
              <a:rPr lang="en-US" smtClean="0"/>
              <a:t>3/1/2026</a:t>
            </a:fld>
            <a:endParaRPr lang="en-US"/>
          </a:p>
        </p:txBody>
      </p:sp>
      <p:sp>
        <p:nvSpPr>
          <p:cNvPr id="6" name="Footer Placeholder 5">
            <a:extLst>
              <a:ext uri="{FF2B5EF4-FFF2-40B4-BE49-F238E27FC236}">
                <a16:creationId xmlns:a16="http://schemas.microsoft.com/office/drawing/2014/main" id="{628CEA11-D790-492F-B256-389A6D7889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3CBB5F-00EC-423C-9ED5-A9F07951BDF9}"/>
              </a:ext>
            </a:extLst>
          </p:cNvPr>
          <p:cNvSpPr>
            <a:spLocks noGrp="1"/>
          </p:cNvSpPr>
          <p:nvPr>
            <p:ph type="sldNum" sz="quarter" idx="12"/>
          </p:nvPr>
        </p:nvSpPr>
        <p:spPr/>
        <p:txBody>
          <a:bodyPr/>
          <a:lstStyle/>
          <a:p>
            <a:fld id="{572D37EF-697F-4D29-A4A8-07E406EE7286}" type="slidenum">
              <a:rPr lang="en-US" smtClean="0"/>
              <a:t>‹#›</a:t>
            </a:fld>
            <a:endParaRPr lang="en-US"/>
          </a:p>
        </p:txBody>
      </p:sp>
    </p:spTree>
    <p:extLst>
      <p:ext uri="{BB962C8B-B14F-4D97-AF65-F5344CB8AC3E}">
        <p14:creationId xmlns:p14="http://schemas.microsoft.com/office/powerpoint/2010/main" val="2150530852"/>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FBA9B-016E-49BB-9DE2-1798AD523C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CC8E7C-4679-4FA0-8ED3-C19D27C3E2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81BF9E3-3802-4353-9406-D547C854BC9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C22053-0B6B-4610-AB56-9E98F48042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5AA95B-D0AF-400C-BC8D-A87CDB5D6D0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42917D-4F35-45B4-9A3D-2BDCA83A5CAA}"/>
              </a:ext>
            </a:extLst>
          </p:cNvPr>
          <p:cNvSpPr>
            <a:spLocks noGrp="1"/>
          </p:cNvSpPr>
          <p:nvPr>
            <p:ph type="dt" sz="half" idx="10"/>
          </p:nvPr>
        </p:nvSpPr>
        <p:spPr/>
        <p:txBody>
          <a:bodyPr/>
          <a:lstStyle/>
          <a:p>
            <a:fld id="{6FC6AF3E-A5A4-41CA-B9F8-E38388574880}" type="datetimeFigureOut">
              <a:rPr lang="en-US" smtClean="0"/>
              <a:t>3/1/2026</a:t>
            </a:fld>
            <a:endParaRPr lang="en-US"/>
          </a:p>
        </p:txBody>
      </p:sp>
      <p:sp>
        <p:nvSpPr>
          <p:cNvPr id="8" name="Footer Placeholder 7">
            <a:extLst>
              <a:ext uri="{FF2B5EF4-FFF2-40B4-BE49-F238E27FC236}">
                <a16:creationId xmlns:a16="http://schemas.microsoft.com/office/drawing/2014/main" id="{C7E4BD3C-916F-431A-9157-4598368536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2F51B2-4C1F-4BD7-8020-8F565C15A0A8}"/>
              </a:ext>
            </a:extLst>
          </p:cNvPr>
          <p:cNvSpPr>
            <a:spLocks noGrp="1"/>
          </p:cNvSpPr>
          <p:nvPr>
            <p:ph type="sldNum" sz="quarter" idx="12"/>
          </p:nvPr>
        </p:nvSpPr>
        <p:spPr/>
        <p:txBody>
          <a:bodyPr/>
          <a:lstStyle/>
          <a:p>
            <a:fld id="{572D37EF-697F-4D29-A4A8-07E406EE7286}" type="slidenum">
              <a:rPr lang="en-US" smtClean="0"/>
              <a:t>‹#›</a:t>
            </a:fld>
            <a:endParaRPr lang="en-US"/>
          </a:p>
        </p:txBody>
      </p:sp>
    </p:spTree>
    <p:extLst>
      <p:ext uri="{BB962C8B-B14F-4D97-AF65-F5344CB8AC3E}">
        <p14:creationId xmlns:p14="http://schemas.microsoft.com/office/powerpoint/2010/main" val="353279365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EFCD1-40AE-4E25-B237-5B5B51343E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8A156F-3E8B-415E-B6B0-7BD3E0399E47}"/>
              </a:ext>
            </a:extLst>
          </p:cNvPr>
          <p:cNvSpPr>
            <a:spLocks noGrp="1"/>
          </p:cNvSpPr>
          <p:nvPr>
            <p:ph type="dt" sz="half" idx="10"/>
          </p:nvPr>
        </p:nvSpPr>
        <p:spPr/>
        <p:txBody>
          <a:bodyPr/>
          <a:lstStyle/>
          <a:p>
            <a:fld id="{6FC6AF3E-A5A4-41CA-B9F8-E38388574880}" type="datetimeFigureOut">
              <a:rPr lang="en-US" smtClean="0"/>
              <a:t>3/1/2026</a:t>
            </a:fld>
            <a:endParaRPr lang="en-US"/>
          </a:p>
        </p:txBody>
      </p:sp>
      <p:sp>
        <p:nvSpPr>
          <p:cNvPr id="4" name="Footer Placeholder 3">
            <a:extLst>
              <a:ext uri="{FF2B5EF4-FFF2-40B4-BE49-F238E27FC236}">
                <a16:creationId xmlns:a16="http://schemas.microsoft.com/office/drawing/2014/main" id="{471AA800-E168-4468-B4B4-D7D2315515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215513-86B3-48D2-8050-DA38BDFECDDB}"/>
              </a:ext>
            </a:extLst>
          </p:cNvPr>
          <p:cNvSpPr>
            <a:spLocks noGrp="1"/>
          </p:cNvSpPr>
          <p:nvPr>
            <p:ph type="sldNum" sz="quarter" idx="12"/>
          </p:nvPr>
        </p:nvSpPr>
        <p:spPr/>
        <p:txBody>
          <a:bodyPr/>
          <a:lstStyle/>
          <a:p>
            <a:fld id="{572D37EF-697F-4D29-A4A8-07E406EE7286}" type="slidenum">
              <a:rPr lang="en-US" smtClean="0"/>
              <a:t>‹#›</a:t>
            </a:fld>
            <a:endParaRPr lang="en-US"/>
          </a:p>
        </p:txBody>
      </p:sp>
    </p:spTree>
    <p:extLst>
      <p:ext uri="{BB962C8B-B14F-4D97-AF65-F5344CB8AC3E}">
        <p14:creationId xmlns:p14="http://schemas.microsoft.com/office/powerpoint/2010/main" val="406912774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3F4559-5262-488E-8DE5-825DF6134EC7}"/>
              </a:ext>
            </a:extLst>
          </p:cNvPr>
          <p:cNvSpPr>
            <a:spLocks noGrp="1"/>
          </p:cNvSpPr>
          <p:nvPr>
            <p:ph type="dt" sz="half" idx="10"/>
          </p:nvPr>
        </p:nvSpPr>
        <p:spPr/>
        <p:txBody>
          <a:bodyPr/>
          <a:lstStyle/>
          <a:p>
            <a:fld id="{6FC6AF3E-A5A4-41CA-B9F8-E38388574880}" type="datetimeFigureOut">
              <a:rPr lang="en-US" smtClean="0"/>
              <a:t>3/1/2026</a:t>
            </a:fld>
            <a:endParaRPr lang="en-US"/>
          </a:p>
        </p:txBody>
      </p:sp>
      <p:sp>
        <p:nvSpPr>
          <p:cNvPr id="3" name="Footer Placeholder 2">
            <a:extLst>
              <a:ext uri="{FF2B5EF4-FFF2-40B4-BE49-F238E27FC236}">
                <a16:creationId xmlns:a16="http://schemas.microsoft.com/office/drawing/2014/main" id="{68421519-1442-4B93-902F-8EA92D8697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A11AD6-0CE4-4742-A0F3-B6156EC7D1BE}"/>
              </a:ext>
            </a:extLst>
          </p:cNvPr>
          <p:cNvSpPr>
            <a:spLocks noGrp="1"/>
          </p:cNvSpPr>
          <p:nvPr>
            <p:ph type="sldNum" sz="quarter" idx="12"/>
          </p:nvPr>
        </p:nvSpPr>
        <p:spPr/>
        <p:txBody>
          <a:bodyPr/>
          <a:lstStyle/>
          <a:p>
            <a:fld id="{572D37EF-697F-4D29-A4A8-07E406EE7286}" type="slidenum">
              <a:rPr lang="en-US" smtClean="0"/>
              <a:t>‹#›</a:t>
            </a:fld>
            <a:endParaRPr lang="en-US"/>
          </a:p>
        </p:txBody>
      </p:sp>
    </p:spTree>
    <p:extLst>
      <p:ext uri="{BB962C8B-B14F-4D97-AF65-F5344CB8AC3E}">
        <p14:creationId xmlns:p14="http://schemas.microsoft.com/office/powerpoint/2010/main" val="407267581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B3BA6-4707-4549-BD63-5F3F5C8DEC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81660C-7B8C-482D-BABC-7C7C8C06B1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2D2FDE-5303-49A3-A894-508C3951D7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B0CE0A9-F847-42E7-A53C-0C63EF84AA4D}"/>
              </a:ext>
            </a:extLst>
          </p:cNvPr>
          <p:cNvSpPr>
            <a:spLocks noGrp="1"/>
          </p:cNvSpPr>
          <p:nvPr>
            <p:ph type="dt" sz="half" idx="10"/>
          </p:nvPr>
        </p:nvSpPr>
        <p:spPr/>
        <p:txBody>
          <a:bodyPr/>
          <a:lstStyle/>
          <a:p>
            <a:fld id="{6FC6AF3E-A5A4-41CA-B9F8-E38388574880}" type="datetimeFigureOut">
              <a:rPr lang="en-US" smtClean="0"/>
              <a:t>3/1/2026</a:t>
            </a:fld>
            <a:endParaRPr lang="en-US"/>
          </a:p>
        </p:txBody>
      </p:sp>
      <p:sp>
        <p:nvSpPr>
          <p:cNvPr id="6" name="Footer Placeholder 5">
            <a:extLst>
              <a:ext uri="{FF2B5EF4-FFF2-40B4-BE49-F238E27FC236}">
                <a16:creationId xmlns:a16="http://schemas.microsoft.com/office/drawing/2014/main" id="{3D7B3343-0959-445D-9902-1649056D13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1FF2F8-5CF9-45C7-8E7A-1D7F9E1CBB7A}"/>
              </a:ext>
            </a:extLst>
          </p:cNvPr>
          <p:cNvSpPr>
            <a:spLocks noGrp="1"/>
          </p:cNvSpPr>
          <p:nvPr>
            <p:ph type="sldNum" sz="quarter" idx="12"/>
          </p:nvPr>
        </p:nvSpPr>
        <p:spPr/>
        <p:txBody>
          <a:bodyPr/>
          <a:lstStyle/>
          <a:p>
            <a:fld id="{572D37EF-697F-4D29-A4A8-07E406EE7286}" type="slidenum">
              <a:rPr lang="en-US" smtClean="0"/>
              <a:t>‹#›</a:t>
            </a:fld>
            <a:endParaRPr lang="en-US"/>
          </a:p>
        </p:txBody>
      </p:sp>
    </p:spTree>
    <p:extLst>
      <p:ext uri="{BB962C8B-B14F-4D97-AF65-F5344CB8AC3E}">
        <p14:creationId xmlns:p14="http://schemas.microsoft.com/office/powerpoint/2010/main" val="364384349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A5ED7-7D40-4CC6-9BF0-B40C66D3BA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8DFB630-3928-4BF8-AF75-4E13D5E92A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5D647C-3DC6-48FD-AEA4-7DDF7D01EA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63A2B92-3BE4-4E30-8961-6B38ACE5496F}"/>
              </a:ext>
            </a:extLst>
          </p:cNvPr>
          <p:cNvSpPr>
            <a:spLocks noGrp="1"/>
          </p:cNvSpPr>
          <p:nvPr>
            <p:ph type="dt" sz="half" idx="10"/>
          </p:nvPr>
        </p:nvSpPr>
        <p:spPr/>
        <p:txBody>
          <a:bodyPr/>
          <a:lstStyle/>
          <a:p>
            <a:fld id="{6FC6AF3E-A5A4-41CA-B9F8-E38388574880}" type="datetimeFigureOut">
              <a:rPr lang="en-US" smtClean="0"/>
              <a:t>3/1/2026</a:t>
            </a:fld>
            <a:endParaRPr lang="en-US"/>
          </a:p>
        </p:txBody>
      </p:sp>
      <p:sp>
        <p:nvSpPr>
          <p:cNvPr id="6" name="Footer Placeholder 5">
            <a:extLst>
              <a:ext uri="{FF2B5EF4-FFF2-40B4-BE49-F238E27FC236}">
                <a16:creationId xmlns:a16="http://schemas.microsoft.com/office/drawing/2014/main" id="{C152E8D9-FD3B-41A9-B822-9B68B5DBFF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CAC9D8-6DA2-42C2-979C-065EE60EB06A}"/>
              </a:ext>
            </a:extLst>
          </p:cNvPr>
          <p:cNvSpPr>
            <a:spLocks noGrp="1"/>
          </p:cNvSpPr>
          <p:nvPr>
            <p:ph type="sldNum" sz="quarter" idx="12"/>
          </p:nvPr>
        </p:nvSpPr>
        <p:spPr/>
        <p:txBody>
          <a:bodyPr/>
          <a:lstStyle/>
          <a:p>
            <a:fld id="{572D37EF-697F-4D29-A4A8-07E406EE7286}" type="slidenum">
              <a:rPr lang="en-US" smtClean="0"/>
              <a:t>‹#›</a:t>
            </a:fld>
            <a:endParaRPr lang="en-US"/>
          </a:p>
        </p:txBody>
      </p:sp>
    </p:spTree>
    <p:extLst>
      <p:ext uri="{BB962C8B-B14F-4D97-AF65-F5344CB8AC3E}">
        <p14:creationId xmlns:p14="http://schemas.microsoft.com/office/powerpoint/2010/main" val="36736678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14389-A696-41F5-809B-D25F5DCB19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0383EF-810E-4795-8659-AC5EB44B550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E42010-F397-41DD-86E4-C583D0A165D9}"/>
              </a:ext>
            </a:extLst>
          </p:cNvPr>
          <p:cNvSpPr>
            <a:spLocks noGrp="1"/>
          </p:cNvSpPr>
          <p:nvPr>
            <p:ph type="dt" sz="half" idx="10"/>
          </p:nvPr>
        </p:nvSpPr>
        <p:spPr/>
        <p:txBody>
          <a:bodyPr/>
          <a:lstStyle/>
          <a:p>
            <a:fld id="{6FC6AF3E-A5A4-41CA-B9F8-E38388574880}" type="datetimeFigureOut">
              <a:rPr lang="en-US" smtClean="0"/>
              <a:t>3/1/2026</a:t>
            </a:fld>
            <a:endParaRPr lang="en-US"/>
          </a:p>
        </p:txBody>
      </p:sp>
      <p:sp>
        <p:nvSpPr>
          <p:cNvPr id="5" name="Footer Placeholder 4">
            <a:extLst>
              <a:ext uri="{FF2B5EF4-FFF2-40B4-BE49-F238E27FC236}">
                <a16:creationId xmlns:a16="http://schemas.microsoft.com/office/drawing/2014/main" id="{FB3C59A9-9697-4D62-8C80-1B7C6785A9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160923-44E0-4984-B2B0-0C52FD909AFB}"/>
              </a:ext>
            </a:extLst>
          </p:cNvPr>
          <p:cNvSpPr>
            <a:spLocks noGrp="1"/>
          </p:cNvSpPr>
          <p:nvPr>
            <p:ph type="sldNum" sz="quarter" idx="12"/>
          </p:nvPr>
        </p:nvSpPr>
        <p:spPr/>
        <p:txBody>
          <a:bodyPr/>
          <a:lstStyle/>
          <a:p>
            <a:fld id="{572D37EF-697F-4D29-A4A8-07E406EE7286}" type="slidenum">
              <a:rPr lang="en-US" smtClean="0"/>
              <a:t>‹#›</a:t>
            </a:fld>
            <a:endParaRPr lang="en-US"/>
          </a:p>
        </p:txBody>
      </p:sp>
    </p:spTree>
    <p:extLst>
      <p:ext uri="{BB962C8B-B14F-4D97-AF65-F5344CB8AC3E}">
        <p14:creationId xmlns:p14="http://schemas.microsoft.com/office/powerpoint/2010/main" val="306361339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2CC320-3673-44C6-A47A-78C1D1F7A7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46823F-5379-4726-A85A-4F7BB7C8DC3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687A9E-7281-43A0-BC4C-C2259F01BFE6}"/>
              </a:ext>
            </a:extLst>
          </p:cNvPr>
          <p:cNvSpPr>
            <a:spLocks noGrp="1"/>
          </p:cNvSpPr>
          <p:nvPr>
            <p:ph type="dt" sz="half" idx="10"/>
          </p:nvPr>
        </p:nvSpPr>
        <p:spPr/>
        <p:txBody>
          <a:bodyPr/>
          <a:lstStyle/>
          <a:p>
            <a:fld id="{6FC6AF3E-A5A4-41CA-B9F8-E38388574880}" type="datetimeFigureOut">
              <a:rPr lang="en-US" smtClean="0"/>
              <a:t>3/1/2026</a:t>
            </a:fld>
            <a:endParaRPr lang="en-US"/>
          </a:p>
        </p:txBody>
      </p:sp>
      <p:sp>
        <p:nvSpPr>
          <p:cNvPr id="5" name="Footer Placeholder 4">
            <a:extLst>
              <a:ext uri="{FF2B5EF4-FFF2-40B4-BE49-F238E27FC236}">
                <a16:creationId xmlns:a16="http://schemas.microsoft.com/office/drawing/2014/main" id="{AD174597-1BF4-49F2-808A-748148CD56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EEC736-3F79-467A-BC83-A4F7B2DBE3EC}"/>
              </a:ext>
            </a:extLst>
          </p:cNvPr>
          <p:cNvSpPr>
            <a:spLocks noGrp="1"/>
          </p:cNvSpPr>
          <p:nvPr>
            <p:ph type="sldNum" sz="quarter" idx="12"/>
          </p:nvPr>
        </p:nvSpPr>
        <p:spPr/>
        <p:txBody>
          <a:bodyPr/>
          <a:lstStyle/>
          <a:p>
            <a:fld id="{572D37EF-697F-4D29-A4A8-07E406EE7286}" type="slidenum">
              <a:rPr lang="en-US" smtClean="0"/>
              <a:t>‹#›</a:t>
            </a:fld>
            <a:endParaRPr lang="en-US"/>
          </a:p>
        </p:txBody>
      </p:sp>
    </p:spTree>
    <p:extLst>
      <p:ext uri="{BB962C8B-B14F-4D97-AF65-F5344CB8AC3E}">
        <p14:creationId xmlns:p14="http://schemas.microsoft.com/office/powerpoint/2010/main" val="146097072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A3982E-AB5B-4B94-BACA-D94CB6CF29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86EE85-9349-4652-9CC3-AD072C210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587541-79CD-4C43-881E-0943DB51CD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C6AF3E-A5A4-41CA-B9F8-E38388574880}" type="datetimeFigureOut">
              <a:rPr lang="en-US" smtClean="0"/>
              <a:t>3/1/2026</a:t>
            </a:fld>
            <a:endParaRPr lang="en-US"/>
          </a:p>
        </p:txBody>
      </p:sp>
      <p:sp>
        <p:nvSpPr>
          <p:cNvPr id="5" name="Footer Placeholder 4">
            <a:extLst>
              <a:ext uri="{FF2B5EF4-FFF2-40B4-BE49-F238E27FC236}">
                <a16:creationId xmlns:a16="http://schemas.microsoft.com/office/drawing/2014/main" id="{9BF40E37-D9F1-4149-A1EF-848C4C836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50B37C-461D-4312-AB21-F7C34F6764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2D37EF-697F-4D29-A4A8-07E406EE7286}" type="slidenum">
              <a:rPr lang="en-US" smtClean="0"/>
              <a:t>‹#›</a:t>
            </a:fld>
            <a:endParaRPr lang="en-US"/>
          </a:p>
        </p:txBody>
      </p:sp>
      <p:pic>
        <p:nvPicPr>
          <p:cNvPr id="9" name="Picture 8">
            <a:extLst>
              <a:ext uri="{FF2B5EF4-FFF2-40B4-BE49-F238E27FC236}">
                <a16:creationId xmlns:a16="http://schemas.microsoft.com/office/drawing/2014/main" id="{BED79977-4EDE-413B-8060-967FD1BC48C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3874" y="16626"/>
            <a:ext cx="1008000" cy="1008000"/>
          </a:xfrm>
          <a:prstGeom prst="rect">
            <a:avLst/>
          </a:prstGeom>
        </p:spPr>
      </p:pic>
      <p:pic>
        <p:nvPicPr>
          <p:cNvPr id="10" name="Picture 9">
            <a:extLst>
              <a:ext uri="{FF2B5EF4-FFF2-40B4-BE49-F238E27FC236}">
                <a16:creationId xmlns:a16="http://schemas.microsoft.com/office/drawing/2014/main" id="{3FEFBDF8-B44B-4462-942A-BFA067809829}"/>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755540" y="2"/>
            <a:ext cx="1416716" cy="1008000"/>
          </a:xfrm>
          <a:prstGeom prst="rect">
            <a:avLst/>
          </a:prstGeom>
        </p:spPr>
      </p:pic>
    </p:spTree>
    <p:extLst>
      <p:ext uri="{BB962C8B-B14F-4D97-AF65-F5344CB8AC3E}">
        <p14:creationId xmlns:p14="http://schemas.microsoft.com/office/powerpoint/2010/main" val="3680359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0.gif"/></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2.gi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8.jp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jpg"/><Relationship Id="rId1" Type="http://schemas.openxmlformats.org/officeDocument/2006/relationships/slideLayout" Target="../slideLayouts/slideLayout6.xml"/><Relationship Id="rId5" Type="http://schemas.openxmlformats.org/officeDocument/2006/relationships/image" Target="../media/image18.jp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7000"/>
            <a:lum/>
          </a:blip>
          <a:srcRect/>
          <a:stretch>
            <a:fillRect l="-2000" t="1000" b="4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852688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4000"/>
            <a:lum/>
          </a:blip>
          <a:srcRect/>
          <a:stretch>
            <a:fillRect t="-4000" r="-3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0FB61-FFC5-44CD-A52A-2595FBCF4602}"/>
              </a:ext>
            </a:extLst>
          </p:cNvPr>
          <p:cNvSpPr>
            <a:spLocks noGrp="1"/>
          </p:cNvSpPr>
          <p:nvPr>
            <p:ph type="title"/>
          </p:nvPr>
        </p:nvSpPr>
        <p:spPr>
          <a:xfrm>
            <a:off x="329184" y="995529"/>
            <a:ext cx="11430000" cy="2067712"/>
          </a:xfrm>
        </p:spPr>
        <p:txBody>
          <a:bodyPr>
            <a:noAutofit/>
          </a:bodyPr>
          <a:lstStyle/>
          <a:p>
            <a:pPr algn="ctr">
              <a:lnSpc>
                <a:spcPct val="100000"/>
              </a:lnSpc>
            </a:pPr>
            <a:r>
              <a:rPr lang="en-US" sz="5400" b="1" dirty="0">
                <a:solidFill>
                  <a:srgbClr val="00B050"/>
                </a:solidFill>
                <a:latin typeface="Segoe Script" panose="030B0504020000000003" pitchFamily="66" charset="0"/>
              </a:rPr>
              <a:t>Training on Motor Insurance </a:t>
            </a:r>
          </a:p>
        </p:txBody>
      </p:sp>
      <p:pic>
        <p:nvPicPr>
          <p:cNvPr id="6" name="Picture 5">
            <a:extLst>
              <a:ext uri="{FF2B5EF4-FFF2-40B4-BE49-F238E27FC236}">
                <a16:creationId xmlns:a16="http://schemas.microsoft.com/office/drawing/2014/main" id="{75BE8B16-044F-42A4-AF11-0DA9FFE8A7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0" y="5802086"/>
            <a:ext cx="2008041" cy="966949"/>
          </a:xfrm>
          <a:prstGeom prst="rect">
            <a:avLst/>
          </a:prstGeom>
        </p:spPr>
      </p:pic>
      <p:pic>
        <p:nvPicPr>
          <p:cNvPr id="8" name="Picture 7">
            <a:extLst>
              <a:ext uri="{FF2B5EF4-FFF2-40B4-BE49-F238E27FC236}">
                <a16:creationId xmlns:a16="http://schemas.microsoft.com/office/drawing/2014/main" id="{1358D73E-D136-43DB-98BE-F0D7AFD740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65152" y="4236281"/>
            <a:ext cx="2107549" cy="1315434"/>
          </a:xfrm>
          <a:prstGeom prst="rect">
            <a:avLst/>
          </a:prstGeom>
        </p:spPr>
      </p:pic>
      <p:pic>
        <p:nvPicPr>
          <p:cNvPr id="7" name="Picture 6">
            <a:extLst>
              <a:ext uri="{FF2B5EF4-FFF2-40B4-BE49-F238E27FC236}">
                <a16:creationId xmlns:a16="http://schemas.microsoft.com/office/drawing/2014/main" id="{0DD29E77-1EEE-4B28-8CE8-5BB91C6DB1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8106" y="5169858"/>
            <a:ext cx="1358106" cy="763714"/>
          </a:xfrm>
          <a:prstGeom prst="rect">
            <a:avLst/>
          </a:prstGeom>
        </p:spPr>
      </p:pic>
    </p:spTree>
    <p:extLst>
      <p:ext uri="{BB962C8B-B14F-4D97-AF65-F5344CB8AC3E}">
        <p14:creationId xmlns:p14="http://schemas.microsoft.com/office/powerpoint/2010/main" val="114783588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ccel="50000" decel="50000" fill="hold" nodeType="withEffect">
                                  <p:stCondLst>
                                    <p:cond delay="0"/>
                                  </p:stCondLst>
                                  <p:endCondLst>
                                    <p:cond evt="onNext" delay="0">
                                      <p:tgtEl>
                                        <p:sldTgt/>
                                      </p:tgtEl>
                                    </p:cond>
                                  </p:endCondLst>
                                  <p:childTnLst>
                                    <p:animMotion origin="layout" path="M -1.66667E-6 0.00208 L -1.23893 -0.00301 " pathEditMode="relative" rAng="0" ptsTypes="AA">
                                      <p:cBhvr>
                                        <p:cTn id="6" dur="4750" fill="hold"/>
                                        <p:tgtEl>
                                          <p:spTgt spid="6"/>
                                        </p:tgtEl>
                                        <p:attrNameLst>
                                          <p:attrName>ppt_x</p:attrName>
                                          <p:attrName>ppt_y</p:attrName>
                                        </p:attrNameLst>
                                      </p:cBhvr>
                                      <p:rCtr x="-61953" y="-255"/>
                                    </p:animMotion>
                                  </p:childTnLst>
                                </p:cTn>
                              </p:par>
                              <p:par>
                                <p:cTn id="7" presetID="42" presetClass="path" presetSubtype="0" repeatCount="indefinite" accel="50000" decel="50000" fill="hold" nodeType="withEffect">
                                  <p:stCondLst>
                                    <p:cond delay="0"/>
                                  </p:stCondLst>
                                  <p:endCondLst>
                                    <p:cond evt="onNext" delay="0">
                                      <p:tgtEl>
                                        <p:sldTgt/>
                                      </p:tgtEl>
                                    </p:cond>
                                  </p:endCondLst>
                                  <p:childTnLst>
                                    <p:animMotion origin="layout" path="M 2.08333E-6 2.59259E-6 L -1.17748 -0.02639 " pathEditMode="relative" rAng="0" ptsTypes="AA">
                                      <p:cBhvr>
                                        <p:cTn id="8" dur="6500" fill="hold"/>
                                        <p:tgtEl>
                                          <p:spTgt spid="8"/>
                                        </p:tgtEl>
                                        <p:attrNameLst>
                                          <p:attrName>ppt_x</p:attrName>
                                          <p:attrName>ppt_y</p:attrName>
                                        </p:attrNameLst>
                                      </p:cBhvr>
                                      <p:rCtr x="-58880" y="-1319"/>
                                    </p:animMotion>
                                  </p:childTnLst>
                                </p:cTn>
                              </p:par>
                              <p:par>
                                <p:cTn id="9" presetID="42" presetClass="path" presetSubtype="0" accel="50000" decel="50000" fill="hold" nodeType="withEffect">
                                  <p:stCondLst>
                                    <p:cond delay="1500"/>
                                  </p:stCondLst>
                                  <p:childTnLst>
                                    <p:animMotion origin="layout" path="M -1.04167E-6 -7.40741E-7 L 1.12279 0.02616 " pathEditMode="relative" rAng="0" ptsTypes="AA">
                                      <p:cBhvr>
                                        <p:cTn id="10" dur="6000" fill="hold"/>
                                        <p:tgtEl>
                                          <p:spTgt spid="7"/>
                                        </p:tgtEl>
                                        <p:attrNameLst>
                                          <p:attrName>ppt_x</p:attrName>
                                          <p:attrName>ppt_y</p:attrName>
                                        </p:attrNameLst>
                                      </p:cBhvr>
                                      <p:rCtr x="56133" y="129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A2CA4E-13C1-45F3-A603-8A149B1C5C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8152" y="4500979"/>
            <a:ext cx="2593848" cy="2383654"/>
          </a:xfrm>
          <a:prstGeom prst="rect">
            <a:avLst/>
          </a:prstGeom>
        </p:spPr>
      </p:pic>
      <p:pic>
        <p:nvPicPr>
          <p:cNvPr id="7" name="Picture 6">
            <a:extLst>
              <a:ext uri="{FF2B5EF4-FFF2-40B4-BE49-F238E27FC236}">
                <a16:creationId xmlns:a16="http://schemas.microsoft.com/office/drawing/2014/main" id="{78708142-82A0-4E6A-817D-E70BE783DC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500979"/>
            <a:ext cx="3626528" cy="2383654"/>
          </a:xfrm>
          <a:prstGeom prst="rect">
            <a:avLst/>
          </a:prstGeom>
        </p:spPr>
      </p:pic>
      <p:sp>
        <p:nvSpPr>
          <p:cNvPr id="3" name="TextBox 2">
            <a:extLst>
              <a:ext uri="{FF2B5EF4-FFF2-40B4-BE49-F238E27FC236}">
                <a16:creationId xmlns:a16="http://schemas.microsoft.com/office/drawing/2014/main" id="{0A9FD06E-D151-49CD-B269-7DD58BE60631}"/>
              </a:ext>
            </a:extLst>
          </p:cNvPr>
          <p:cNvSpPr txBox="1"/>
          <p:nvPr/>
        </p:nvSpPr>
        <p:spPr>
          <a:xfrm>
            <a:off x="1899821" y="319596"/>
            <a:ext cx="8034292" cy="584775"/>
          </a:xfrm>
          <a:prstGeom prst="rect">
            <a:avLst/>
          </a:prstGeom>
          <a:noFill/>
        </p:spPr>
        <p:txBody>
          <a:bodyPr wrap="square" rtlCol="0">
            <a:spAutoFit/>
          </a:bodyPr>
          <a:lstStyle/>
          <a:p>
            <a:pPr algn="ctr"/>
            <a:r>
              <a:rPr lang="en-US" sz="3200" b="1" dirty="0"/>
              <a:t>Motor Insurance </a:t>
            </a:r>
          </a:p>
        </p:txBody>
      </p:sp>
      <p:sp>
        <p:nvSpPr>
          <p:cNvPr id="8" name="TextBox 7">
            <a:extLst>
              <a:ext uri="{FF2B5EF4-FFF2-40B4-BE49-F238E27FC236}">
                <a16:creationId xmlns:a16="http://schemas.microsoft.com/office/drawing/2014/main" id="{F24D0623-3436-408F-91D9-F2A1A1838011}"/>
              </a:ext>
            </a:extLst>
          </p:cNvPr>
          <p:cNvSpPr txBox="1"/>
          <p:nvPr/>
        </p:nvSpPr>
        <p:spPr>
          <a:xfrm>
            <a:off x="1899821" y="941033"/>
            <a:ext cx="9783193" cy="4191981"/>
          </a:xfrm>
          <a:prstGeom prst="rect">
            <a:avLst/>
          </a:prstGeom>
          <a:noFill/>
        </p:spPr>
        <p:txBody>
          <a:bodyPr wrap="square" rtlCol="0">
            <a:spAutoFit/>
          </a:bodyPr>
          <a:lstStyle/>
          <a:p>
            <a:pPr marL="285750" indent="285750">
              <a:lnSpc>
                <a:spcPct val="150000"/>
              </a:lnSpc>
              <a:buBlip>
                <a:blip r:embed="rId5"/>
              </a:buBlip>
            </a:pPr>
            <a:r>
              <a:rPr lang="en-US" sz="2000" b="1" dirty="0">
                <a:latin typeface="Times New Roman" panose="02020603050405020304" pitchFamily="18" charset="0"/>
                <a:cs typeface="Times New Roman" panose="02020603050405020304" pitchFamily="18" charset="0"/>
              </a:rPr>
              <a:t>Motor insurance is the insurance for cars, buses, trucks, motorcycles &amp; others vehicles.</a:t>
            </a:r>
          </a:p>
          <a:p>
            <a:pPr marL="285750" indent="285750">
              <a:lnSpc>
                <a:spcPct val="150000"/>
              </a:lnSpc>
              <a:buBlip>
                <a:blip r:embed="rId5"/>
              </a:buBlip>
            </a:pPr>
            <a:r>
              <a:rPr lang="en-US" sz="2000" b="1" dirty="0">
                <a:latin typeface="Times New Roman" panose="02020603050405020304" pitchFamily="18" charset="0"/>
                <a:cs typeface="Times New Roman" panose="02020603050405020304" pitchFamily="18" charset="0"/>
              </a:rPr>
              <a:t>It’s provides financial protection against physical damage of the vehicles as well as any others party property damages, injuries / death that can also from accident by the insured vehicle.</a:t>
            </a:r>
          </a:p>
          <a:p>
            <a:pPr marL="285750" indent="285750">
              <a:lnSpc>
                <a:spcPct val="150000"/>
              </a:lnSpc>
              <a:buBlip>
                <a:blip r:embed="rId5"/>
              </a:buBlip>
            </a:pPr>
            <a:r>
              <a:rPr lang="en-US" sz="2000" b="1" dirty="0">
                <a:latin typeface="Times New Roman" panose="02020603050405020304" pitchFamily="18" charset="0"/>
                <a:cs typeface="Times New Roman" panose="02020603050405020304" pitchFamily="18" charset="0"/>
              </a:rPr>
              <a:t>Motor insurance also covers financial protection against theft of the vehicles and natural disaster. </a:t>
            </a:r>
            <a:br>
              <a:rPr lang="en-US" sz="20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5850215"/>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05A57-1507-4514-ABC3-989AE37FE1F2}"/>
              </a:ext>
            </a:extLst>
          </p:cNvPr>
          <p:cNvSpPr>
            <a:spLocks noGrp="1"/>
          </p:cNvSpPr>
          <p:nvPr>
            <p:ph type="title"/>
          </p:nvPr>
        </p:nvSpPr>
        <p:spPr/>
        <p:txBody>
          <a:bodyPr/>
          <a:lstStyle/>
          <a:p>
            <a:pPr algn="ctr"/>
            <a:r>
              <a:rPr lang="en-US" b="1" dirty="0"/>
              <a:t>Why Needs Motor Insurance?! 	</a:t>
            </a:r>
          </a:p>
        </p:txBody>
      </p:sp>
      <p:sp>
        <p:nvSpPr>
          <p:cNvPr id="3" name="Content Placeholder 2">
            <a:extLst>
              <a:ext uri="{FF2B5EF4-FFF2-40B4-BE49-F238E27FC236}">
                <a16:creationId xmlns:a16="http://schemas.microsoft.com/office/drawing/2014/main" id="{4E8334B1-AC27-4632-80F3-6DD805DF1B3B}"/>
              </a:ext>
            </a:extLst>
          </p:cNvPr>
          <p:cNvSpPr>
            <a:spLocks noGrp="1"/>
          </p:cNvSpPr>
          <p:nvPr>
            <p:ph idx="1"/>
          </p:nvPr>
        </p:nvSpPr>
        <p:spPr>
          <a:xfrm>
            <a:off x="838200" y="1799248"/>
            <a:ext cx="10515600" cy="4351338"/>
          </a:xfrm>
        </p:spPr>
        <p:txBody>
          <a:bodyPr/>
          <a:lstStyle/>
          <a:p>
            <a:r>
              <a:rPr lang="en-US" dirty="0"/>
              <a:t>To avoid financial loss due to accident</a:t>
            </a:r>
          </a:p>
          <a:p>
            <a:r>
              <a:rPr lang="en-US" dirty="0"/>
              <a:t>To get peace of mind against Risk (Like as Theft) </a:t>
            </a:r>
          </a:p>
          <a:p>
            <a:r>
              <a:rPr lang="en-US" dirty="0"/>
              <a:t>Covers any others Party Property Damages, Injuries/Death</a:t>
            </a:r>
          </a:p>
          <a:p>
            <a:r>
              <a:rPr lang="en-US" dirty="0"/>
              <a:t>Legal Liability</a:t>
            </a:r>
          </a:p>
          <a:p>
            <a:r>
              <a:rPr lang="en-US" dirty="0"/>
              <a:t>To avoid burden of loss</a:t>
            </a:r>
          </a:p>
          <a:p>
            <a:r>
              <a:rPr lang="en-US" dirty="0"/>
              <a:t>To get financial security</a:t>
            </a:r>
          </a:p>
        </p:txBody>
      </p:sp>
      <p:pic>
        <p:nvPicPr>
          <p:cNvPr id="5" name="Picture 4">
            <a:extLst>
              <a:ext uri="{FF2B5EF4-FFF2-40B4-BE49-F238E27FC236}">
                <a16:creationId xmlns:a16="http://schemas.microsoft.com/office/drawing/2014/main" id="{127E2386-5E84-460B-AFB2-04027BFAE1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2047" y="4783012"/>
            <a:ext cx="4139953" cy="2055698"/>
          </a:xfrm>
          <a:prstGeom prst="rect">
            <a:avLst/>
          </a:prstGeom>
        </p:spPr>
      </p:pic>
      <p:pic>
        <p:nvPicPr>
          <p:cNvPr id="7" name="Picture 6">
            <a:extLst>
              <a:ext uri="{FF2B5EF4-FFF2-40B4-BE49-F238E27FC236}">
                <a16:creationId xmlns:a16="http://schemas.microsoft.com/office/drawing/2014/main" id="{6D47088A-3197-4B1A-8A88-926B3FEF0C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12094" y="4783014"/>
            <a:ext cx="4139953" cy="2055696"/>
          </a:xfrm>
          <a:prstGeom prst="rect">
            <a:avLst/>
          </a:prstGeom>
        </p:spPr>
      </p:pic>
    </p:spTree>
    <p:extLst>
      <p:ext uri="{BB962C8B-B14F-4D97-AF65-F5344CB8AC3E}">
        <p14:creationId xmlns:p14="http://schemas.microsoft.com/office/powerpoint/2010/main" val="42484429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4ED01-23BA-44F2-9FBC-3554DD30BD24}"/>
              </a:ext>
            </a:extLst>
          </p:cNvPr>
          <p:cNvSpPr>
            <a:spLocks noGrp="1"/>
          </p:cNvSpPr>
          <p:nvPr>
            <p:ph type="title"/>
          </p:nvPr>
        </p:nvSpPr>
        <p:spPr/>
        <p:txBody>
          <a:bodyPr>
            <a:normAutofit/>
          </a:bodyPr>
          <a:lstStyle/>
          <a:p>
            <a:pPr algn="ctr"/>
            <a:r>
              <a:rPr lang="en-US" b="1" dirty="0"/>
              <a:t>Document Required for Comprehensive </a:t>
            </a:r>
            <a:br>
              <a:rPr lang="en-US" b="1" dirty="0"/>
            </a:br>
            <a:r>
              <a:rPr lang="en-US" b="1" dirty="0"/>
              <a:t>Motor Insurance</a:t>
            </a:r>
          </a:p>
        </p:txBody>
      </p:sp>
      <p:sp>
        <p:nvSpPr>
          <p:cNvPr id="3" name="Content Placeholder 2">
            <a:extLst>
              <a:ext uri="{FF2B5EF4-FFF2-40B4-BE49-F238E27FC236}">
                <a16:creationId xmlns:a16="http://schemas.microsoft.com/office/drawing/2014/main" id="{82CF6D51-FFC1-4F25-8495-FD77F0E5238A}"/>
              </a:ext>
            </a:extLst>
          </p:cNvPr>
          <p:cNvSpPr>
            <a:spLocks noGrp="1"/>
          </p:cNvSpPr>
          <p:nvPr>
            <p:ph idx="1"/>
          </p:nvPr>
        </p:nvSpPr>
        <p:spPr/>
        <p:txBody>
          <a:bodyPr>
            <a:normAutofit/>
          </a:bodyPr>
          <a:lstStyle/>
          <a:p>
            <a:pPr>
              <a:buBlip>
                <a:blip r:embed="rId3"/>
              </a:buBlip>
            </a:pPr>
            <a:r>
              <a:rPr lang="en-US" sz="2000" b="1" dirty="0"/>
              <a:t>Motor Insurance Proposal Form</a:t>
            </a:r>
          </a:p>
          <a:p>
            <a:pPr lvl="0">
              <a:buBlip>
                <a:blip r:embed="rId3"/>
              </a:buBlip>
            </a:pPr>
            <a:r>
              <a:rPr lang="en-US" sz="2000" b="1" dirty="0"/>
              <a:t>Sum Insured value (Vehicle Purchase Invoice)</a:t>
            </a:r>
          </a:p>
          <a:p>
            <a:pPr lvl="0">
              <a:buBlip>
                <a:blip r:embed="rId3"/>
              </a:buBlip>
            </a:pPr>
            <a:r>
              <a:rPr lang="en-US" sz="2000" b="1" dirty="0"/>
              <a:t>Present Market value of Vehicle (If not available Vehicle purchase Invoice)</a:t>
            </a:r>
          </a:p>
          <a:p>
            <a:pPr lvl="0">
              <a:buBlip>
                <a:blip r:embed="rId3"/>
              </a:buBlip>
            </a:pPr>
            <a:r>
              <a:rPr lang="en-US" sz="2000" b="1" dirty="0"/>
              <a:t>Vehicle Registration Copy</a:t>
            </a:r>
          </a:p>
          <a:p>
            <a:pPr lvl="0">
              <a:buBlip>
                <a:blip r:embed="rId3"/>
              </a:buBlip>
            </a:pPr>
            <a:r>
              <a:rPr lang="en-US" sz="2000" b="1" dirty="0"/>
              <a:t>Vehicle Owner NID</a:t>
            </a:r>
            <a:endParaRPr lang="en-US" sz="2000" dirty="0"/>
          </a:p>
          <a:p>
            <a:pPr lvl="0">
              <a:buBlip>
                <a:blip r:embed="rId3"/>
              </a:buBlip>
            </a:pPr>
            <a:r>
              <a:rPr lang="en-US" sz="2000" b="1" dirty="0"/>
              <a:t>CC (cubic centimeters) of car</a:t>
            </a:r>
            <a:endParaRPr lang="en-US" sz="2000" dirty="0"/>
          </a:p>
          <a:p>
            <a:pPr lvl="0">
              <a:buBlip>
                <a:blip r:embed="rId3"/>
              </a:buBlip>
            </a:pPr>
            <a:r>
              <a:rPr lang="en-US" sz="2000" b="1" dirty="0"/>
              <a:t>Seating Capacity </a:t>
            </a:r>
            <a:endParaRPr lang="en-US" sz="2000" dirty="0"/>
          </a:p>
          <a:p>
            <a:pPr lvl="0">
              <a:buBlip>
                <a:blip r:embed="rId3"/>
              </a:buBlip>
            </a:pPr>
            <a:r>
              <a:rPr lang="en-US" sz="2000" b="1" dirty="0"/>
              <a:t>Vehicle Manufacturing Company Name &amp; Year of Manufacturing</a:t>
            </a:r>
          </a:p>
          <a:p>
            <a:pPr>
              <a:buBlip>
                <a:blip r:embed="rId3"/>
              </a:buBlip>
            </a:pPr>
            <a:r>
              <a:rPr lang="en-US" sz="2000" b="1" dirty="0"/>
              <a:t>KYC form</a:t>
            </a:r>
            <a:endParaRPr lang="en-US" sz="2000" dirty="0"/>
          </a:p>
        </p:txBody>
      </p:sp>
      <p:pic>
        <p:nvPicPr>
          <p:cNvPr id="6" name="Picture 5">
            <a:extLst>
              <a:ext uri="{FF2B5EF4-FFF2-40B4-BE49-F238E27FC236}">
                <a16:creationId xmlns:a16="http://schemas.microsoft.com/office/drawing/2014/main" id="{59AD00C7-A051-42EB-B6D0-DEFA6F3941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91717" y="4524478"/>
            <a:ext cx="3500283" cy="2333522"/>
          </a:xfrm>
          <a:prstGeom prst="rect">
            <a:avLst/>
          </a:prstGeom>
        </p:spPr>
      </p:pic>
    </p:spTree>
    <p:extLst>
      <p:ext uri="{BB962C8B-B14F-4D97-AF65-F5344CB8AC3E}">
        <p14:creationId xmlns:p14="http://schemas.microsoft.com/office/powerpoint/2010/main" val="159547890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73CE-6C16-4AC1-BA56-2864D1962B32}"/>
              </a:ext>
            </a:extLst>
          </p:cNvPr>
          <p:cNvSpPr>
            <a:spLocks noGrp="1"/>
          </p:cNvSpPr>
          <p:nvPr>
            <p:ph type="title"/>
          </p:nvPr>
        </p:nvSpPr>
        <p:spPr>
          <a:xfrm>
            <a:off x="0" y="928194"/>
            <a:ext cx="9696450" cy="864093"/>
          </a:xfrm>
        </p:spPr>
        <p:txBody>
          <a:bodyPr>
            <a:normAutofit/>
          </a:bodyPr>
          <a:lstStyle/>
          <a:p>
            <a:pPr algn="ctr"/>
            <a:r>
              <a:rPr lang="en-US" dirty="0"/>
              <a:t>Major Types of Motor Insurance</a:t>
            </a:r>
          </a:p>
        </p:txBody>
      </p:sp>
      <p:sp>
        <p:nvSpPr>
          <p:cNvPr id="3" name="Content Placeholder 2">
            <a:extLst>
              <a:ext uri="{FF2B5EF4-FFF2-40B4-BE49-F238E27FC236}">
                <a16:creationId xmlns:a16="http://schemas.microsoft.com/office/drawing/2014/main" id="{49FD5354-3549-4B30-BFEB-721045052BAD}"/>
              </a:ext>
            </a:extLst>
          </p:cNvPr>
          <p:cNvSpPr>
            <a:spLocks noGrp="1"/>
          </p:cNvSpPr>
          <p:nvPr>
            <p:ph idx="1"/>
          </p:nvPr>
        </p:nvSpPr>
        <p:spPr>
          <a:xfrm>
            <a:off x="868680" y="3002863"/>
            <a:ext cx="8065008" cy="1779449"/>
          </a:xfrm>
        </p:spPr>
        <p:txBody>
          <a:bodyPr>
            <a:normAutofit/>
          </a:bodyPr>
          <a:lstStyle/>
          <a:p>
            <a:pPr algn="ctr"/>
            <a:r>
              <a:rPr lang="en-US" sz="2400" b="1" dirty="0"/>
              <a:t>Private Vehicle (Car Insurance)</a:t>
            </a:r>
          </a:p>
          <a:p>
            <a:pPr algn="ctr"/>
            <a:r>
              <a:rPr lang="en-US" sz="2400" b="1" dirty="0"/>
              <a:t>Two Wheeler (Motor Bike) </a:t>
            </a:r>
          </a:p>
          <a:p>
            <a:pPr algn="ctr"/>
            <a:r>
              <a:rPr lang="en-US" sz="2400" b="1" dirty="0"/>
              <a:t>Commercial Vehicle </a:t>
            </a:r>
          </a:p>
        </p:txBody>
      </p:sp>
      <p:pic>
        <p:nvPicPr>
          <p:cNvPr id="5" name="Picture 4">
            <a:extLst>
              <a:ext uri="{FF2B5EF4-FFF2-40B4-BE49-F238E27FC236}">
                <a16:creationId xmlns:a16="http://schemas.microsoft.com/office/drawing/2014/main" id="{38EEEFCD-E132-4A56-8688-5EDEC10821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596" y="1582054"/>
            <a:ext cx="4252404" cy="2160774"/>
          </a:xfrm>
          <a:prstGeom prst="rect">
            <a:avLst/>
          </a:prstGeom>
        </p:spPr>
      </p:pic>
      <p:pic>
        <p:nvPicPr>
          <p:cNvPr id="7" name="Picture 6">
            <a:extLst>
              <a:ext uri="{FF2B5EF4-FFF2-40B4-BE49-F238E27FC236}">
                <a16:creationId xmlns:a16="http://schemas.microsoft.com/office/drawing/2014/main" id="{82963193-75DE-4E34-B83C-6D22E1D6C1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00856" y="3638551"/>
            <a:ext cx="1807029" cy="870154"/>
          </a:xfrm>
          <a:prstGeom prst="rect">
            <a:avLst/>
          </a:prstGeom>
        </p:spPr>
      </p:pic>
      <p:pic>
        <p:nvPicPr>
          <p:cNvPr id="9" name="Picture 8">
            <a:extLst>
              <a:ext uri="{FF2B5EF4-FFF2-40B4-BE49-F238E27FC236}">
                <a16:creationId xmlns:a16="http://schemas.microsoft.com/office/drawing/2014/main" id="{47341F7D-9071-4F8D-B00E-F46F7C4F02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92000" y="4508705"/>
            <a:ext cx="2156601" cy="1346050"/>
          </a:xfrm>
          <a:prstGeom prst="rect">
            <a:avLst/>
          </a:prstGeom>
        </p:spPr>
      </p:pic>
      <p:pic>
        <p:nvPicPr>
          <p:cNvPr id="15" name="Picture 14">
            <a:extLst>
              <a:ext uri="{FF2B5EF4-FFF2-40B4-BE49-F238E27FC236}">
                <a16:creationId xmlns:a16="http://schemas.microsoft.com/office/drawing/2014/main" id="{4F4B3A0E-0AC4-44CC-8D2D-14F00FD3A6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46785" y="5865641"/>
            <a:ext cx="1784062" cy="1003245"/>
          </a:xfrm>
          <a:prstGeom prst="rect">
            <a:avLst/>
          </a:prstGeom>
        </p:spPr>
      </p:pic>
    </p:spTree>
    <p:extLst>
      <p:ext uri="{BB962C8B-B14F-4D97-AF65-F5344CB8AC3E}">
        <p14:creationId xmlns:p14="http://schemas.microsoft.com/office/powerpoint/2010/main" val="231498917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2.91667E-6 -1.48148E-6 L -1.15716 0.00232 " pathEditMode="relative" rAng="0" ptsTypes="AA">
                                      <p:cBhvr>
                                        <p:cTn id="6" dur="10500" fill="hold"/>
                                        <p:tgtEl>
                                          <p:spTgt spid="7"/>
                                        </p:tgtEl>
                                        <p:attrNameLst>
                                          <p:attrName>ppt_x</p:attrName>
                                          <p:attrName>ppt_y</p:attrName>
                                        </p:attrNameLst>
                                      </p:cBhvr>
                                      <p:rCtr x="-57865" y="116"/>
                                    </p:animMotion>
                                  </p:childTnLst>
                                </p:cTn>
                              </p:par>
                              <p:par>
                                <p:cTn id="7" presetID="42" presetClass="path" presetSubtype="0" accel="50000" decel="50000" fill="hold" nodeType="withEffect">
                                  <p:stCondLst>
                                    <p:cond delay="0"/>
                                  </p:stCondLst>
                                  <p:childTnLst>
                                    <p:animMotion origin="layout" path="M -1.45833E-6 4.44444E-6 L -1.17305 -0.0169 " pathEditMode="relative" rAng="0" ptsTypes="AA">
                                      <p:cBhvr>
                                        <p:cTn id="8" dur="9000" fill="hold"/>
                                        <p:tgtEl>
                                          <p:spTgt spid="9"/>
                                        </p:tgtEl>
                                        <p:attrNameLst>
                                          <p:attrName>ppt_x</p:attrName>
                                          <p:attrName>ppt_y</p:attrName>
                                        </p:attrNameLst>
                                      </p:cBhvr>
                                      <p:rCtr x="-58659" y="-856"/>
                                    </p:animMotion>
                                  </p:childTnLst>
                                </p:cTn>
                              </p:par>
                              <p:par>
                                <p:cTn id="9" presetID="42" presetClass="path" presetSubtype="0" accel="50000" decel="50000" fill="hold" nodeType="withEffect">
                                  <p:stCondLst>
                                    <p:cond delay="0"/>
                                  </p:stCondLst>
                                  <p:childTnLst>
                                    <p:animMotion origin="layout" path="M -4.79167E-6 -2.22222E-6 L 1.19545 0.00648 " pathEditMode="relative" rAng="0" ptsTypes="AA">
                                      <p:cBhvr>
                                        <p:cTn id="10" dur="8500" fill="hold"/>
                                        <p:tgtEl>
                                          <p:spTgt spid="15"/>
                                        </p:tgtEl>
                                        <p:attrNameLst>
                                          <p:attrName>ppt_x</p:attrName>
                                          <p:attrName>ppt_y</p:attrName>
                                        </p:attrNameLst>
                                      </p:cBhvr>
                                      <p:rCtr x="59766" y="32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9BDA1-04D6-43F3-895E-7391A8DB71CF}"/>
              </a:ext>
            </a:extLst>
          </p:cNvPr>
          <p:cNvSpPr>
            <a:spLocks noGrp="1"/>
          </p:cNvSpPr>
          <p:nvPr>
            <p:ph type="title"/>
          </p:nvPr>
        </p:nvSpPr>
        <p:spPr/>
        <p:txBody>
          <a:bodyPr/>
          <a:lstStyle/>
          <a:p>
            <a:pPr algn="ctr"/>
            <a:r>
              <a:rPr lang="en-US" dirty="0"/>
              <a:t>Comprehensive Motor Insurance Policies</a:t>
            </a:r>
          </a:p>
        </p:txBody>
      </p:sp>
      <p:sp>
        <p:nvSpPr>
          <p:cNvPr id="3" name="Content Placeholder 2">
            <a:extLst>
              <a:ext uri="{FF2B5EF4-FFF2-40B4-BE49-F238E27FC236}">
                <a16:creationId xmlns:a16="http://schemas.microsoft.com/office/drawing/2014/main" id="{AECB0C57-2465-4BDF-A73F-24A1BF84C560}"/>
              </a:ext>
            </a:extLst>
          </p:cNvPr>
          <p:cNvSpPr>
            <a:spLocks noGrp="1"/>
          </p:cNvSpPr>
          <p:nvPr>
            <p:ph idx="1"/>
          </p:nvPr>
        </p:nvSpPr>
        <p:spPr>
          <a:xfrm>
            <a:off x="1899820" y="1825625"/>
            <a:ext cx="6916773" cy="1325563"/>
          </a:xfrm>
        </p:spPr>
        <p:txBody>
          <a:bodyPr>
            <a:normAutofit/>
          </a:bodyPr>
          <a:lstStyle/>
          <a:p>
            <a:pPr algn="ctr"/>
            <a:r>
              <a:rPr lang="en-US" sz="2800" b="1" dirty="0"/>
              <a:t>Own Damage</a:t>
            </a:r>
          </a:p>
          <a:p>
            <a:pPr algn="ctr"/>
            <a:r>
              <a:rPr lang="en-US" sz="2800" b="1" dirty="0"/>
              <a:t>Act Liabilities </a:t>
            </a:r>
          </a:p>
          <a:p>
            <a:pPr algn="ctr"/>
            <a:endParaRPr lang="en-US" sz="2800" b="1" dirty="0"/>
          </a:p>
        </p:txBody>
      </p:sp>
      <p:pic>
        <p:nvPicPr>
          <p:cNvPr id="5" name="Picture 4">
            <a:extLst>
              <a:ext uri="{FF2B5EF4-FFF2-40B4-BE49-F238E27FC236}">
                <a16:creationId xmlns:a16="http://schemas.microsoft.com/office/drawing/2014/main" id="{174F0340-E178-4689-BD04-89A6ED039D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06812"/>
            <a:ext cx="7978394" cy="3151187"/>
          </a:xfrm>
          <a:prstGeom prst="rect">
            <a:avLst/>
          </a:prstGeom>
        </p:spPr>
      </p:pic>
      <p:pic>
        <p:nvPicPr>
          <p:cNvPr id="7" name="Picture 6">
            <a:extLst>
              <a:ext uri="{FF2B5EF4-FFF2-40B4-BE49-F238E27FC236}">
                <a16:creationId xmlns:a16="http://schemas.microsoft.com/office/drawing/2014/main" id="{5D586C6D-4D0C-4531-A318-33F05BE01F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41057" y="3706813"/>
            <a:ext cx="2550943" cy="3151188"/>
          </a:xfrm>
          <a:prstGeom prst="rect">
            <a:avLst/>
          </a:prstGeom>
        </p:spPr>
      </p:pic>
    </p:spTree>
    <p:extLst>
      <p:ext uri="{BB962C8B-B14F-4D97-AF65-F5344CB8AC3E}">
        <p14:creationId xmlns:p14="http://schemas.microsoft.com/office/powerpoint/2010/main" val="123942334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33857-27B6-48A1-8E43-226B7E914788}"/>
              </a:ext>
            </a:extLst>
          </p:cNvPr>
          <p:cNvSpPr>
            <a:spLocks noGrp="1"/>
          </p:cNvSpPr>
          <p:nvPr>
            <p:ph type="title"/>
          </p:nvPr>
        </p:nvSpPr>
        <p:spPr>
          <a:xfrm>
            <a:off x="677334" y="573468"/>
            <a:ext cx="8596668" cy="890726"/>
          </a:xfrm>
        </p:spPr>
        <p:txBody>
          <a:bodyPr/>
          <a:lstStyle/>
          <a:p>
            <a:pPr algn="ctr"/>
            <a:r>
              <a:rPr lang="en-US" b="1" dirty="0"/>
              <a:t>Act Liability Insurance</a:t>
            </a:r>
            <a:endParaRPr lang="en-US" dirty="0"/>
          </a:p>
        </p:txBody>
      </p:sp>
      <p:sp>
        <p:nvSpPr>
          <p:cNvPr id="3" name="Content Placeholder 2">
            <a:extLst>
              <a:ext uri="{FF2B5EF4-FFF2-40B4-BE49-F238E27FC236}">
                <a16:creationId xmlns:a16="http://schemas.microsoft.com/office/drawing/2014/main" id="{132E50E1-55EB-448A-A833-0246EB0F7614}"/>
              </a:ext>
            </a:extLst>
          </p:cNvPr>
          <p:cNvSpPr>
            <a:spLocks noGrp="1"/>
          </p:cNvSpPr>
          <p:nvPr>
            <p:ph idx="1"/>
          </p:nvPr>
        </p:nvSpPr>
        <p:spPr>
          <a:xfrm>
            <a:off x="677334" y="1178134"/>
            <a:ext cx="9150248" cy="2773598"/>
          </a:xfrm>
        </p:spPr>
        <p:txBody>
          <a:bodyPr>
            <a:normAutofit/>
          </a:bodyPr>
          <a:lstStyle/>
          <a:p>
            <a:pPr>
              <a:lnSpc>
                <a:spcPct val="150000"/>
              </a:lnSpc>
            </a:pPr>
            <a:r>
              <a:rPr lang="en-US" sz="2000" b="1" dirty="0">
                <a:solidFill>
                  <a:srgbClr val="0070C0"/>
                </a:solidFill>
                <a:latin typeface="Arial" panose="020B0604020202020204" pitchFamily="34" charset="0"/>
                <a:cs typeface="Arial" panose="020B0604020202020204" pitchFamily="34" charset="0"/>
              </a:rPr>
              <a:t>Another name for the Liability Only cover is "Act Only cover".</a:t>
            </a:r>
          </a:p>
          <a:p>
            <a:pPr>
              <a:lnSpc>
                <a:spcPct val="150000"/>
              </a:lnSpc>
            </a:pPr>
            <a:r>
              <a:rPr lang="en-US" sz="2000" b="1" dirty="0">
                <a:solidFill>
                  <a:srgbClr val="0070C0"/>
                </a:solidFill>
                <a:latin typeface="Arial" panose="020B0604020202020204" pitchFamily="34" charset="0"/>
                <a:cs typeface="Arial" panose="020B0604020202020204" pitchFamily="34" charset="0"/>
              </a:rPr>
              <a:t>Liability Only Policy covers any legal liability you may face that occurs out of damage or loss to a others only - including death, injury, and/or property damage in the event of an accident that involves your insured vehicle.</a:t>
            </a:r>
          </a:p>
        </p:txBody>
      </p:sp>
      <p:pic>
        <p:nvPicPr>
          <p:cNvPr id="5" name="Picture 4">
            <a:extLst>
              <a:ext uri="{FF2B5EF4-FFF2-40B4-BE49-F238E27FC236}">
                <a16:creationId xmlns:a16="http://schemas.microsoft.com/office/drawing/2014/main" id="{00613475-0C35-4435-9405-F2C0E60049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11035"/>
            <a:ext cx="5261407" cy="2773598"/>
          </a:xfrm>
          <a:prstGeom prst="rect">
            <a:avLst/>
          </a:prstGeom>
        </p:spPr>
      </p:pic>
      <p:pic>
        <p:nvPicPr>
          <p:cNvPr id="7" name="Picture 6">
            <a:extLst>
              <a:ext uri="{FF2B5EF4-FFF2-40B4-BE49-F238E27FC236}">
                <a16:creationId xmlns:a16="http://schemas.microsoft.com/office/drawing/2014/main" id="{F46FE022-8300-442B-8F24-58886F1F66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2350" y="4128619"/>
            <a:ext cx="4379651" cy="2782475"/>
          </a:xfrm>
          <a:prstGeom prst="rect">
            <a:avLst/>
          </a:prstGeom>
        </p:spPr>
      </p:pic>
      <p:pic>
        <p:nvPicPr>
          <p:cNvPr id="9" name="Picture 8">
            <a:extLst>
              <a:ext uri="{FF2B5EF4-FFF2-40B4-BE49-F238E27FC236}">
                <a16:creationId xmlns:a16="http://schemas.microsoft.com/office/drawing/2014/main" id="{E5E63F7B-DF05-4958-9E6D-231A249DD4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61407" y="4111035"/>
            <a:ext cx="2550943" cy="2746965"/>
          </a:xfrm>
          <a:prstGeom prst="rect">
            <a:avLst/>
          </a:prstGeom>
        </p:spPr>
      </p:pic>
    </p:spTree>
    <p:extLst>
      <p:ext uri="{BB962C8B-B14F-4D97-AF65-F5344CB8AC3E}">
        <p14:creationId xmlns:p14="http://schemas.microsoft.com/office/powerpoint/2010/main" val="294633214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4B0362-B8FC-4875-AFE3-2B255B07B8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193" y="5111897"/>
            <a:ext cx="2143125" cy="1746103"/>
          </a:xfrm>
          <a:prstGeom prst="rect">
            <a:avLst/>
          </a:prstGeom>
        </p:spPr>
      </p:pic>
      <p:pic>
        <p:nvPicPr>
          <p:cNvPr id="5" name="Picture 4">
            <a:extLst>
              <a:ext uri="{FF2B5EF4-FFF2-40B4-BE49-F238E27FC236}">
                <a16:creationId xmlns:a16="http://schemas.microsoft.com/office/drawing/2014/main" id="{B08274EB-9182-49B5-ABA4-E65DE8C3D5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7710" y="5111897"/>
            <a:ext cx="2420460" cy="1746103"/>
          </a:xfrm>
          <a:prstGeom prst="rect">
            <a:avLst/>
          </a:prstGeom>
        </p:spPr>
      </p:pic>
      <p:pic>
        <p:nvPicPr>
          <p:cNvPr id="8" name="Picture 7">
            <a:extLst>
              <a:ext uri="{FF2B5EF4-FFF2-40B4-BE49-F238E27FC236}">
                <a16:creationId xmlns:a16="http://schemas.microsoft.com/office/drawing/2014/main" id="{A2B60FFB-22F4-438E-A3AD-FC69FFA09E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0038" y="5111896"/>
            <a:ext cx="3571875" cy="1746103"/>
          </a:xfrm>
          <a:prstGeom prst="rect">
            <a:avLst/>
          </a:prstGeom>
        </p:spPr>
      </p:pic>
      <p:graphicFrame>
        <p:nvGraphicFramePr>
          <p:cNvPr id="2" name="Table 1">
            <a:extLst>
              <a:ext uri="{FF2B5EF4-FFF2-40B4-BE49-F238E27FC236}">
                <a16:creationId xmlns:a16="http://schemas.microsoft.com/office/drawing/2014/main" id="{2915F73E-5042-48AB-9FBA-5FAD5521128C}"/>
              </a:ext>
            </a:extLst>
          </p:cNvPr>
          <p:cNvGraphicFramePr>
            <a:graphicFrameLocks noGrp="1"/>
          </p:cNvGraphicFramePr>
          <p:nvPr>
            <p:extLst>
              <p:ext uri="{D42A27DB-BD31-4B8C-83A1-F6EECF244321}">
                <p14:modId xmlns:p14="http://schemas.microsoft.com/office/powerpoint/2010/main" val="2810665827"/>
              </p:ext>
            </p:extLst>
          </p:nvPr>
        </p:nvGraphicFramePr>
        <p:xfrm>
          <a:off x="1276038" y="1574800"/>
          <a:ext cx="8128000" cy="2700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122879881"/>
                    </a:ext>
                  </a:extLst>
                </a:gridCol>
                <a:gridCol w="4064000">
                  <a:extLst>
                    <a:ext uri="{9D8B030D-6E8A-4147-A177-3AD203B41FA5}">
                      <a16:colId xmlns:a16="http://schemas.microsoft.com/office/drawing/2014/main" val="3652060885"/>
                    </a:ext>
                  </a:extLst>
                </a:gridCol>
              </a:tblGrid>
              <a:tr h="540000">
                <a:tc gridSpan="2">
                  <a:txBody>
                    <a:bodyPr/>
                    <a:lstStyle/>
                    <a:p>
                      <a:pPr algn="ctr"/>
                      <a:r>
                        <a:rPr lang="en-US" sz="2400" b="1" u="sng" dirty="0"/>
                        <a:t>Act Liability Policy (What it Covers):</a:t>
                      </a:r>
                      <a:endParaRPr lang="en-US" sz="2400" dirty="0"/>
                    </a:p>
                  </a:txBody>
                  <a:tcPr anchor="ctr"/>
                </a:tc>
                <a:tc hMerge="1">
                  <a:txBody>
                    <a:bodyPr/>
                    <a:lstStyle/>
                    <a:p>
                      <a:endParaRPr lang="en-US" dirty="0"/>
                    </a:p>
                  </a:txBody>
                  <a:tcPr/>
                </a:tc>
                <a:extLst>
                  <a:ext uri="{0D108BD9-81ED-4DB2-BD59-A6C34878D82A}">
                    <a16:rowId xmlns:a16="http://schemas.microsoft.com/office/drawing/2014/main" val="2519479212"/>
                  </a:ext>
                </a:extLst>
              </a:tr>
              <a:tr h="540000">
                <a:tc>
                  <a:txBody>
                    <a:bodyPr/>
                    <a:lstStyle/>
                    <a:p>
                      <a:pPr algn="ctr"/>
                      <a:r>
                        <a:rPr lang="en-US" sz="1800" b="1" dirty="0">
                          <a:solidFill>
                            <a:schemeClr val="accent2">
                              <a:lumMod val="75000"/>
                            </a:schemeClr>
                          </a:solidFill>
                        </a:rPr>
                        <a:t>Death</a:t>
                      </a:r>
                      <a:endParaRPr lang="en-US" dirty="0">
                        <a:solidFill>
                          <a:schemeClr val="accent2">
                            <a:lumMod val="75000"/>
                          </a:schemeClr>
                        </a:solidFill>
                      </a:endParaRPr>
                    </a:p>
                  </a:txBody>
                  <a:tcPr anchor="ctr"/>
                </a:tc>
                <a:tc>
                  <a:txBody>
                    <a:bodyPr/>
                    <a:lstStyle/>
                    <a:p>
                      <a:pPr algn="ctr"/>
                      <a:r>
                        <a:rPr lang="en-US" sz="1800" b="1" dirty="0">
                          <a:solidFill>
                            <a:schemeClr val="accent2">
                              <a:lumMod val="75000"/>
                            </a:schemeClr>
                          </a:solidFill>
                        </a:rPr>
                        <a:t>Tk. 20,000/=</a:t>
                      </a:r>
                      <a:endParaRPr lang="en-US" dirty="0">
                        <a:solidFill>
                          <a:schemeClr val="accent2">
                            <a:lumMod val="75000"/>
                          </a:schemeClr>
                        </a:solidFill>
                      </a:endParaRPr>
                    </a:p>
                  </a:txBody>
                  <a:tcPr anchor="ctr"/>
                </a:tc>
                <a:extLst>
                  <a:ext uri="{0D108BD9-81ED-4DB2-BD59-A6C34878D82A}">
                    <a16:rowId xmlns:a16="http://schemas.microsoft.com/office/drawing/2014/main" val="2514153462"/>
                  </a:ext>
                </a:extLst>
              </a:tr>
              <a:tr h="540000">
                <a:tc>
                  <a:txBody>
                    <a:bodyPr/>
                    <a:lstStyle/>
                    <a:p>
                      <a:pPr algn="ctr"/>
                      <a:r>
                        <a:rPr lang="en-US" sz="1800" b="1" dirty="0">
                          <a:solidFill>
                            <a:schemeClr val="accent2">
                              <a:lumMod val="75000"/>
                            </a:schemeClr>
                          </a:solidFill>
                        </a:rPr>
                        <a:t>Severe Hurt </a:t>
                      </a:r>
                      <a:endParaRPr lang="en-US" dirty="0">
                        <a:solidFill>
                          <a:schemeClr val="accent2">
                            <a:lumMod val="75000"/>
                          </a:schemeClr>
                        </a:solidFill>
                      </a:endParaRPr>
                    </a:p>
                  </a:txBody>
                  <a:tcPr anchor="ctr"/>
                </a:tc>
                <a:tc>
                  <a:txBody>
                    <a:bodyPr/>
                    <a:lstStyle/>
                    <a:p>
                      <a:pPr algn="ctr"/>
                      <a:r>
                        <a:rPr lang="en-US" sz="1800" b="1" dirty="0">
                          <a:solidFill>
                            <a:schemeClr val="accent2">
                              <a:lumMod val="75000"/>
                            </a:schemeClr>
                          </a:solidFill>
                        </a:rPr>
                        <a:t>Tk. 10,000/=</a:t>
                      </a:r>
                      <a:endParaRPr lang="en-US" dirty="0">
                        <a:solidFill>
                          <a:schemeClr val="accent2">
                            <a:lumMod val="75000"/>
                          </a:schemeClr>
                        </a:solidFill>
                      </a:endParaRPr>
                    </a:p>
                  </a:txBody>
                  <a:tcPr anchor="ctr"/>
                </a:tc>
                <a:extLst>
                  <a:ext uri="{0D108BD9-81ED-4DB2-BD59-A6C34878D82A}">
                    <a16:rowId xmlns:a16="http://schemas.microsoft.com/office/drawing/2014/main" val="3511496999"/>
                  </a:ext>
                </a:extLst>
              </a:tr>
              <a:tr h="540000">
                <a:tc>
                  <a:txBody>
                    <a:bodyPr/>
                    <a:lstStyle/>
                    <a:p>
                      <a:pPr algn="ctr"/>
                      <a:r>
                        <a:rPr lang="en-US" sz="1800" b="1" dirty="0">
                          <a:solidFill>
                            <a:schemeClr val="accent2">
                              <a:lumMod val="75000"/>
                            </a:schemeClr>
                          </a:solidFill>
                        </a:rPr>
                        <a:t>Any Others Hurt</a:t>
                      </a:r>
                      <a:endParaRPr lang="en-US" dirty="0">
                        <a:solidFill>
                          <a:schemeClr val="accent2">
                            <a:lumMod val="75000"/>
                          </a:schemeClr>
                        </a:solidFill>
                      </a:endParaRPr>
                    </a:p>
                  </a:txBody>
                  <a:tcPr anchor="ctr"/>
                </a:tc>
                <a:tc>
                  <a:txBody>
                    <a:bodyPr/>
                    <a:lstStyle/>
                    <a:p>
                      <a:pPr algn="ctr"/>
                      <a:r>
                        <a:rPr lang="en-US" sz="1800" b="1" dirty="0">
                          <a:solidFill>
                            <a:schemeClr val="accent2">
                              <a:lumMod val="75000"/>
                            </a:schemeClr>
                          </a:solidFill>
                        </a:rPr>
                        <a:t>  Tk. 5,000/=</a:t>
                      </a:r>
                      <a:endParaRPr lang="en-US" dirty="0">
                        <a:solidFill>
                          <a:schemeClr val="accent2">
                            <a:lumMod val="75000"/>
                          </a:schemeClr>
                        </a:solidFill>
                      </a:endParaRPr>
                    </a:p>
                  </a:txBody>
                  <a:tcPr anchor="ctr"/>
                </a:tc>
                <a:extLst>
                  <a:ext uri="{0D108BD9-81ED-4DB2-BD59-A6C34878D82A}">
                    <a16:rowId xmlns:a16="http://schemas.microsoft.com/office/drawing/2014/main" val="3638561813"/>
                  </a:ext>
                </a:extLst>
              </a:tr>
              <a:tr h="540000">
                <a:tc>
                  <a:txBody>
                    <a:bodyPr/>
                    <a:lstStyle/>
                    <a:p>
                      <a:pPr algn="ctr"/>
                      <a:r>
                        <a:rPr lang="en-US" sz="1800" b="1" dirty="0">
                          <a:solidFill>
                            <a:schemeClr val="accent2">
                              <a:lumMod val="75000"/>
                            </a:schemeClr>
                          </a:solidFill>
                        </a:rPr>
                        <a:t>Property Damage</a:t>
                      </a:r>
                      <a:endParaRPr lang="en-US" dirty="0">
                        <a:solidFill>
                          <a:schemeClr val="accent2">
                            <a:lumMod val="75000"/>
                          </a:schemeClr>
                        </a:solidFill>
                      </a:endParaRPr>
                    </a:p>
                  </a:txBody>
                  <a:tcPr anchor="ctr"/>
                </a:tc>
                <a:tc>
                  <a:txBody>
                    <a:bodyPr/>
                    <a:lstStyle/>
                    <a:p>
                      <a:pPr algn="ctr"/>
                      <a:r>
                        <a:rPr lang="en-US" sz="1800" b="1" dirty="0">
                          <a:solidFill>
                            <a:schemeClr val="accent2">
                              <a:lumMod val="75000"/>
                            </a:schemeClr>
                          </a:solidFill>
                        </a:rPr>
                        <a:t>Tk. 50,000/=</a:t>
                      </a:r>
                      <a:endParaRPr lang="en-US" dirty="0">
                        <a:solidFill>
                          <a:schemeClr val="accent2">
                            <a:lumMod val="75000"/>
                          </a:schemeClr>
                        </a:solidFill>
                      </a:endParaRPr>
                    </a:p>
                  </a:txBody>
                  <a:tcPr anchor="ctr"/>
                </a:tc>
                <a:extLst>
                  <a:ext uri="{0D108BD9-81ED-4DB2-BD59-A6C34878D82A}">
                    <a16:rowId xmlns:a16="http://schemas.microsoft.com/office/drawing/2014/main" val="1470651765"/>
                  </a:ext>
                </a:extLst>
              </a:tr>
            </a:tbl>
          </a:graphicData>
        </a:graphic>
      </p:graphicFrame>
    </p:spTree>
    <p:extLst>
      <p:ext uri="{BB962C8B-B14F-4D97-AF65-F5344CB8AC3E}">
        <p14:creationId xmlns:p14="http://schemas.microsoft.com/office/powerpoint/2010/main" val="134620078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4F722-6CB9-4DC6-85B9-5B0C6C11E78B}"/>
              </a:ext>
            </a:extLst>
          </p:cNvPr>
          <p:cNvSpPr>
            <a:spLocks noGrp="1"/>
          </p:cNvSpPr>
          <p:nvPr>
            <p:ph type="title"/>
          </p:nvPr>
        </p:nvSpPr>
        <p:spPr>
          <a:xfrm>
            <a:off x="115410" y="476435"/>
            <a:ext cx="10129421" cy="1320800"/>
          </a:xfrm>
        </p:spPr>
        <p:txBody>
          <a:bodyPr anchor="ctr">
            <a:normAutofit/>
          </a:bodyPr>
          <a:lstStyle/>
          <a:p>
            <a:pPr algn="ctr"/>
            <a:r>
              <a:rPr lang="en-US" sz="2800" b="1" dirty="0"/>
              <a:t>Comprehensive (Own Damage) Motor Insurance</a:t>
            </a:r>
          </a:p>
        </p:txBody>
      </p:sp>
      <p:sp>
        <p:nvSpPr>
          <p:cNvPr id="3" name="Content Placeholder 2">
            <a:extLst>
              <a:ext uri="{FF2B5EF4-FFF2-40B4-BE49-F238E27FC236}">
                <a16:creationId xmlns:a16="http://schemas.microsoft.com/office/drawing/2014/main" id="{EEB4D383-C6A5-4898-9D4D-21898B675B8A}"/>
              </a:ext>
            </a:extLst>
          </p:cNvPr>
          <p:cNvSpPr>
            <a:spLocks noGrp="1"/>
          </p:cNvSpPr>
          <p:nvPr>
            <p:ph idx="1"/>
          </p:nvPr>
        </p:nvSpPr>
        <p:spPr>
          <a:xfrm>
            <a:off x="783866" y="1797235"/>
            <a:ext cx="8596668" cy="1940894"/>
          </a:xfrm>
        </p:spPr>
        <p:txBody>
          <a:bodyPr>
            <a:normAutofit fontScale="55000" lnSpcReduction="20000"/>
          </a:bodyPr>
          <a:lstStyle/>
          <a:p>
            <a:pPr algn="just">
              <a:lnSpc>
                <a:spcPct val="150000"/>
              </a:lnSpc>
            </a:pPr>
            <a:r>
              <a:rPr lang="en-US" b="1" dirty="0">
                <a:solidFill>
                  <a:srgbClr val="C00000"/>
                </a:solidFill>
              </a:rPr>
              <a:t>As mentioned above, comprehensive car insurance is a combination of act liability insurance and own damage insurance. </a:t>
            </a:r>
          </a:p>
          <a:p>
            <a:pPr algn="just">
              <a:lnSpc>
                <a:spcPct val="150000"/>
              </a:lnSpc>
            </a:pPr>
            <a:r>
              <a:rPr lang="en-US" b="1" dirty="0">
                <a:solidFill>
                  <a:srgbClr val="C00000"/>
                </a:solidFill>
              </a:rPr>
              <a:t>This car policy provides comprehensive coverage against act liabilities and loss or damages caused to the insured car due to accidents, vandalism, fire, theft, manmade and natural disasters.</a:t>
            </a:r>
          </a:p>
        </p:txBody>
      </p:sp>
      <p:pic>
        <p:nvPicPr>
          <p:cNvPr id="5" name="Picture 4">
            <a:extLst>
              <a:ext uri="{FF2B5EF4-FFF2-40B4-BE49-F238E27FC236}">
                <a16:creationId xmlns:a16="http://schemas.microsoft.com/office/drawing/2014/main" id="{BC0B8541-977C-4FDB-B2B6-1C9A6C2999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97297"/>
            <a:ext cx="12192000" cy="2960703"/>
          </a:xfrm>
          <a:prstGeom prst="rect">
            <a:avLst/>
          </a:prstGeom>
        </p:spPr>
      </p:pic>
    </p:spTree>
    <p:extLst>
      <p:ext uri="{BB962C8B-B14F-4D97-AF65-F5344CB8AC3E}">
        <p14:creationId xmlns:p14="http://schemas.microsoft.com/office/powerpoint/2010/main" val="201293448"/>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891DC-C109-4AC5-A17A-20E001AD6D03}"/>
              </a:ext>
            </a:extLst>
          </p:cNvPr>
          <p:cNvSpPr>
            <a:spLocks noGrp="1"/>
          </p:cNvSpPr>
          <p:nvPr>
            <p:ph type="title"/>
          </p:nvPr>
        </p:nvSpPr>
        <p:spPr>
          <a:xfrm>
            <a:off x="381739" y="840805"/>
            <a:ext cx="10138299" cy="1648968"/>
          </a:xfrm>
        </p:spPr>
        <p:txBody>
          <a:bodyPr>
            <a:normAutofit fontScale="90000"/>
          </a:bodyPr>
          <a:lstStyle/>
          <a:p>
            <a:pPr algn="ctr"/>
            <a:r>
              <a:rPr lang="en-US" dirty="0"/>
              <a:t>Comprehensive (Own Damage) Motor Insurance</a:t>
            </a:r>
            <a:br>
              <a:rPr lang="en-US" dirty="0"/>
            </a:br>
            <a:r>
              <a:rPr lang="en-US" dirty="0"/>
              <a:t>Covered </a:t>
            </a:r>
          </a:p>
        </p:txBody>
      </p:sp>
      <p:sp>
        <p:nvSpPr>
          <p:cNvPr id="3" name="Content Placeholder 2">
            <a:extLst>
              <a:ext uri="{FF2B5EF4-FFF2-40B4-BE49-F238E27FC236}">
                <a16:creationId xmlns:a16="http://schemas.microsoft.com/office/drawing/2014/main" id="{6EF8226F-2C80-4840-92B3-812B5A31CE68}"/>
              </a:ext>
            </a:extLst>
          </p:cNvPr>
          <p:cNvSpPr>
            <a:spLocks noGrp="1"/>
          </p:cNvSpPr>
          <p:nvPr>
            <p:ph idx="1"/>
          </p:nvPr>
        </p:nvSpPr>
        <p:spPr>
          <a:xfrm>
            <a:off x="677334" y="2498651"/>
            <a:ext cx="8596668" cy="3880773"/>
          </a:xfrm>
        </p:spPr>
        <p:txBody>
          <a:bodyPr>
            <a:normAutofit fontScale="92500" lnSpcReduction="10000"/>
          </a:bodyPr>
          <a:lstStyle/>
          <a:p>
            <a:pPr lvl="0">
              <a:buBlip>
                <a:blip r:embed="rId4"/>
              </a:buBlip>
            </a:pPr>
            <a:r>
              <a:rPr lang="en-US" dirty="0"/>
              <a:t>By fire explosion, self-ignition or lighting</a:t>
            </a:r>
          </a:p>
          <a:p>
            <a:pPr lvl="0">
              <a:buBlip>
                <a:blip r:embed="rId4"/>
              </a:buBlip>
            </a:pPr>
            <a:r>
              <a:rPr lang="en-US" dirty="0"/>
              <a:t>By burglary housebreaking or theft</a:t>
            </a:r>
          </a:p>
          <a:p>
            <a:pPr lvl="0">
              <a:buBlip>
                <a:blip r:embed="rId4"/>
              </a:buBlip>
            </a:pPr>
            <a:r>
              <a:rPr lang="en-US" dirty="0"/>
              <a:t>By Riot and Strike including malicious &amp; terrorism activities</a:t>
            </a:r>
          </a:p>
          <a:p>
            <a:pPr lvl="0">
              <a:buBlip>
                <a:blip r:embed="rId4"/>
              </a:buBlip>
            </a:pPr>
            <a:r>
              <a:rPr lang="en-US" dirty="0"/>
              <a:t>By Earthquake (Fire &amp; Shock damage)</a:t>
            </a:r>
          </a:p>
          <a:p>
            <a:pPr lvl="0">
              <a:buBlip>
                <a:blip r:embed="rId4"/>
              </a:buBlip>
            </a:pPr>
            <a:r>
              <a:rPr lang="en-US" dirty="0"/>
              <a:t>By Flood, Typhoon, Hurricane, Storm, tempest, inundation, cyclone, hailstorm, frost.</a:t>
            </a:r>
          </a:p>
          <a:p>
            <a:pPr lvl="0">
              <a:buBlip>
                <a:blip r:embed="rId4"/>
              </a:buBlip>
            </a:pPr>
            <a:r>
              <a:rPr lang="en-US" dirty="0"/>
              <a:t>By accidental external means</a:t>
            </a:r>
          </a:p>
          <a:p>
            <a:pPr lvl="0">
              <a:buBlip>
                <a:blip r:embed="rId4"/>
              </a:buBlip>
            </a:pPr>
            <a:r>
              <a:rPr lang="en-US" dirty="0"/>
              <a:t>Whilst in transit by road, rail, inland waterway, lift, elevator or air.</a:t>
            </a:r>
          </a:p>
        </p:txBody>
      </p:sp>
    </p:spTree>
    <p:extLst>
      <p:ext uri="{BB962C8B-B14F-4D97-AF65-F5344CB8AC3E}">
        <p14:creationId xmlns:p14="http://schemas.microsoft.com/office/powerpoint/2010/main" val="65488451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A7796-92D6-44C5-BE4D-596683E59B3A}"/>
              </a:ext>
            </a:extLst>
          </p:cNvPr>
          <p:cNvSpPr>
            <a:spLocks noGrp="1"/>
          </p:cNvSpPr>
          <p:nvPr>
            <p:ph type="title"/>
          </p:nvPr>
        </p:nvSpPr>
        <p:spPr>
          <a:xfrm>
            <a:off x="64008" y="325515"/>
            <a:ext cx="10021025" cy="1320800"/>
          </a:xfrm>
        </p:spPr>
        <p:txBody>
          <a:bodyPr>
            <a:noAutofit/>
          </a:bodyPr>
          <a:lstStyle/>
          <a:p>
            <a:pPr algn="ctr"/>
            <a:r>
              <a:rPr lang="en-US" sz="2800" b="1" dirty="0"/>
              <a:t>Premium Calculation</a:t>
            </a:r>
            <a:br>
              <a:rPr lang="en-US" sz="2800" b="1" dirty="0"/>
            </a:br>
            <a:r>
              <a:rPr lang="en-US" sz="2800" b="1" dirty="0"/>
              <a:t>(Tariff rate for Comprehensive-Four Wheelers-Private)</a:t>
            </a:r>
            <a:br>
              <a:rPr lang="en-US" sz="2800" dirty="0"/>
            </a:br>
            <a:endParaRPr lang="en-US" sz="2800" dirty="0"/>
          </a:p>
        </p:txBody>
      </p:sp>
      <p:graphicFrame>
        <p:nvGraphicFramePr>
          <p:cNvPr id="4" name="Table 3">
            <a:extLst>
              <a:ext uri="{FF2B5EF4-FFF2-40B4-BE49-F238E27FC236}">
                <a16:creationId xmlns:a16="http://schemas.microsoft.com/office/drawing/2014/main" id="{DBDB7932-186F-4199-A3CB-D394DBFAB496}"/>
              </a:ext>
            </a:extLst>
          </p:cNvPr>
          <p:cNvGraphicFramePr>
            <a:graphicFrameLocks noGrp="1"/>
          </p:cNvGraphicFramePr>
          <p:nvPr>
            <p:extLst>
              <p:ext uri="{D42A27DB-BD31-4B8C-83A1-F6EECF244321}">
                <p14:modId xmlns:p14="http://schemas.microsoft.com/office/powerpoint/2010/main" val="69320374"/>
              </p:ext>
            </p:extLst>
          </p:nvPr>
        </p:nvGraphicFramePr>
        <p:xfrm>
          <a:off x="1026724" y="1491327"/>
          <a:ext cx="8247277" cy="3050021"/>
        </p:xfrm>
        <a:graphic>
          <a:graphicData uri="http://schemas.openxmlformats.org/drawingml/2006/table">
            <a:tbl>
              <a:tblPr firstRow="1" firstCol="1" bandRow="1">
                <a:tableStyleId>{69012ECD-51FC-41F1-AA8D-1B2483CD663E}</a:tableStyleId>
              </a:tblPr>
              <a:tblGrid>
                <a:gridCol w="2593554">
                  <a:extLst>
                    <a:ext uri="{9D8B030D-6E8A-4147-A177-3AD203B41FA5}">
                      <a16:colId xmlns:a16="http://schemas.microsoft.com/office/drawing/2014/main" val="199941368"/>
                    </a:ext>
                  </a:extLst>
                </a:gridCol>
                <a:gridCol w="2539449">
                  <a:extLst>
                    <a:ext uri="{9D8B030D-6E8A-4147-A177-3AD203B41FA5}">
                      <a16:colId xmlns:a16="http://schemas.microsoft.com/office/drawing/2014/main" val="1633933485"/>
                    </a:ext>
                  </a:extLst>
                </a:gridCol>
                <a:gridCol w="3114274">
                  <a:extLst>
                    <a:ext uri="{9D8B030D-6E8A-4147-A177-3AD203B41FA5}">
                      <a16:colId xmlns:a16="http://schemas.microsoft.com/office/drawing/2014/main" val="2888062882"/>
                    </a:ext>
                  </a:extLst>
                </a:gridCol>
              </a:tblGrid>
              <a:tr h="900000">
                <a:tc>
                  <a:txBody>
                    <a:bodyPr/>
                    <a:lstStyle/>
                    <a:p>
                      <a:pPr marL="0" marR="0" algn="ctr">
                        <a:lnSpc>
                          <a:spcPct val="200000"/>
                        </a:lnSpc>
                      </a:pPr>
                      <a:r>
                        <a:rPr lang="en-US" sz="1600" dirty="0">
                          <a:solidFill>
                            <a:srgbClr val="0070C0"/>
                          </a:solidFill>
                          <a:effectLst/>
                        </a:rPr>
                        <a:t>CC  Range </a:t>
                      </a:r>
                    </a:p>
                    <a:p>
                      <a:pPr marL="0" marR="0" algn="ctr">
                        <a:lnSpc>
                          <a:spcPct val="200000"/>
                        </a:lnSpc>
                      </a:pPr>
                      <a:r>
                        <a:rPr lang="en-US" sz="1600" b="1" dirty="0">
                          <a:solidFill>
                            <a:srgbClr val="0070C0"/>
                          </a:solidFill>
                        </a:rPr>
                        <a:t>(cubic centimeters)</a:t>
                      </a:r>
                      <a:r>
                        <a:rPr lang="en-US" sz="1600" b="1" dirty="0"/>
                        <a:t> </a:t>
                      </a:r>
                      <a:endParaRPr lang="en-US" sz="1600" b="1" dirty="0">
                        <a:solidFill>
                          <a:srgbClr val="0070C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marR="0" algn="ctr">
                        <a:lnSpc>
                          <a:spcPct val="200000"/>
                        </a:lnSpc>
                      </a:pPr>
                      <a:r>
                        <a:rPr lang="en-US" sz="1600" dirty="0">
                          <a:solidFill>
                            <a:srgbClr val="0070C0"/>
                          </a:solidFill>
                          <a:effectLst/>
                        </a:rPr>
                        <a:t>Basic Rate in BDT</a:t>
                      </a:r>
                      <a:endParaRPr lang="en-US" sz="1600" b="1" dirty="0">
                        <a:solidFill>
                          <a:srgbClr val="0070C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marL="0" marR="0" algn="ctr">
                        <a:lnSpc>
                          <a:spcPct val="200000"/>
                        </a:lnSpc>
                      </a:pPr>
                      <a:r>
                        <a:rPr lang="en-US" sz="1600" dirty="0">
                          <a:solidFill>
                            <a:srgbClr val="0070C0"/>
                          </a:solidFill>
                          <a:effectLst/>
                        </a:rPr>
                        <a:t>Act Liabilities Rate in BDT</a:t>
                      </a:r>
                      <a:endParaRPr lang="en-US" sz="1600" b="1" dirty="0">
                        <a:solidFill>
                          <a:srgbClr val="0070C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243308095"/>
                  </a:ext>
                </a:extLst>
              </a:tr>
              <a:tr h="523906">
                <a:tc>
                  <a:txBody>
                    <a:bodyPr/>
                    <a:lstStyle/>
                    <a:p>
                      <a:pPr marL="0" marR="0" algn="ctr">
                        <a:lnSpc>
                          <a:spcPct val="115000"/>
                        </a:lnSpc>
                      </a:pPr>
                      <a:r>
                        <a:rPr lang="en-US" sz="1400" b="1" dirty="0">
                          <a:effectLst/>
                          <a:latin typeface="Arial" panose="020B0604020202020204" pitchFamily="34" charset="0"/>
                          <a:ea typeface="Times New Roman" panose="02020603050405020304" pitchFamily="18" charset="0"/>
                          <a:cs typeface="Arial" panose="020B0604020202020204" pitchFamily="34" charset="0"/>
                        </a:rPr>
                        <a:t>Up to 1300 / Up to ½ Ton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r>
                        <a:rPr lang="en-US" sz="1400" b="1" dirty="0">
                          <a:effectLst/>
                          <a:latin typeface="Arial" panose="020B0604020202020204" pitchFamily="34" charset="0"/>
                          <a:ea typeface="Times New Roman" panose="02020603050405020304" pitchFamily="18" charset="0"/>
                          <a:cs typeface="Arial" panose="020B0604020202020204" pitchFamily="34" charset="0"/>
                        </a:rPr>
                        <a:t>2,795/=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200000"/>
                        </a:lnSpc>
                      </a:pPr>
                      <a:r>
                        <a:rPr lang="en-US" sz="1400" b="1" dirty="0">
                          <a:effectLst/>
                        </a:rPr>
                        <a:t>150/=</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9356479"/>
                  </a:ext>
                </a:extLst>
              </a:tr>
              <a:tr h="572856">
                <a:tc>
                  <a:txBody>
                    <a:bodyPr/>
                    <a:lstStyle/>
                    <a:p>
                      <a:pPr marL="0" marR="0" algn="ctr">
                        <a:lnSpc>
                          <a:spcPct val="115000"/>
                        </a:lnSpc>
                      </a:pPr>
                      <a:r>
                        <a:rPr lang="en-US" sz="1400" b="1" dirty="0">
                          <a:effectLst/>
                          <a:latin typeface="Arial" panose="020B0604020202020204" pitchFamily="34" charset="0"/>
                          <a:ea typeface="Times New Roman" panose="02020603050405020304" pitchFamily="18" charset="0"/>
                          <a:cs typeface="Arial" panose="020B0604020202020204" pitchFamily="34" charset="0"/>
                        </a:rPr>
                        <a:t>1301 to 1800 / ½ to 1 Ton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r>
                        <a:rPr lang="en-US" sz="1400" b="1" dirty="0">
                          <a:effectLst/>
                          <a:latin typeface="Arial" panose="020B0604020202020204" pitchFamily="34" charset="0"/>
                          <a:ea typeface="Times New Roman" panose="02020603050405020304" pitchFamily="18" charset="0"/>
                          <a:cs typeface="Arial" panose="020B0604020202020204" pitchFamily="34" charset="0"/>
                        </a:rPr>
                        <a:t>2,873/=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200000"/>
                        </a:lnSpc>
                      </a:pPr>
                      <a:r>
                        <a:rPr lang="en-US" sz="1400" b="1" dirty="0">
                          <a:effectLst/>
                        </a:rPr>
                        <a:t>250/=</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2185726"/>
                  </a:ext>
                </a:extLst>
              </a:tr>
              <a:tr h="523906">
                <a:tc>
                  <a:txBody>
                    <a:bodyPr/>
                    <a:lstStyle/>
                    <a:p>
                      <a:pPr marL="0" marR="0" algn="ctr">
                        <a:lnSpc>
                          <a:spcPct val="115000"/>
                        </a:lnSpc>
                      </a:pPr>
                      <a:r>
                        <a:rPr lang="en-US" sz="1400" b="1" dirty="0">
                          <a:effectLst/>
                          <a:latin typeface="Arial" panose="020B0604020202020204" pitchFamily="34" charset="0"/>
                          <a:ea typeface="Times New Roman" panose="02020603050405020304" pitchFamily="18" charset="0"/>
                          <a:cs typeface="Arial" panose="020B0604020202020204" pitchFamily="34" charset="0"/>
                        </a:rPr>
                        <a:t>1801 to 3000 / Up to 3 Ton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r>
                        <a:rPr lang="en-US" sz="1400" b="1" dirty="0">
                          <a:effectLst/>
                          <a:latin typeface="Arial" panose="020B0604020202020204" pitchFamily="34" charset="0"/>
                          <a:ea typeface="Times New Roman" panose="02020603050405020304" pitchFamily="18" charset="0"/>
                          <a:cs typeface="Arial" panose="020B0604020202020204" pitchFamily="34" charset="0"/>
                        </a:rPr>
                        <a:t>2,925/=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200000"/>
                        </a:lnSpc>
                      </a:pPr>
                      <a:r>
                        <a:rPr lang="en-US" sz="1400" b="1" dirty="0">
                          <a:effectLst/>
                        </a:rPr>
                        <a:t>350/=</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1531325"/>
                  </a:ext>
                </a:extLst>
              </a:tr>
              <a:tr h="523906">
                <a:tc>
                  <a:txBody>
                    <a:bodyPr/>
                    <a:lstStyle/>
                    <a:p>
                      <a:pPr marL="0" marR="0" algn="ctr">
                        <a:lnSpc>
                          <a:spcPct val="115000"/>
                        </a:lnSpc>
                      </a:pPr>
                      <a:r>
                        <a:rPr lang="en-US" sz="1400" b="1" dirty="0">
                          <a:effectLst/>
                          <a:latin typeface="Arial" panose="020B0604020202020204" pitchFamily="34" charset="0"/>
                          <a:ea typeface="Times New Roman" panose="02020603050405020304" pitchFamily="18" charset="0"/>
                          <a:cs typeface="Arial" panose="020B0604020202020204" pitchFamily="34" charset="0"/>
                        </a:rPr>
                        <a:t>3001 to above/ Above 3 Ton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r>
                        <a:rPr lang="en-US" sz="1400" b="1" dirty="0">
                          <a:effectLst/>
                          <a:latin typeface="Arial" panose="020B0604020202020204" pitchFamily="34" charset="0"/>
                          <a:ea typeface="Times New Roman" panose="02020603050405020304" pitchFamily="18" charset="0"/>
                          <a:cs typeface="Arial" panose="020B0604020202020204" pitchFamily="34" charset="0"/>
                        </a:rPr>
                        <a:t>2,990/=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200000"/>
                        </a:lnSpc>
                      </a:pPr>
                      <a:r>
                        <a:rPr lang="en-US" sz="1400" b="1" dirty="0">
                          <a:effectLst/>
                        </a:rPr>
                        <a:t>450/=</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4890250"/>
                  </a:ext>
                </a:extLst>
              </a:tr>
            </a:tbl>
          </a:graphicData>
        </a:graphic>
      </p:graphicFrame>
      <p:sp>
        <p:nvSpPr>
          <p:cNvPr id="7" name="TextBox 6">
            <a:extLst>
              <a:ext uri="{FF2B5EF4-FFF2-40B4-BE49-F238E27FC236}">
                <a16:creationId xmlns:a16="http://schemas.microsoft.com/office/drawing/2014/main" id="{889EC206-E760-4F86-819F-6156303CC27A}"/>
              </a:ext>
            </a:extLst>
          </p:cNvPr>
          <p:cNvSpPr txBox="1"/>
          <p:nvPr/>
        </p:nvSpPr>
        <p:spPr>
          <a:xfrm>
            <a:off x="585216" y="4532245"/>
            <a:ext cx="8755075" cy="1114857"/>
          </a:xfrm>
          <a:prstGeom prst="rect">
            <a:avLst/>
          </a:prstGeom>
          <a:noFill/>
        </p:spPr>
        <p:txBody>
          <a:bodyPr wrap="square" rtlCol="0">
            <a:spAutoFit/>
          </a:bodyPr>
          <a:lstStyle/>
          <a:p>
            <a:pPr>
              <a:lnSpc>
                <a:spcPct val="200000"/>
              </a:lnSpc>
            </a:pPr>
            <a:r>
              <a:rPr lang="en-US" b="1" dirty="0">
                <a:solidFill>
                  <a:srgbClr val="C00000"/>
                </a:solidFill>
              </a:rPr>
              <a:t>Premium= {Net premium of Act Liabilities depend of CC + Basic own damage premium depend on CC + (Sum Insured Value of vehicle × </a:t>
            </a:r>
            <a:r>
              <a:rPr lang="en-US" b="1" dirty="0">
                <a:solidFill>
                  <a:srgbClr val="C00000"/>
                </a:solidFill>
                <a:highlight>
                  <a:srgbClr val="FFFF00"/>
                </a:highlight>
              </a:rPr>
              <a:t>2.65</a:t>
            </a:r>
            <a:r>
              <a:rPr lang="en-US" b="1" dirty="0">
                <a:solidFill>
                  <a:srgbClr val="C00000"/>
                </a:solidFill>
              </a:rPr>
              <a:t>%)} + 15% vat.</a:t>
            </a:r>
          </a:p>
        </p:txBody>
      </p:sp>
      <p:sp>
        <p:nvSpPr>
          <p:cNvPr id="3" name="TextBox 2">
            <a:extLst>
              <a:ext uri="{FF2B5EF4-FFF2-40B4-BE49-F238E27FC236}">
                <a16:creationId xmlns:a16="http://schemas.microsoft.com/office/drawing/2014/main" id="{04EC7AC3-87E4-4CDE-A8A2-A1D5A2AE92EE}"/>
              </a:ext>
            </a:extLst>
          </p:cNvPr>
          <p:cNvSpPr txBox="1"/>
          <p:nvPr/>
        </p:nvSpPr>
        <p:spPr>
          <a:xfrm>
            <a:off x="514905" y="5797119"/>
            <a:ext cx="8433786" cy="923330"/>
          </a:xfrm>
          <a:prstGeom prst="rect">
            <a:avLst/>
          </a:prstGeom>
          <a:noFill/>
        </p:spPr>
        <p:txBody>
          <a:bodyPr wrap="square" rtlCol="0">
            <a:spAutoFit/>
          </a:bodyPr>
          <a:lstStyle/>
          <a:p>
            <a:pPr lvl="0"/>
            <a:r>
              <a:rPr lang="en-US" dirty="0">
                <a:solidFill>
                  <a:srgbClr val="C00000"/>
                </a:solidFill>
              </a:rPr>
              <a:t>** Driver rate………. BDT 30/=</a:t>
            </a:r>
          </a:p>
          <a:p>
            <a:pPr lvl="0"/>
            <a:r>
              <a:rPr lang="en-US" dirty="0">
                <a:solidFill>
                  <a:srgbClr val="C00000"/>
                </a:solidFill>
              </a:rPr>
              <a:t>** Per passenger……..BDT 45/=</a:t>
            </a:r>
          </a:p>
          <a:p>
            <a:endParaRPr lang="en-US" dirty="0">
              <a:solidFill>
                <a:srgbClr val="C00000"/>
              </a:solidFill>
            </a:endParaRPr>
          </a:p>
        </p:txBody>
      </p:sp>
    </p:spTree>
    <p:extLst>
      <p:ext uri="{BB962C8B-B14F-4D97-AF65-F5344CB8AC3E}">
        <p14:creationId xmlns:p14="http://schemas.microsoft.com/office/powerpoint/2010/main" val="311251695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4B93C-0CBE-4DC9-BB0B-1618D48FB848}"/>
              </a:ext>
            </a:extLst>
          </p:cNvPr>
          <p:cNvSpPr>
            <a:spLocks noGrp="1"/>
          </p:cNvSpPr>
          <p:nvPr>
            <p:ph type="title"/>
          </p:nvPr>
        </p:nvSpPr>
        <p:spPr>
          <a:xfrm>
            <a:off x="133165" y="609600"/>
            <a:ext cx="10040645" cy="1320800"/>
          </a:xfrm>
        </p:spPr>
        <p:txBody>
          <a:bodyPr>
            <a:noAutofit/>
          </a:bodyPr>
          <a:lstStyle/>
          <a:p>
            <a:pPr algn="ctr"/>
            <a:r>
              <a:rPr lang="en-US" sz="2800" b="1" dirty="0">
                <a:latin typeface="Arial" panose="020B0604020202020204" pitchFamily="34" charset="0"/>
                <a:cs typeface="Arial" panose="020B0604020202020204" pitchFamily="34" charset="0"/>
              </a:rPr>
              <a:t>Premium Calculation</a:t>
            </a:r>
            <a:br>
              <a:rPr lang="en-US" sz="2800" b="1"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(Tariff rate for Comprehensive-Four Wheelers-Private)</a:t>
            </a:r>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graphicFrame>
        <p:nvGraphicFramePr>
          <p:cNvPr id="4" name="Content Placeholder 3">
            <a:extLst>
              <a:ext uri="{FF2B5EF4-FFF2-40B4-BE49-F238E27FC236}">
                <a16:creationId xmlns:a16="http://schemas.microsoft.com/office/drawing/2014/main" id="{7EA8286F-3334-486B-A7B0-C9AB564C9622}"/>
              </a:ext>
            </a:extLst>
          </p:cNvPr>
          <p:cNvGraphicFramePr>
            <a:graphicFrameLocks noGrp="1"/>
          </p:cNvGraphicFramePr>
          <p:nvPr>
            <p:ph idx="1"/>
            <p:extLst>
              <p:ext uri="{D42A27DB-BD31-4B8C-83A1-F6EECF244321}">
                <p14:modId xmlns:p14="http://schemas.microsoft.com/office/powerpoint/2010/main" val="2611724985"/>
              </p:ext>
            </p:extLst>
          </p:nvPr>
        </p:nvGraphicFramePr>
        <p:xfrm>
          <a:off x="2654423" y="2095870"/>
          <a:ext cx="5648272" cy="3708000"/>
        </p:xfrm>
        <a:graphic>
          <a:graphicData uri="http://schemas.openxmlformats.org/drawingml/2006/table">
            <a:tbl>
              <a:tblPr firstRow="1" bandRow="1">
                <a:tableStyleId>{8A107856-5554-42FB-B03E-39F5DBC370BA}</a:tableStyleId>
              </a:tblPr>
              <a:tblGrid>
                <a:gridCol w="2561389">
                  <a:extLst>
                    <a:ext uri="{9D8B030D-6E8A-4147-A177-3AD203B41FA5}">
                      <a16:colId xmlns:a16="http://schemas.microsoft.com/office/drawing/2014/main" val="20000"/>
                    </a:ext>
                  </a:extLst>
                </a:gridCol>
                <a:gridCol w="3086883">
                  <a:extLst>
                    <a:ext uri="{9D8B030D-6E8A-4147-A177-3AD203B41FA5}">
                      <a16:colId xmlns:a16="http://schemas.microsoft.com/office/drawing/2014/main" val="20001"/>
                    </a:ext>
                  </a:extLst>
                </a:gridCol>
              </a:tblGrid>
              <a:tr h="463500">
                <a:tc>
                  <a:txBody>
                    <a:bodyPr/>
                    <a:lstStyle/>
                    <a:p>
                      <a:pPr algn="ctr"/>
                      <a:r>
                        <a:rPr lang="en-US" dirty="0"/>
                        <a:t>Perils</a:t>
                      </a:r>
                    </a:p>
                  </a:txBody>
                  <a:tcPr marL="83325" marR="83325">
                    <a:solidFill>
                      <a:schemeClr val="accent1"/>
                    </a:solidFill>
                  </a:tcPr>
                </a:tc>
                <a:tc>
                  <a:txBody>
                    <a:bodyPr/>
                    <a:lstStyle/>
                    <a:p>
                      <a:pPr algn="ctr"/>
                      <a:r>
                        <a:rPr lang="en-US" b="1" dirty="0"/>
                        <a:t>Rates</a:t>
                      </a:r>
                    </a:p>
                  </a:txBody>
                  <a:tcPr marL="83325" marR="83325" anchor="ctr">
                    <a:solidFill>
                      <a:schemeClr val="accent1"/>
                    </a:solidFill>
                  </a:tcPr>
                </a:tc>
                <a:extLst>
                  <a:ext uri="{0D108BD9-81ED-4DB2-BD59-A6C34878D82A}">
                    <a16:rowId xmlns:a16="http://schemas.microsoft.com/office/drawing/2014/main" val="10000"/>
                  </a:ext>
                </a:extLst>
              </a:tr>
              <a:tr h="463500">
                <a:tc>
                  <a:txBody>
                    <a:bodyPr/>
                    <a:lstStyle/>
                    <a:p>
                      <a:pPr algn="ctr"/>
                      <a:r>
                        <a:rPr lang="en-US" b="1" dirty="0"/>
                        <a:t>Fire</a:t>
                      </a:r>
                      <a:endParaRPr lang="en-US" b="1" dirty="0">
                        <a:solidFill>
                          <a:srgbClr val="FF0000"/>
                        </a:solidFill>
                      </a:endParaRPr>
                    </a:p>
                  </a:txBody>
                  <a:tcPr marL="83325" marR="83325" anchor="ctr"/>
                </a:tc>
                <a:tc>
                  <a:txBody>
                    <a:bodyPr/>
                    <a:lstStyle/>
                    <a:p>
                      <a:pPr algn="ctr"/>
                      <a:r>
                        <a:rPr lang="en-US" b="1" dirty="0"/>
                        <a:t>0.50%</a:t>
                      </a:r>
                      <a:endParaRPr lang="en-US" b="1" dirty="0">
                        <a:solidFill>
                          <a:srgbClr val="FF0000"/>
                        </a:solidFill>
                      </a:endParaRPr>
                    </a:p>
                  </a:txBody>
                  <a:tcPr marL="83325" marR="83325" anchor="ctr"/>
                </a:tc>
                <a:extLst>
                  <a:ext uri="{0D108BD9-81ED-4DB2-BD59-A6C34878D82A}">
                    <a16:rowId xmlns:a16="http://schemas.microsoft.com/office/drawing/2014/main" val="10001"/>
                  </a:ext>
                </a:extLst>
              </a:tr>
              <a:tr h="463500">
                <a:tc>
                  <a:txBody>
                    <a:bodyPr/>
                    <a:lstStyle/>
                    <a:p>
                      <a:pPr algn="ctr"/>
                      <a:r>
                        <a:rPr lang="en-US" b="1" dirty="0"/>
                        <a:t>Theft</a:t>
                      </a:r>
                      <a:endParaRPr lang="en-US" b="1" dirty="0">
                        <a:solidFill>
                          <a:srgbClr val="FF0000"/>
                        </a:solidFill>
                      </a:endParaRPr>
                    </a:p>
                  </a:txBody>
                  <a:tcPr marL="83325" marR="83325" anchor="ctr"/>
                </a:tc>
                <a:tc>
                  <a:txBody>
                    <a:bodyPr/>
                    <a:lstStyle/>
                    <a:p>
                      <a:pPr algn="ctr"/>
                      <a:r>
                        <a:rPr lang="en-US" b="1" dirty="0"/>
                        <a:t>0.50%</a:t>
                      </a:r>
                      <a:endParaRPr lang="en-US" b="1" dirty="0">
                        <a:solidFill>
                          <a:srgbClr val="FF0000"/>
                        </a:solidFill>
                      </a:endParaRPr>
                    </a:p>
                  </a:txBody>
                  <a:tcPr marL="83325" marR="83325" anchor="ctr"/>
                </a:tc>
                <a:extLst>
                  <a:ext uri="{0D108BD9-81ED-4DB2-BD59-A6C34878D82A}">
                    <a16:rowId xmlns:a16="http://schemas.microsoft.com/office/drawing/2014/main" val="10002"/>
                  </a:ext>
                </a:extLst>
              </a:tr>
              <a:tr h="463500">
                <a:tc>
                  <a:txBody>
                    <a:bodyPr/>
                    <a:lstStyle/>
                    <a:p>
                      <a:pPr algn="ctr"/>
                      <a:r>
                        <a:rPr lang="en-US" b="1" dirty="0"/>
                        <a:t>Earthquake</a:t>
                      </a:r>
                    </a:p>
                  </a:txBody>
                  <a:tcPr marL="83325" marR="83325" anchor="ctr"/>
                </a:tc>
                <a:tc>
                  <a:txBody>
                    <a:bodyPr/>
                    <a:lstStyle/>
                    <a:p>
                      <a:pPr algn="ctr"/>
                      <a:r>
                        <a:rPr lang="en-US" b="1" dirty="0"/>
                        <a:t>0.25%</a:t>
                      </a:r>
                    </a:p>
                  </a:txBody>
                  <a:tcPr marL="83325" marR="83325" anchor="ctr"/>
                </a:tc>
                <a:extLst>
                  <a:ext uri="{0D108BD9-81ED-4DB2-BD59-A6C34878D82A}">
                    <a16:rowId xmlns:a16="http://schemas.microsoft.com/office/drawing/2014/main" val="10003"/>
                  </a:ext>
                </a:extLst>
              </a:tr>
              <a:tr h="463500">
                <a:tc>
                  <a:txBody>
                    <a:bodyPr/>
                    <a:lstStyle/>
                    <a:p>
                      <a:pPr algn="ctr"/>
                      <a:r>
                        <a:rPr lang="en-US" b="1" dirty="0"/>
                        <a:t>Flood &amp; Cyclone </a:t>
                      </a:r>
                    </a:p>
                  </a:txBody>
                  <a:tcPr marL="83325" marR="83325" anchor="ctr"/>
                </a:tc>
                <a:tc>
                  <a:txBody>
                    <a:bodyPr/>
                    <a:lstStyle/>
                    <a:p>
                      <a:pPr algn="ctr"/>
                      <a:r>
                        <a:rPr lang="en-US" b="1" dirty="0"/>
                        <a:t>0.25%</a:t>
                      </a:r>
                    </a:p>
                  </a:txBody>
                  <a:tcPr marL="83325" marR="83325" anchor="ctr"/>
                </a:tc>
                <a:extLst>
                  <a:ext uri="{0D108BD9-81ED-4DB2-BD59-A6C34878D82A}">
                    <a16:rowId xmlns:a16="http://schemas.microsoft.com/office/drawing/2014/main" val="10004"/>
                  </a:ext>
                </a:extLst>
              </a:tr>
              <a:tr h="463500">
                <a:tc>
                  <a:txBody>
                    <a:bodyPr/>
                    <a:lstStyle/>
                    <a:p>
                      <a:pPr algn="ctr"/>
                      <a:r>
                        <a:rPr lang="en-US" b="1" dirty="0"/>
                        <a:t>Riot</a:t>
                      </a:r>
                      <a:r>
                        <a:rPr lang="en-US" b="1" baseline="0" dirty="0"/>
                        <a:t> and Strike</a:t>
                      </a:r>
                      <a:endParaRPr lang="en-US" b="1" dirty="0"/>
                    </a:p>
                  </a:txBody>
                  <a:tcPr marL="83325" marR="83325" anchor="ctr"/>
                </a:tc>
                <a:tc>
                  <a:txBody>
                    <a:bodyPr/>
                    <a:lstStyle/>
                    <a:p>
                      <a:pPr algn="ctr"/>
                      <a:r>
                        <a:rPr lang="en-US" b="1" dirty="0"/>
                        <a:t>0.50%</a:t>
                      </a:r>
                    </a:p>
                  </a:txBody>
                  <a:tcPr marL="83325" marR="83325" anchor="ctr"/>
                </a:tc>
                <a:extLst>
                  <a:ext uri="{0D108BD9-81ED-4DB2-BD59-A6C34878D82A}">
                    <a16:rowId xmlns:a16="http://schemas.microsoft.com/office/drawing/2014/main" val="10005"/>
                  </a:ext>
                </a:extLst>
              </a:tr>
              <a:tr h="463500">
                <a:tc>
                  <a:txBody>
                    <a:bodyPr/>
                    <a:lstStyle/>
                    <a:p>
                      <a:pPr algn="ctr"/>
                      <a:r>
                        <a:rPr lang="en-US" b="1" dirty="0"/>
                        <a:t>Others</a:t>
                      </a:r>
                      <a:endParaRPr lang="en-US" b="1" dirty="0">
                        <a:solidFill>
                          <a:srgbClr val="FF0000"/>
                        </a:solidFill>
                      </a:endParaRPr>
                    </a:p>
                  </a:txBody>
                  <a:tcPr marL="83325" marR="83325" anchor="ctr"/>
                </a:tc>
                <a:tc>
                  <a:txBody>
                    <a:bodyPr/>
                    <a:lstStyle/>
                    <a:p>
                      <a:pPr algn="ctr"/>
                      <a:r>
                        <a:rPr lang="en-US" b="1" dirty="0"/>
                        <a:t>0.65%</a:t>
                      </a:r>
                      <a:endParaRPr lang="en-US" b="1" dirty="0">
                        <a:solidFill>
                          <a:srgbClr val="FF0000"/>
                        </a:solidFill>
                      </a:endParaRPr>
                    </a:p>
                  </a:txBody>
                  <a:tcPr marL="83325" marR="83325" anchor="ctr"/>
                </a:tc>
                <a:extLst>
                  <a:ext uri="{0D108BD9-81ED-4DB2-BD59-A6C34878D82A}">
                    <a16:rowId xmlns:a16="http://schemas.microsoft.com/office/drawing/2014/main" val="10006"/>
                  </a:ext>
                </a:extLst>
              </a:tr>
              <a:tr h="463500">
                <a:tc>
                  <a:txBody>
                    <a:bodyPr/>
                    <a:lstStyle/>
                    <a:p>
                      <a:pPr algn="ctr"/>
                      <a:r>
                        <a:rPr lang="en-US" b="1" dirty="0"/>
                        <a:t>Total</a:t>
                      </a:r>
                    </a:p>
                  </a:txBody>
                  <a:tcPr marL="83325" marR="83325" anchor="ctr">
                    <a:solidFill>
                      <a:schemeClr val="accent2">
                        <a:lumMod val="60000"/>
                        <a:lumOff val="40000"/>
                      </a:schemeClr>
                    </a:solidFill>
                  </a:tcPr>
                </a:tc>
                <a:tc>
                  <a:txBody>
                    <a:bodyPr/>
                    <a:lstStyle/>
                    <a:p>
                      <a:pPr algn="ctr"/>
                      <a:r>
                        <a:rPr lang="en-US" b="1" dirty="0"/>
                        <a:t>2.65%</a:t>
                      </a:r>
                    </a:p>
                  </a:txBody>
                  <a:tcPr marL="83325" marR="83325" anchor="ctr">
                    <a:solidFill>
                      <a:schemeClr val="accent2">
                        <a:lumMod val="60000"/>
                        <a:lumOff val="40000"/>
                      </a:schemeClr>
                    </a:solidFill>
                  </a:tcPr>
                </a:tc>
                <a:extLst>
                  <a:ext uri="{0D108BD9-81ED-4DB2-BD59-A6C34878D82A}">
                    <a16:rowId xmlns:a16="http://schemas.microsoft.com/office/drawing/2014/main" val="10007"/>
                  </a:ext>
                </a:extLst>
              </a:tr>
            </a:tbl>
          </a:graphicData>
        </a:graphic>
      </p:graphicFrame>
      <p:pic>
        <p:nvPicPr>
          <p:cNvPr id="6" name="Picture 5">
            <a:extLst>
              <a:ext uri="{FF2B5EF4-FFF2-40B4-BE49-F238E27FC236}">
                <a16:creationId xmlns:a16="http://schemas.microsoft.com/office/drawing/2014/main" id="{5B169050-DA8C-46B9-8717-059BF34661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939" y="5765567"/>
            <a:ext cx="2288484" cy="1101993"/>
          </a:xfrm>
          <a:prstGeom prst="rect">
            <a:avLst/>
          </a:prstGeom>
        </p:spPr>
      </p:pic>
    </p:spTree>
    <p:extLst>
      <p:ext uri="{BB962C8B-B14F-4D97-AF65-F5344CB8AC3E}">
        <p14:creationId xmlns:p14="http://schemas.microsoft.com/office/powerpoint/2010/main" val="346078801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A7796-92D6-44C5-BE4D-596683E59B3A}"/>
              </a:ext>
            </a:extLst>
          </p:cNvPr>
          <p:cNvSpPr>
            <a:spLocks noGrp="1"/>
          </p:cNvSpPr>
          <p:nvPr>
            <p:ph type="title"/>
          </p:nvPr>
        </p:nvSpPr>
        <p:spPr>
          <a:xfrm>
            <a:off x="64008" y="298882"/>
            <a:ext cx="10305288" cy="1320800"/>
          </a:xfrm>
        </p:spPr>
        <p:txBody>
          <a:bodyPr>
            <a:noAutofit/>
          </a:bodyPr>
          <a:lstStyle/>
          <a:p>
            <a:pPr algn="ctr"/>
            <a:r>
              <a:rPr lang="en-US" sz="2800" b="1" dirty="0"/>
              <a:t>Premium Calculation</a:t>
            </a:r>
            <a:br>
              <a:rPr lang="en-US" sz="2800" b="1" dirty="0"/>
            </a:br>
            <a:r>
              <a:rPr lang="en-US" sz="2800" b="1" dirty="0"/>
              <a:t>(Tariff rate for Comprehensive-Two Wheelers)</a:t>
            </a:r>
            <a:br>
              <a:rPr lang="en-US" sz="2800" dirty="0"/>
            </a:br>
            <a:endParaRPr lang="en-US" sz="2800" dirty="0"/>
          </a:p>
        </p:txBody>
      </p:sp>
      <p:graphicFrame>
        <p:nvGraphicFramePr>
          <p:cNvPr id="4" name="Table 3">
            <a:extLst>
              <a:ext uri="{FF2B5EF4-FFF2-40B4-BE49-F238E27FC236}">
                <a16:creationId xmlns:a16="http://schemas.microsoft.com/office/drawing/2014/main" id="{DBDB7932-186F-4199-A3CB-D394DBFAB496}"/>
              </a:ext>
            </a:extLst>
          </p:cNvPr>
          <p:cNvGraphicFramePr>
            <a:graphicFrameLocks noGrp="1"/>
          </p:cNvGraphicFramePr>
          <p:nvPr>
            <p:extLst>
              <p:ext uri="{D42A27DB-BD31-4B8C-83A1-F6EECF244321}">
                <p14:modId xmlns:p14="http://schemas.microsoft.com/office/powerpoint/2010/main" val="3685306421"/>
              </p:ext>
            </p:extLst>
          </p:nvPr>
        </p:nvGraphicFramePr>
        <p:xfrm>
          <a:off x="1026724" y="1491327"/>
          <a:ext cx="8247277" cy="2412001"/>
        </p:xfrm>
        <a:graphic>
          <a:graphicData uri="http://schemas.openxmlformats.org/drawingml/2006/table">
            <a:tbl>
              <a:tblPr firstRow="1" firstCol="1" bandRow="1">
                <a:tableStyleId>{69012ECD-51FC-41F1-AA8D-1B2483CD663E}</a:tableStyleId>
              </a:tblPr>
              <a:tblGrid>
                <a:gridCol w="2018729">
                  <a:extLst>
                    <a:ext uri="{9D8B030D-6E8A-4147-A177-3AD203B41FA5}">
                      <a16:colId xmlns:a16="http://schemas.microsoft.com/office/drawing/2014/main" val="199941368"/>
                    </a:ext>
                  </a:extLst>
                </a:gridCol>
                <a:gridCol w="3114274">
                  <a:extLst>
                    <a:ext uri="{9D8B030D-6E8A-4147-A177-3AD203B41FA5}">
                      <a16:colId xmlns:a16="http://schemas.microsoft.com/office/drawing/2014/main" val="1633933485"/>
                    </a:ext>
                  </a:extLst>
                </a:gridCol>
                <a:gridCol w="3114274">
                  <a:extLst>
                    <a:ext uri="{9D8B030D-6E8A-4147-A177-3AD203B41FA5}">
                      <a16:colId xmlns:a16="http://schemas.microsoft.com/office/drawing/2014/main" val="2614828131"/>
                    </a:ext>
                  </a:extLst>
                </a:gridCol>
              </a:tblGrid>
              <a:tr h="589236">
                <a:tc>
                  <a:txBody>
                    <a:bodyPr/>
                    <a:lstStyle/>
                    <a:p>
                      <a:pPr marL="0" marR="0" algn="ctr">
                        <a:lnSpc>
                          <a:spcPct val="100000"/>
                        </a:lnSpc>
                      </a:pPr>
                      <a:r>
                        <a:rPr lang="en-US" sz="1600" dirty="0">
                          <a:solidFill>
                            <a:srgbClr val="0070C0"/>
                          </a:solidFill>
                          <a:effectLst/>
                          <a:latin typeface="Times New Roman" panose="02020603050405020304" pitchFamily="18" charset="0"/>
                          <a:cs typeface="Times New Roman" panose="02020603050405020304" pitchFamily="18" charset="0"/>
                        </a:rPr>
                        <a:t>CC  Range</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dirty="0">
                          <a:solidFill>
                            <a:srgbClr val="0070C0"/>
                          </a:solidFill>
                        </a:rPr>
                        <a:t>(cubic centimeters)</a:t>
                      </a:r>
                      <a:r>
                        <a:rPr lang="en-US" sz="1600" b="1" dirty="0"/>
                        <a:t> </a:t>
                      </a:r>
                      <a:r>
                        <a:rPr lang="en-US" sz="1600" dirty="0">
                          <a:solidFill>
                            <a:srgbClr val="0070C0"/>
                          </a:solidFill>
                          <a:effectLst/>
                          <a:latin typeface="Times New Roman" panose="02020603050405020304" pitchFamily="18" charset="0"/>
                          <a:cs typeface="Times New Roman" panose="02020603050405020304" pitchFamily="18" charset="0"/>
                        </a:rPr>
                        <a:t> </a:t>
                      </a:r>
                      <a:endParaRPr lang="en-US" sz="1600" b="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pPr>
                      <a:r>
                        <a:rPr lang="en-US" sz="1600" dirty="0">
                          <a:solidFill>
                            <a:srgbClr val="0070C0"/>
                          </a:solidFill>
                          <a:effectLst/>
                          <a:latin typeface="Times New Roman" panose="02020603050405020304" pitchFamily="18" charset="0"/>
                          <a:cs typeface="Times New Roman" panose="02020603050405020304" pitchFamily="18" charset="0"/>
                        </a:rPr>
                        <a:t>Basic Rate in BDT</a:t>
                      </a:r>
                      <a:endParaRPr lang="en-US" sz="1600" b="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200000"/>
                        </a:lnSpc>
                      </a:pPr>
                      <a:r>
                        <a:rPr lang="en-US" sz="1600" dirty="0">
                          <a:solidFill>
                            <a:srgbClr val="0070C0"/>
                          </a:solidFill>
                          <a:effectLst/>
                          <a:latin typeface="Times New Roman" panose="02020603050405020304" pitchFamily="18" charset="0"/>
                          <a:cs typeface="Times New Roman" panose="02020603050405020304" pitchFamily="18" charset="0"/>
                        </a:rPr>
                        <a:t>Act Liabilities Rate in BDT</a:t>
                      </a:r>
                      <a:endParaRPr lang="en-US" sz="1600" b="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3308095"/>
                  </a:ext>
                </a:extLst>
              </a:tr>
              <a:tr h="589236">
                <a:tc>
                  <a:txBody>
                    <a:bodyPr/>
                    <a:lstStyle/>
                    <a:p>
                      <a:pPr marL="0" marR="0" algn="ctr">
                        <a:lnSpc>
                          <a:spcPct val="115000"/>
                        </a:lnSpc>
                      </a:pPr>
                      <a:r>
                        <a:rPr lang="en-US" sz="1800" b="1" dirty="0">
                          <a:effectLst/>
                          <a:latin typeface="Arial" panose="020B0604020202020204" pitchFamily="34" charset="0"/>
                          <a:ea typeface="Times New Roman" panose="02020603050405020304" pitchFamily="18" charset="0"/>
                          <a:cs typeface="Arial" panose="020B0604020202020204" pitchFamily="34" charset="0"/>
                        </a:rPr>
                        <a:t>Up to 150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US" sz="1800" b="1" dirty="0">
                          <a:effectLst/>
                          <a:latin typeface="Arial" panose="020B0604020202020204" pitchFamily="34" charset="0"/>
                          <a:ea typeface="Times New Roman" panose="02020603050405020304" pitchFamily="18" charset="0"/>
                          <a:cs typeface="Arial" panose="020B0604020202020204" pitchFamily="34" charset="0"/>
                        </a:rPr>
                        <a:t>200/=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US" sz="1400" b="1" dirty="0">
                          <a:effectLst/>
                          <a:latin typeface="Arial" panose="020B0604020202020204" pitchFamily="34" charset="0"/>
                          <a:ea typeface="Times New Roman" panose="02020603050405020304" pitchFamily="18" charset="0"/>
                          <a:cs typeface="Arial" panose="020B0604020202020204" pitchFamily="34" charset="0"/>
                        </a:rPr>
                        <a:t>100/=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9356479"/>
                  </a:ext>
                </a:extLst>
              </a:tr>
              <a:tr h="644293">
                <a:tc>
                  <a:txBody>
                    <a:bodyPr/>
                    <a:lstStyle/>
                    <a:p>
                      <a:pPr marL="0" marR="0" algn="ctr">
                        <a:lnSpc>
                          <a:spcPct val="115000"/>
                        </a:lnSpc>
                      </a:pPr>
                      <a:r>
                        <a:rPr lang="en-US" sz="1800" b="1" dirty="0">
                          <a:effectLst/>
                          <a:latin typeface="Arial" panose="020B0604020202020204" pitchFamily="34" charset="0"/>
                          <a:ea typeface="Times New Roman" panose="02020603050405020304" pitchFamily="18" charset="0"/>
                          <a:cs typeface="Arial" panose="020B0604020202020204" pitchFamily="34" charset="0"/>
                        </a:rPr>
                        <a:t>151-250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US" sz="1800" b="1" dirty="0">
                          <a:effectLst/>
                          <a:latin typeface="Arial" panose="020B0604020202020204" pitchFamily="34" charset="0"/>
                          <a:ea typeface="Times New Roman" panose="02020603050405020304" pitchFamily="18" charset="0"/>
                          <a:cs typeface="Arial" panose="020B0604020202020204" pitchFamily="34" charset="0"/>
                        </a:rPr>
                        <a:t>275/=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US" sz="1400" b="1" dirty="0">
                          <a:effectLst/>
                          <a:latin typeface="Arial" panose="020B0604020202020204" pitchFamily="34" charset="0"/>
                          <a:ea typeface="Times New Roman" panose="02020603050405020304" pitchFamily="18" charset="0"/>
                          <a:cs typeface="Arial" panose="020B0604020202020204" pitchFamily="34" charset="0"/>
                        </a:rPr>
                        <a:t>130/=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2185726"/>
                  </a:ext>
                </a:extLst>
              </a:tr>
              <a:tr h="589236">
                <a:tc>
                  <a:txBody>
                    <a:bodyPr/>
                    <a:lstStyle/>
                    <a:p>
                      <a:pPr marL="0" marR="0" algn="ctr">
                        <a:lnSpc>
                          <a:spcPct val="115000"/>
                        </a:lnSpc>
                      </a:pPr>
                      <a:r>
                        <a:rPr lang="en-US" sz="1800" b="1" dirty="0">
                          <a:effectLst/>
                          <a:latin typeface="Arial" panose="020B0604020202020204" pitchFamily="34" charset="0"/>
                          <a:ea typeface="Times New Roman" panose="02020603050405020304" pitchFamily="18" charset="0"/>
                          <a:cs typeface="Arial" panose="020B0604020202020204" pitchFamily="34" charset="0"/>
                        </a:rPr>
                        <a:t>251-350 (above)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US" sz="1800" b="1" dirty="0">
                          <a:effectLst/>
                          <a:latin typeface="Arial" panose="020B0604020202020204" pitchFamily="34" charset="0"/>
                          <a:ea typeface="Times New Roman" panose="02020603050405020304" pitchFamily="18" charset="0"/>
                          <a:cs typeface="Arial" panose="020B0604020202020204" pitchFamily="34" charset="0"/>
                        </a:rPr>
                        <a:t>350/=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pPr>
                      <a:r>
                        <a:rPr lang="en-US" sz="1400" b="1" dirty="0">
                          <a:effectLst/>
                          <a:latin typeface="Arial" panose="020B0604020202020204" pitchFamily="34" charset="0"/>
                          <a:ea typeface="Times New Roman" panose="02020603050405020304" pitchFamily="18" charset="0"/>
                          <a:cs typeface="Arial" panose="020B0604020202020204" pitchFamily="34" charset="0"/>
                        </a:rPr>
                        <a:t>160/=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1531325"/>
                  </a:ext>
                </a:extLst>
              </a:tr>
            </a:tbl>
          </a:graphicData>
        </a:graphic>
      </p:graphicFrame>
      <p:sp>
        <p:nvSpPr>
          <p:cNvPr id="7" name="TextBox 6">
            <a:extLst>
              <a:ext uri="{FF2B5EF4-FFF2-40B4-BE49-F238E27FC236}">
                <a16:creationId xmlns:a16="http://schemas.microsoft.com/office/drawing/2014/main" id="{889EC206-E760-4F86-819F-6156303CC27A}"/>
              </a:ext>
            </a:extLst>
          </p:cNvPr>
          <p:cNvSpPr txBox="1"/>
          <p:nvPr/>
        </p:nvSpPr>
        <p:spPr>
          <a:xfrm>
            <a:off x="611849" y="4244284"/>
            <a:ext cx="8755075" cy="1114857"/>
          </a:xfrm>
          <a:prstGeom prst="rect">
            <a:avLst/>
          </a:prstGeom>
          <a:noFill/>
        </p:spPr>
        <p:txBody>
          <a:bodyPr wrap="square" rtlCol="0" anchor="ctr">
            <a:spAutoFit/>
          </a:bodyPr>
          <a:lstStyle/>
          <a:p>
            <a:pPr>
              <a:lnSpc>
                <a:spcPct val="200000"/>
              </a:lnSpc>
            </a:pPr>
            <a:r>
              <a:rPr lang="en-US" b="1" dirty="0">
                <a:solidFill>
                  <a:srgbClr val="C00000"/>
                </a:solidFill>
              </a:rPr>
              <a:t>Premium= {Net premium of Act Liabilities depend of CC + Basic own damage premium depend on CC + (Value of vehicle × </a:t>
            </a:r>
            <a:r>
              <a:rPr lang="en-US" b="1" dirty="0">
                <a:solidFill>
                  <a:srgbClr val="C00000"/>
                </a:solidFill>
                <a:highlight>
                  <a:srgbClr val="FFFF00"/>
                </a:highlight>
              </a:rPr>
              <a:t>2.15</a:t>
            </a:r>
            <a:r>
              <a:rPr lang="en-US" b="1" dirty="0">
                <a:solidFill>
                  <a:srgbClr val="C00000"/>
                </a:solidFill>
              </a:rPr>
              <a:t>%)} + 15% vat.</a:t>
            </a:r>
          </a:p>
        </p:txBody>
      </p:sp>
      <p:sp>
        <p:nvSpPr>
          <p:cNvPr id="3" name="TextBox 2">
            <a:extLst>
              <a:ext uri="{FF2B5EF4-FFF2-40B4-BE49-F238E27FC236}">
                <a16:creationId xmlns:a16="http://schemas.microsoft.com/office/drawing/2014/main" id="{46D8579E-670B-4278-ADA3-675B554ECF43}"/>
              </a:ext>
            </a:extLst>
          </p:cNvPr>
          <p:cNvSpPr txBox="1"/>
          <p:nvPr/>
        </p:nvSpPr>
        <p:spPr>
          <a:xfrm>
            <a:off x="674703" y="5530788"/>
            <a:ext cx="8158579" cy="923330"/>
          </a:xfrm>
          <a:prstGeom prst="rect">
            <a:avLst/>
          </a:prstGeom>
          <a:noFill/>
        </p:spPr>
        <p:txBody>
          <a:bodyPr wrap="square" rtlCol="0">
            <a:spAutoFit/>
          </a:bodyPr>
          <a:lstStyle/>
          <a:p>
            <a:pPr lvl="0"/>
            <a:r>
              <a:rPr lang="en-US" dirty="0">
                <a:solidFill>
                  <a:srgbClr val="C00000"/>
                </a:solidFill>
              </a:rPr>
              <a:t>** Rider rate………. BDT 50/=</a:t>
            </a:r>
          </a:p>
          <a:p>
            <a:pPr lvl="0"/>
            <a:r>
              <a:rPr lang="en-US" dirty="0">
                <a:solidFill>
                  <a:srgbClr val="C00000"/>
                </a:solidFill>
              </a:rPr>
              <a:t>** passenger……..BDT 45/=</a:t>
            </a:r>
          </a:p>
          <a:p>
            <a:endParaRPr lang="en-US" dirty="0">
              <a:solidFill>
                <a:srgbClr val="C00000"/>
              </a:solidFill>
            </a:endParaRPr>
          </a:p>
        </p:txBody>
      </p:sp>
    </p:spTree>
    <p:extLst>
      <p:ext uri="{BB962C8B-B14F-4D97-AF65-F5344CB8AC3E}">
        <p14:creationId xmlns:p14="http://schemas.microsoft.com/office/powerpoint/2010/main" val="452152693"/>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D4B5F-8BD1-40A2-9DC5-489615346DFD}"/>
              </a:ext>
            </a:extLst>
          </p:cNvPr>
          <p:cNvSpPr>
            <a:spLocks noGrp="1"/>
          </p:cNvSpPr>
          <p:nvPr>
            <p:ph type="title"/>
          </p:nvPr>
        </p:nvSpPr>
        <p:spPr/>
        <p:txBody>
          <a:bodyPr>
            <a:noAutofit/>
          </a:bodyPr>
          <a:lstStyle/>
          <a:p>
            <a:pPr algn="ctr"/>
            <a:r>
              <a:rPr lang="en-US" sz="2800" b="1" dirty="0">
                <a:latin typeface="Arial" panose="020B0604020202020204" pitchFamily="34" charset="0"/>
                <a:cs typeface="Arial" panose="020B0604020202020204" pitchFamily="34" charset="0"/>
              </a:rPr>
              <a:t>Premium Calculation</a:t>
            </a:r>
            <a:br>
              <a:rPr lang="en-US" sz="2800" b="1"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(Tariff rate for Comprehensive-Two Wheelers)</a:t>
            </a:r>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graphicFrame>
        <p:nvGraphicFramePr>
          <p:cNvPr id="4" name="Content Placeholder 5">
            <a:extLst>
              <a:ext uri="{FF2B5EF4-FFF2-40B4-BE49-F238E27FC236}">
                <a16:creationId xmlns:a16="http://schemas.microsoft.com/office/drawing/2014/main" id="{14FF874E-D9FE-40F6-A370-1A60DBCD481B}"/>
              </a:ext>
            </a:extLst>
          </p:cNvPr>
          <p:cNvGraphicFramePr>
            <a:graphicFrameLocks noGrp="1"/>
          </p:cNvGraphicFramePr>
          <p:nvPr>
            <p:ph idx="1"/>
            <p:extLst>
              <p:ext uri="{D42A27DB-BD31-4B8C-83A1-F6EECF244321}">
                <p14:modId xmlns:p14="http://schemas.microsoft.com/office/powerpoint/2010/main" val="3540412761"/>
              </p:ext>
            </p:extLst>
          </p:nvPr>
        </p:nvGraphicFramePr>
        <p:xfrm>
          <a:off x="2421385" y="1665000"/>
          <a:ext cx="6419850" cy="3528000"/>
        </p:xfrm>
        <a:graphic>
          <a:graphicData uri="http://schemas.openxmlformats.org/drawingml/2006/table">
            <a:tbl>
              <a:tblPr firstRow="1" bandRow="1">
                <a:tableStyleId>{9DCAF9ED-07DC-4A11-8D7F-57B35C25682E}</a:tableStyleId>
              </a:tblPr>
              <a:tblGrid>
                <a:gridCol w="3326445">
                  <a:extLst>
                    <a:ext uri="{9D8B030D-6E8A-4147-A177-3AD203B41FA5}">
                      <a16:colId xmlns:a16="http://schemas.microsoft.com/office/drawing/2014/main" val="20000"/>
                    </a:ext>
                  </a:extLst>
                </a:gridCol>
                <a:gridCol w="3093405">
                  <a:extLst>
                    <a:ext uri="{9D8B030D-6E8A-4147-A177-3AD203B41FA5}">
                      <a16:colId xmlns:a16="http://schemas.microsoft.com/office/drawing/2014/main" val="20001"/>
                    </a:ext>
                  </a:extLst>
                </a:gridCol>
              </a:tblGrid>
              <a:tr h="504000">
                <a:tc>
                  <a:txBody>
                    <a:bodyPr/>
                    <a:lstStyle/>
                    <a:p>
                      <a:pPr algn="ctr"/>
                      <a:r>
                        <a:rPr lang="en-US" sz="2400" dirty="0"/>
                        <a:t>Perils</a:t>
                      </a:r>
                      <a:endParaRPr lang="en-US" sz="2400" b="1" dirty="0">
                        <a:latin typeface="Arial" panose="020B0604020202020204" pitchFamily="34" charset="0"/>
                        <a:cs typeface="Arial" panose="020B0604020202020204" pitchFamily="34" charset="0"/>
                      </a:endParaRPr>
                    </a:p>
                  </a:txBody>
                  <a:tcPr marL="83325" marR="83325" anchor="ctr"/>
                </a:tc>
                <a:tc>
                  <a:txBody>
                    <a:bodyPr/>
                    <a:lstStyle/>
                    <a:p>
                      <a:pPr algn="ctr"/>
                      <a:r>
                        <a:rPr lang="en-US" sz="2400" dirty="0"/>
                        <a:t>Rates</a:t>
                      </a:r>
                      <a:endParaRPr lang="en-US" sz="24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0"/>
                  </a:ext>
                </a:extLst>
              </a:tr>
              <a:tr h="504000">
                <a:tc>
                  <a:txBody>
                    <a:bodyPr/>
                    <a:lstStyle/>
                    <a:p>
                      <a:pPr algn="ctr"/>
                      <a:r>
                        <a:rPr lang="en-US" dirty="0"/>
                        <a:t>Fire and Theft</a:t>
                      </a:r>
                      <a:endParaRPr lang="en-US" dirty="0">
                        <a:latin typeface="Arial" panose="020B0604020202020204" pitchFamily="34" charset="0"/>
                        <a:cs typeface="Arial" panose="020B0604020202020204" pitchFamily="34" charset="0"/>
                      </a:endParaRPr>
                    </a:p>
                  </a:txBody>
                  <a:tcPr marL="83325" marR="83325" anchor="ctr"/>
                </a:tc>
                <a:tc>
                  <a:txBody>
                    <a:bodyPr/>
                    <a:lstStyle/>
                    <a:p>
                      <a:pPr algn="ctr"/>
                      <a:r>
                        <a:rPr lang="en-US" dirty="0"/>
                        <a:t> 1.0%</a:t>
                      </a:r>
                      <a:endParaRPr 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1"/>
                  </a:ext>
                </a:extLst>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Riot</a:t>
                      </a:r>
                      <a:r>
                        <a:rPr lang="en-US" baseline="0" dirty="0"/>
                        <a:t> and Strike</a:t>
                      </a:r>
                      <a:endParaRPr lang="en-US" dirty="0">
                        <a:latin typeface="Arial" panose="020B0604020202020204" pitchFamily="34" charset="0"/>
                        <a:cs typeface="Arial" panose="020B0604020202020204" pitchFamily="34" charset="0"/>
                      </a:endParaRPr>
                    </a:p>
                  </a:txBody>
                  <a:tcPr marL="83325" marR="83325" anchor="ctr"/>
                </a:tc>
                <a:tc>
                  <a:txBody>
                    <a:bodyPr/>
                    <a:lstStyle/>
                    <a:p>
                      <a:pPr algn="ctr"/>
                      <a:r>
                        <a:rPr lang="en-US" dirty="0"/>
                        <a:t> 0.50%</a:t>
                      </a:r>
                      <a:endParaRPr 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2"/>
                  </a:ext>
                </a:extLst>
              </a:tr>
              <a:tr h="504000">
                <a:tc>
                  <a:txBody>
                    <a:bodyPr/>
                    <a:lstStyle/>
                    <a:p>
                      <a:pPr algn="ctr"/>
                      <a:r>
                        <a:rPr lang="en-US" dirty="0"/>
                        <a:t>Flood &amp; Cyclone</a:t>
                      </a:r>
                      <a:endParaRPr lang="en-US" dirty="0">
                        <a:latin typeface="Arial" panose="020B0604020202020204" pitchFamily="34" charset="0"/>
                        <a:cs typeface="Arial" panose="020B0604020202020204" pitchFamily="34" charset="0"/>
                      </a:endParaRPr>
                    </a:p>
                  </a:txBody>
                  <a:tcPr marL="83325" marR="83325" anchor="ctr"/>
                </a:tc>
                <a:tc>
                  <a:txBody>
                    <a:bodyPr/>
                    <a:lstStyle/>
                    <a:p>
                      <a:pPr algn="ctr"/>
                      <a:r>
                        <a:rPr lang="en-US" dirty="0"/>
                        <a:t> 0.25%</a:t>
                      </a:r>
                      <a:endParaRPr 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3"/>
                  </a:ext>
                </a:extLst>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Earthquake</a:t>
                      </a:r>
                      <a:endParaRPr lang="en-US" dirty="0">
                        <a:latin typeface="Arial" panose="020B0604020202020204" pitchFamily="34" charset="0"/>
                        <a:cs typeface="Arial" panose="020B0604020202020204" pitchFamily="34" charset="0"/>
                      </a:endParaRPr>
                    </a:p>
                  </a:txBody>
                  <a:tcPr marL="83325" marR="83325" anchor="ctr"/>
                </a:tc>
                <a:tc>
                  <a:txBody>
                    <a:bodyPr/>
                    <a:lstStyle/>
                    <a:p>
                      <a:pPr algn="ctr"/>
                      <a:r>
                        <a:rPr lang="en-US" dirty="0"/>
                        <a:t> 0.25%</a:t>
                      </a:r>
                      <a:endParaRPr 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4"/>
                  </a:ext>
                </a:extLst>
              </a:tr>
              <a:tr h="504000">
                <a:tc>
                  <a:txBody>
                    <a:bodyPr/>
                    <a:lstStyle/>
                    <a:p>
                      <a:pPr algn="ctr"/>
                      <a:r>
                        <a:rPr lang="en-US" dirty="0"/>
                        <a:t>Others</a:t>
                      </a:r>
                      <a:endParaRPr lang="en-US" dirty="0">
                        <a:latin typeface="Arial" panose="020B0604020202020204" pitchFamily="34" charset="0"/>
                        <a:cs typeface="Arial" panose="020B0604020202020204" pitchFamily="34" charset="0"/>
                      </a:endParaRPr>
                    </a:p>
                  </a:txBody>
                  <a:tcPr marL="83325" marR="83325" anchor="ctr"/>
                </a:tc>
                <a:tc>
                  <a:txBody>
                    <a:bodyPr/>
                    <a:lstStyle/>
                    <a:p>
                      <a:pPr algn="ctr"/>
                      <a:r>
                        <a:rPr lang="en-US" dirty="0"/>
                        <a:t> 0.15%</a:t>
                      </a:r>
                      <a:endParaRPr 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5"/>
                  </a:ext>
                </a:extLst>
              </a:tr>
              <a:tr h="504000">
                <a:tc>
                  <a:txBody>
                    <a:bodyPr/>
                    <a:lstStyle/>
                    <a:p>
                      <a:pPr algn="ctr"/>
                      <a:r>
                        <a:rPr lang="en-US" b="1" dirty="0"/>
                        <a:t>Total</a:t>
                      </a:r>
                      <a:endParaRPr lang="en-US" b="1" dirty="0">
                        <a:latin typeface="Arial" panose="020B0604020202020204" pitchFamily="34" charset="0"/>
                        <a:cs typeface="Arial" panose="020B0604020202020204" pitchFamily="34" charset="0"/>
                      </a:endParaRPr>
                    </a:p>
                  </a:txBody>
                  <a:tcPr marL="83325" marR="83325" anchor="ctr">
                    <a:solidFill>
                      <a:schemeClr val="accent2">
                        <a:lumMod val="40000"/>
                        <a:lumOff val="60000"/>
                      </a:schemeClr>
                    </a:solidFill>
                  </a:tcPr>
                </a:tc>
                <a:tc>
                  <a:txBody>
                    <a:bodyPr/>
                    <a:lstStyle/>
                    <a:p>
                      <a:pPr algn="ctr"/>
                      <a:r>
                        <a:rPr lang="en-US" b="1" dirty="0"/>
                        <a:t>2.15%</a:t>
                      </a:r>
                      <a:endParaRPr lang="en-US" b="1" dirty="0">
                        <a:latin typeface="Arial" panose="020B0604020202020204" pitchFamily="34" charset="0"/>
                        <a:cs typeface="Arial" panose="020B0604020202020204" pitchFamily="34" charset="0"/>
                      </a:endParaRPr>
                    </a:p>
                  </a:txBody>
                  <a:tcPr anchor="ctr">
                    <a:solidFill>
                      <a:schemeClr val="accent2">
                        <a:lumMod val="40000"/>
                        <a:lumOff val="60000"/>
                      </a:schemeClr>
                    </a:solidFill>
                  </a:tcPr>
                </a:tc>
                <a:extLst>
                  <a:ext uri="{0D108BD9-81ED-4DB2-BD59-A6C34878D82A}">
                    <a16:rowId xmlns:a16="http://schemas.microsoft.com/office/drawing/2014/main" val="10006"/>
                  </a:ext>
                </a:extLst>
              </a:tr>
            </a:tbl>
          </a:graphicData>
        </a:graphic>
      </p:graphicFrame>
      <p:pic>
        <p:nvPicPr>
          <p:cNvPr id="7" name="Picture 6">
            <a:extLst>
              <a:ext uri="{FF2B5EF4-FFF2-40B4-BE49-F238E27FC236}">
                <a16:creationId xmlns:a16="http://schemas.microsoft.com/office/drawing/2014/main" id="{4076CDDF-6E03-4382-9A8B-19337C1AAC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183" y="5943172"/>
            <a:ext cx="1626831" cy="914828"/>
          </a:xfrm>
          <a:prstGeom prst="rect">
            <a:avLst/>
          </a:prstGeom>
        </p:spPr>
      </p:pic>
    </p:spTree>
    <p:extLst>
      <p:ext uri="{BB962C8B-B14F-4D97-AF65-F5344CB8AC3E}">
        <p14:creationId xmlns:p14="http://schemas.microsoft.com/office/powerpoint/2010/main" val="63535684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DC964-7393-45F3-AB0B-F13364603F70}"/>
              </a:ext>
            </a:extLst>
          </p:cNvPr>
          <p:cNvSpPr>
            <a:spLocks noGrp="1"/>
          </p:cNvSpPr>
          <p:nvPr>
            <p:ph type="title"/>
          </p:nvPr>
        </p:nvSpPr>
        <p:spPr>
          <a:xfrm>
            <a:off x="-1" y="510602"/>
            <a:ext cx="10515600" cy="1325563"/>
          </a:xfrm>
        </p:spPr>
        <p:txBody>
          <a:bodyPr/>
          <a:lstStyle/>
          <a:p>
            <a:pPr algn="ctr"/>
            <a:r>
              <a:rPr lang="en-US" b="1" dirty="0"/>
              <a:t>NCB (No Claim Bonus-Comprehensive)</a:t>
            </a:r>
          </a:p>
        </p:txBody>
      </p:sp>
      <p:sp>
        <p:nvSpPr>
          <p:cNvPr id="3" name="Content Placeholder 2">
            <a:extLst>
              <a:ext uri="{FF2B5EF4-FFF2-40B4-BE49-F238E27FC236}">
                <a16:creationId xmlns:a16="http://schemas.microsoft.com/office/drawing/2014/main" id="{8D69080F-3F38-4E9C-873E-A2C737BEAD07}"/>
              </a:ext>
            </a:extLst>
          </p:cNvPr>
          <p:cNvSpPr>
            <a:spLocks noGrp="1"/>
          </p:cNvSpPr>
          <p:nvPr>
            <p:ph idx="1"/>
          </p:nvPr>
        </p:nvSpPr>
        <p:spPr>
          <a:xfrm>
            <a:off x="408432" y="5334961"/>
            <a:ext cx="10515600" cy="1450975"/>
          </a:xfrm>
        </p:spPr>
        <p:txBody>
          <a:bodyPr/>
          <a:lstStyle/>
          <a:p>
            <a:pPr algn="ctr"/>
            <a:r>
              <a:rPr lang="en-US" b="1" dirty="0"/>
              <a:t>A rebate in accordance with the following scale may be allowed by way of deduction from the premium required for the next renewal. No Claim Bonus applicable to own damage premium only.</a:t>
            </a:r>
          </a:p>
          <a:p>
            <a:pPr algn="ctr"/>
            <a:endParaRPr lang="en-US" b="1" dirty="0"/>
          </a:p>
        </p:txBody>
      </p:sp>
      <p:pic>
        <p:nvPicPr>
          <p:cNvPr id="5" name="Picture 4">
            <a:extLst>
              <a:ext uri="{FF2B5EF4-FFF2-40B4-BE49-F238E27FC236}">
                <a16:creationId xmlns:a16="http://schemas.microsoft.com/office/drawing/2014/main" id="{D5FB1D03-D72B-49C3-AD1E-2888CE997B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1141" y="1512277"/>
            <a:ext cx="7473315" cy="3608363"/>
          </a:xfrm>
          <a:prstGeom prst="rect">
            <a:avLst/>
          </a:prstGeom>
        </p:spPr>
      </p:pic>
    </p:spTree>
    <p:extLst>
      <p:ext uri="{BB962C8B-B14F-4D97-AF65-F5344CB8AC3E}">
        <p14:creationId xmlns:p14="http://schemas.microsoft.com/office/powerpoint/2010/main" val="240413185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4BFA4-B4FF-448D-877C-4E1BF2E50C5B}"/>
              </a:ext>
            </a:extLst>
          </p:cNvPr>
          <p:cNvSpPr>
            <a:spLocks noGrp="1"/>
          </p:cNvSpPr>
          <p:nvPr>
            <p:ph type="title"/>
          </p:nvPr>
        </p:nvSpPr>
        <p:spPr>
          <a:xfrm>
            <a:off x="138404" y="645044"/>
            <a:ext cx="10515600" cy="1149350"/>
          </a:xfrm>
        </p:spPr>
        <p:txBody>
          <a:bodyPr/>
          <a:lstStyle/>
          <a:p>
            <a:pPr algn="ctr"/>
            <a:r>
              <a:rPr lang="en-US" b="1" dirty="0"/>
              <a:t>NCB Process (Comprehensive)</a:t>
            </a:r>
          </a:p>
        </p:txBody>
      </p:sp>
      <p:graphicFrame>
        <p:nvGraphicFramePr>
          <p:cNvPr id="5" name="Table 4">
            <a:extLst>
              <a:ext uri="{FF2B5EF4-FFF2-40B4-BE49-F238E27FC236}">
                <a16:creationId xmlns:a16="http://schemas.microsoft.com/office/drawing/2014/main" id="{3E9918B3-9C02-42EA-9ADC-868261641DE0}"/>
              </a:ext>
            </a:extLst>
          </p:cNvPr>
          <p:cNvGraphicFramePr>
            <a:graphicFrameLocks noGrp="1"/>
          </p:cNvGraphicFramePr>
          <p:nvPr>
            <p:extLst>
              <p:ext uri="{D42A27DB-BD31-4B8C-83A1-F6EECF244321}">
                <p14:modId xmlns:p14="http://schemas.microsoft.com/office/powerpoint/2010/main" val="788221164"/>
              </p:ext>
            </p:extLst>
          </p:nvPr>
        </p:nvGraphicFramePr>
        <p:xfrm>
          <a:off x="291465" y="1514476"/>
          <a:ext cx="9401175" cy="5102224"/>
        </p:xfrm>
        <a:graphic>
          <a:graphicData uri="http://schemas.openxmlformats.org/drawingml/2006/table">
            <a:tbl>
              <a:tblPr firstRow="1" firstCol="1" bandRow="1">
                <a:tableStyleId>{E8B1032C-EA38-4F05-BA0D-38AFFFC7BED3}</a:tableStyleId>
              </a:tblPr>
              <a:tblGrid>
                <a:gridCol w="4841725">
                  <a:extLst>
                    <a:ext uri="{9D8B030D-6E8A-4147-A177-3AD203B41FA5}">
                      <a16:colId xmlns:a16="http://schemas.microsoft.com/office/drawing/2014/main" val="1370862390"/>
                    </a:ext>
                  </a:extLst>
                </a:gridCol>
                <a:gridCol w="1221890">
                  <a:extLst>
                    <a:ext uri="{9D8B030D-6E8A-4147-A177-3AD203B41FA5}">
                      <a16:colId xmlns:a16="http://schemas.microsoft.com/office/drawing/2014/main" val="2918242992"/>
                    </a:ext>
                  </a:extLst>
                </a:gridCol>
                <a:gridCol w="1591056">
                  <a:extLst>
                    <a:ext uri="{9D8B030D-6E8A-4147-A177-3AD203B41FA5}">
                      <a16:colId xmlns:a16="http://schemas.microsoft.com/office/drawing/2014/main" val="3825188789"/>
                    </a:ext>
                  </a:extLst>
                </a:gridCol>
                <a:gridCol w="1746504">
                  <a:extLst>
                    <a:ext uri="{9D8B030D-6E8A-4147-A177-3AD203B41FA5}">
                      <a16:colId xmlns:a16="http://schemas.microsoft.com/office/drawing/2014/main" val="4005497609"/>
                    </a:ext>
                  </a:extLst>
                </a:gridCol>
              </a:tblGrid>
              <a:tr h="1275556">
                <a:tc>
                  <a:txBody>
                    <a:bodyPr/>
                    <a:lstStyle/>
                    <a:p>
                      <a:pPr marL="0" marR="0" algn="ctr">
                        <a:lnSpc>
                          <a:spcPct val="250000"/>
                        </a:lnSpc>
                        <a:spcBef>
                          <a:spcPts val="0"/>
                        </a:spcBef>
                        <a:spcAft>
                          <a:spcPts val="0"/>
                        </a:spcAft>
                      </a:pPr>
                      <a:r>
                        <a:rPr lang="en-US" sz="1800" b="1" dirty="0">
                          <a:effectLst/>
                        </a:rPr>
                        <a:t>On Comprehensive Policy</a:t>
                      </a:r>
                      <a:endParaRPr lang="en-US" sz="16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a:txBody>
                    <a:bodyPr/>
                    <a:lstStyle/>
                    <a:p>
                      <a:pPr marL="0" marR="0" algn="ctr">
                        <a:lnSpc>
                          <a:spcPct val="250000"/>
                        </a:lnSpc>
                        <a:spcBef>
                          <a:spcPts val="0"/>
                        </a:spcBef>
                        <a:spcAft>
                          <a:spcPts val="0"/>
                        </a:spcAft>
                      </a:pPr>
                      <a:r>
                        <a:rPr lang="en-US" sz="1800" b="1" dirty="0">
                          <a:effectLst/>
                        </a:rPr>
                        <a:t>Private </a:t>
                      </a:r>
                    </a:p>
                    <a:p>
                      <a:pPr marL="0" marR="0" algn="ctr">
                        <a:lnSpc>
                          <a:spcPct val="250000"/>
                        </a:lnSpc>
                        <a:spcBef>
                          <a:spcPts val="0"/>
                        </a:spcBef>
                        <a:spcAft>
                          <a:spcPts val="0"/>
                        </a:spcAft>
                      </a:pPr>
                      <a:r>
                        <a:rPr lang="en-US" sz="1800" b="1" dirty="0">
                          <a:effectLst/>
                        </a:rPr>
                        <a:t>Vehicle</a:t>
                      </a:r>
                      <a:endParaRPr lang="en-US" sz="16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a:txBody>
                    <a:bodyPr/>
                    <a:lstStyle/>
                    <a:p>
                      <a:pPr marL="0" marR="0" algn="ctr">
                        <a:lnSpc>
                          <a:spcPct val="250000"/>
                        </a:lnSpc>
                        <a:spcBef>
                          <a:spcPts val="0"/>
                        </a:spcBef>
                        <a:spcAft>
                          <a:spcPts val="0"/>
                        </a:spcAft>
                      </a:pPr>
                      <a:r>
                        <a:rPr lang="en-US" sz="1800" b="1" dirty="0">
                          <a:effectLst/>
                        </a:rPr>
                        <a:t>Commercial </a:t>
                      </a:r>
                    </a:p>
                    <a:p>
                      <a:pPr marL="0" marR="0" algn="ctr">
                        <a:lnSpc>
                          <a:spcPct val="250000"/>
                        </a:lnSpc>
                        <a:spcBef>
                          <a:spcPts val="0"/>
                        </a:spcBef>
                        <a:spcAft>
                          <a:spcPts val="0"/>
                        </a:spcAft>
                      </a:pPr>
                      <a:r>
                        <a:rPr lang="en-US" sz="1800" b="1" dirty="0">
                          <a:effectLst/>
                        </a:rPr>
                        <a:t>Vehicle</a:t>
                      </a:r>
                      <a:endParaRPr lang="en-US" sz="16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a:txBody>
                    <a:bodyPr/>
                    <a:lstStyle/>
                    <a:p>
                      <a:pPr marL="0" marR="0" algn="ctr">
                        <a:lnSpc>
                          <a:spcPct val="250000"/>
                        </a:lnSpc>
                        <a:spcBef>
                          <a:spcPts val="0"/>
                        </a:spcBef>
                        <a:spcAft>
                          <a:spcPts val="0"/>
                        </a:spcAft>
                      </a:pPr>
                      <a:r>
                        <a:rPr lang="en-US" sz="1800" b="1" dirty="0">
                          <a:effectLst/>
                        </a:rPr>
                        <a:t>Motor </a:t>
                      </a:r>
                    </a:p>
                    <a:p>
                      <a:pPr marL="0" marR="0" algn="ctr">
                        <a:lnSpc>
                          <a:spcPct val="250000"/>
                        </a:lnSpc>
                        <a:spcBef>
                          <a:spcPts val="0"/>
                        </a:spcBef>
                        <a:spcAft>
                          <a:spcPts val="0"/>
                        </a:spcAft>
                      </a:pPr>
                      <a:r>
                        <a:rPr lang="en-US" sz="1800" b="1" dirty="0">
                          <a:effectLst/>
                        </a:rPr>
                        <a:t>Cycle</a:t>
                      </a:r>
                      <a:endParaRPr lang="en-US" sz="16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12481351"/>
                  </a:ext>
                </a:extLst>
              </a:tr>
              <a:tr h="1275556">
                <a:tc>
                  <a:txBody>
                    <a:bodyPr/>
                    <a:lstStyle/>
                    <a:p>
                      <a:pPr marL="0" marR="0" algn="ctr">
                        <a:lnSpc>
                          <a:spcPct val="250000"/>
                        </a:lnSpc>
                        <a:spcBef>
                          <a:spcPts val="0"/>
                        </a:spcBef>
                        <a:spcAft>
                          <a:spcPts val="0"/>
                        </a:spcAft>
                      </a:pPr>
                      <a:r>
                        <a:rPr lang="en-US" sz="1600" b="1" dirty="0">
                          <a:effectLst/>
                        </a:rPr>
                        <a:t>1st. Year. No claim made during the preceding year of insurance</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a:txBody>
                    <a:bodyPr/>
                    <a:lstStyle/>
                    <a:p>
                      <a:pPr marL="0" marR="0" algn="ctr">
                        <a:lnSpc>
                          <a:spcPct val="250000"/>
                        </a:lnSpc>
                        <a:spcBef>
                          <a:spcPts val="0"/>
                        </a:spcBef>
                        <a:spcAft>
                          <a:spcPts val="0"/>
                        </a:spcAft>
                      </a:pPr>
                      <a:r>
                        <a:rPr lang="en-US" sz="1600" b="1" dirty="0">
                          <a:effectLst/>
                        </a:rPr>
                        <a:t>30%</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a:txBody>
                    <a:bodyPr/>
                    <a:lstStyle/>
                    <a:p>
                      <a:pPr marL="0" marR="0" algn="ctr">
                        <a:lnSpc>
                          <a:spcPct val="250000"/>
                        </a:lnSpc>
                        <a:spcBef>
                          <a:spcPts val="0"/>
                        </a:spcBef>
                        <a:spcAft>
                          <a:spcPts val="0"/>
                        </a:spcAft>
                      </a:pPr>
                      <a:r>
                        <a:rPr lang="en-US" sz="1600" b="1">
                          <a:effectLst/>
                        </a:rPr>
                        <a:t>30%</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a:txBody>
                    <a:bodyPr/>
                    <a:lstStyle/>
                    <a:p>
                      <a:pPr marL="0" marR="0" algn="ctr">
                        <a:lnSpc>
                          <a:spcPct val="250000"/>
                        </a:lnSpc>
                        <a:spcBef>
                          <a:spcPts val="0"/>
                        </a:spcBef>
                        <a:spcAft>
                          <a:spcPts val="0"/>
                        </a:spcAft>
                      </a:pPr>
                      <a:r>
                        <a:rPr lang="en-US" sz="1600" b="1">
                          <a:effectLst/>
                        </a:rPr>
                        <a:t>15%</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1815833285"/>
                  </a:ext>
                </a:extLst>
              </a:tr>
              <a:tr h="1275556">
                <a:tc>
                  <a:txBody>
                    <a:bodyPr/>
                    <a:lstStyle/>
                    <a:p>
                      <a:pPr marL="0" marR="0" algn="ctr">
                        <a:lnSpc>
                          <a:spcPct val="250000"/>
                        </a:lnSpc>
                        <a:spcBef>
                          <a:spcPts val="0"/>
                        </a:spcBef>
                        <a:spcAft>
                          <a:spcPts val="1000"/>
                        </a:spcAft>
                      </a:pPr>
                      <a:r>
                        <a:rPr lang="en-US" sz="1600" b="1">
                          <a:effectLst/>
                        </a:rPr>
                        <a:t>2nd Year.  No claim made during the preceding 2 consecutive years of insurance</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a:txBody>
                    <a:bodyPr/>
                    <a:lstStyle/>
                    <a:p>
                      <a:pPr marL="0" marR="0" algn="ctr">
                        <a:lnSpc>
                          <a:spcPct val="250000"/>
                        </a:lnSpc>
                        <a:spcBef>
                          <a:spcPts val="0"/>
                        </a:spcBef>
                        <a:spcAft>
                          <a:spcPts val="0"/>
                        </a:spcAft>
                      </a:pPr>
                      <a:r>
                        <a:rPr lang="en-US" sz="1600" b="1" dirty="0">
                          <a:effectLst/>
                        </a:rPr>
                        <a:t>40%</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a:txBody>
                    <a:bodyPr/>
                    <a:lstStyle/>
                    <a:p>
                      <a:pPr marL="0" marR="0" algn="ctr">
                        <a:lnSpc>
                          <a:spcPct val="250000"/>
                        </a:lnSpc>
                        <a:spcBef>
                          <a:spcPts val="0"/>
                        </a:spcBef>
                        <a:spcAft>
                          <a:spcPts val="0"/>
                        </a:spcAft>
                      </a:pPr>
                      <a:r>
                        <a:rPr lang="en-US" sz="1600" b="1">
                          <a:effectLst/>
                        </a:rPr>
                        <a:t>40%</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a:txBody>
                    <a:bodyPr/>
                    <a:lstStyle/>
                    <a:p>
                      <a:pPr marL="0" marR="0" algn="ctr">
                        <a:lnSpc>
                          <a:spcPct val="250000"/>
                        </a:lnSpc>
                        <a:spcBef>
                          <a:spcPts val="0"/>
                        </a:spcBef>
                        <a:spcAft>
                          <a:spcPts val="0"/>
                        </a:spcAft>
                      </a:pPr>
                      <a:r>
                        <a:rPr lang="en-US" sz="1600" b="1">
                          <a:effectLst/>
                        </a:rPr>
                        <a:t>20%</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789701959"/>
                  </a:ext>
                </a:extLst>
              </a:tr>
              <a:tr h="1275556">
                <a:tc>
                  <a:txBody>
                    <a:bodyPr/>
                    <a:lstStyle/>
                    <a:p>
                      <a:pPr marL="0" marR="0" algn="ctr">
                        <a:lnSpc>
                          <a:spcPct val="250000"/>
                        </a:lnSpc>
                        <a:spcBef>
                          <a:spcPts val="0"/>
                        </a:spcBef>
                        <a:spcAft>
                          <a:spcPts val="1000"/>
                        </a:spcAft>
                      </a:pPr>
                      <a:r>
                        <a:rPr lang="en-US" sz="1600" b="1">
                          <a:effectLst/>
                        </a:rPr>
                        <a:t>3rd. Year. No claim made during the preceding 3 consecutive years of insurance</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a:txBody>
                    <a:bodyPr/>
                    <a:lstStyle/>
                    <a:p>
                      <a:pPr marL="0" marR="0" algn="ctr">
                        <a:lnSpc>
                          <a:spcPct val="250000"/>
                        </a:lnSpc>
                        <a:spcBef>
                          <a:spcPts val="0"/>
                        </a:spcBef>
                        <a:spcAft>
                          <a:spcPts val="0"/>
                        </a:spcAft>
                      </a:pPr>
                      <a:r>
                        <a:rPr lang="en-US" sz="1600" b="1" dirty="0">
                          <a:effectLst/>
                        </a:rPr>
                        <a:t>50%</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a:txBody>
                    <a:bodyPr/>
                    <a:lstStyle/>
                    <a:p>
                      <a:pPr marL="0" marR="0" algn="ctr">
                        <a:lnSpc>
                          <a:spcPct val="250000"/>
                        </a:lnSpc>
                        <a:spcBef>
                          <a:spcPts val="0"/>
                        </a:spcBef>
                        <a:spcAft>
                          <a:spcPts val="0"/>
                        </a:spcAft>
                      </a:pPr>
                      <a:r>
                        <a:rPr lang="en-US" sz="1600" b="1">
                          <a:effectLst/>
                        </a:rPr>
                        <a:t>50%</a:t>
                      </a:r>
                      <a:endParaRPr lang="en-US" sz="1400" b="1">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tc>
                  <a:txBody>
                    <a:bodyPr/>
                    <a:lstStyle/>
                    <a:p>
                      <a:pPr marL="0" marR="0" algn="ctr">
                        <a:lnSpc>
                          <a:spcPct val="250000"/>
                        </a:lnSpc>
                        <a:spcBef>
                          <a:spcPts val="0"/>
                        </a:spcBef>
                        <a:spcAft>
                          <a:spcPts val="0"/>
                        </a:spcAft>
                      </a:pPr>
                      <a:r>
                        <a:rPr lang="en-US" sz="1600" b="1" dirty="0">
                          <a:effectLst/>
                        </a:rPr>
                        <a:t>25%</a:t>
                      </a:r>
                      <a:endParaRPr lang="en-US" sz="14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436138912"/>
                  </a:ext>
                </a:extLst>
              </a:tr>
            </a:tbl>
          </a:graphicData>
        </a:graphic>
      </p:graphicFrame>
    </p:spTree>
    <p:extLst>
      <p:ext uri="{BB962C8B-B14F-4D97-AF65-F5344CB8AC3E}">
        <p14:creationId xmlns:p14="http://schemas.microsoft.com/office/powerpoint/2010/main" val="234785134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2AA86-A300-4D61-865B-2E03BEABF36E}"/>
              </a:ext>
            </a:extLst>
          </p:cNvPr>
          <p:cNvSpPr>
            <a:spLocks noGrp="1"/>
          </p:cNvSpPr>
          <p:nvPr>
            <p:ph type="title"/>
          </p:nvPr>
        </p:nvSpPr>
        <p:spPr/>
        <p:txBody>
          <a:bodyPr>
            <a:normAutofit/>
          </a:bodyPr>
          <a:lstStyle/>
          <a:p>
            <a:r>
              <a:rPr lang="en-US" dirty="0"/>
              <a:t>Automatic Vehicle Location System(AVLS) </a:t>
            </a:r>
            <a:r>
              <a:rPr lang="en-US" dirty="0">
                <a:latin typeface="Arial" panose="020B0604020202020204" pitchFamily="34" charset="0"/>
                <a:cs typeface="Arial" panose="020B0604020202020204" pitchFamily="34" charset="0"/>
              </a:rPr>
              <a:t>/ Flood, Cyclone &amp; Earthquake Deductible </a:t>
            </a:r>
            <a:endParaRPr lang="en-US" dirty="0"/>
          </a:p>
        </p:txBody>
      </p:sp>
      <p:sp>
        <p:nvSpPr>
          <p:cNvPr id="3" name="Content Placeholder 2">
            <a:extLst>
              <a:ext uri="{FF2B5EF4-FFF2-40B4-BE49-F238E27FC236}">
                <a16:creationId xmlns:a16="http://schemas.microsoft.com/office/drawing/2014/main" id="{C22FE46A-E5EA-4561-B7B6-0A9C1E74A3E1}"/>
              </a:ext>
            </a:extLst>
          </p:cNvPr>
          <p:cNvSpPr>
            <a:spLocks noGrp="1"/>
          </p:cNvSpPr>
          <p:nvPr>
            <p:ph idx="1"/>
          </p:nvPr>
        </p:nvSpPr>
        <p:spPr>
          <a:xfrm>
            <a:off x="677334" y="2160590"/>
            <a:ext cx="8596668" cy="1261242"/>
          </a:xfrm>
        </p:spPr>
        <p:txBody>
          <a:bodyPr>
            <a:normAutofit fontScale="92500" lnSpcReduction="10000"/>
          </a:bodyPr>
          <a:lstStyle/>
          <a:p>
            <a:r>
              <a:rPr lang="en-US" b="1" dirty="0">
                <a:solidFill>
                  <a:schemeClr val="accent2">
                    <a:lumMod val="75000"/>
                  </a:schemeClr>
                </a:solidFill>
              </a:rPr>
              <a:t>10% Discount will be applicable on Own Damage Premium. </a:t>
            </a:r>
          </a:p>
          <a:p>
            <a:r>
              <a:rPr lang="en-US" b="1" dirty="0">
                <a:solidFill>
                  <a:srgbClr val="7030A0"/>
                </a:solidFill>
              </a:rPr>
              <a:t>0.50 % will be deductible for exclusion of own damage Premium</a:t>
            </a:r>
          </a:p>
        </p:txBody>
      </p:sp>
      <p:pic>
        <p:nvPicPr>
          <p:cNvPr id="5" name="Picture 4">
            <a:extLst>
              <a:ext uri="{FF2B5EF4-FFF2-40B4-BE49-F238E27FC236}">
                <a16:creationId xmlns:a16="http://schemas.microsoft.com/office/drawing/2014/main" id="{01A604B9-EE12-49B0-B0D9-AA1514E76A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268211"/>
            <a:ext cx="5466184" cy="3421831"/>
          </a:xfrm>
          <a:prstGeom prst="rect">
            <a:avLst/>
          </a:prstGeom>
          <a:effectLst>
            <a:outerShdw blurRad="50800" dist="50800" dir="5400000" algn="ctr" rotWithShape="0">
              <a:srgbClr val="000000">
                <a:alpha val="41000"/>
              </a:srgbClr>
            </a:outerShdw>
          </a:effectLst>
        </p:spPr>
      </p:pic>
      <p:graphicFrame>
        <p:nvGraphicFramePr>
          <p:cNvPr id="6" name="Content Placeholder 3">
            <a:extLst>
              <a:ext uri="{FF2B5EF4-FFF2-40B4-BE49-F238E27FC236}">
                <a16:creationId xmlns:a16="http://schemas.microsoft.com/office/drawing/2014/main" id="{CA16CCE0-066A-49F5-B7A6-58852FBAD20D}"/>
              </a:ext>
            </a:extLst>
          </p:cNvPr>
          <p:cNvGraphicFramePr>
            <a:graphicFrameLocks/>
          </p:cNvGraphicFramePr>
          <p:nvPr>
            <p:extLst>
              <p:ext uri="{D42A27DB-BD31-4B8C-83A1-F6EECF244321}">
                <p14:modId xmlns:p14="http://schemas.microsoft.com/office/powerpoint/2010/main" val="1928938321"/>
              </p:ext>
            </p:extLst>
          </p:nvPr>
        </p:nvGraphicFramePr>
        <p:xfrm>
          <a:off x="7873476" y="3286701"/>
          <a:ext cx="4318524" cy="3421832"/>
        </p:xfrm>
        <a:graphic>
          <a:graphicData uri="http://schemas.openxmlformats.org/drawingml/2006/table">
            <a:tbl>
              <a:tblPr firstRow="1" bandRow="1">
                <a:tableStyleId>{8A107856-5554-42FB-B03E-39F5DBC370BA}</a:tableStyleId>
              </a:tblPr>
              <a:tblGrid>
                <a:gridCol w="1958372">
                  <a:extLst>
                    <a:ext uri="{9D8B030D-6E8A-4147-A177-3AD203B41FA5}">
                      <a16:colId xmlns:a16="http://schemas.microsoft.com/office/drawing/2014/main" val="20000"/>
                    </a:ext>
                  </a:extLst>
                </a:gridCol>
                <a:gridCol w="2360152">
                  <a:extLst>
                    <a:ext uri="{9D8B030D-6E8A-4147-A177-3AD203B41FA5}">
                      <a16:colId xmlns:a16="http://schemas.microsoft.com/office/drawing/2014/main" val="20001"/>
                    </a:ext>
                  </a:extLst>
                </a:gridCol>
              </a:tblGrid>
              <a:tr h="427729">
                <a:tc>
                  <a:txBody>
                    <a:bodyPr/>
                    <a:lstStyle/>
                    <a:p>
                      <a:pPr algn="ctr"/>
                      <a:r>
                        <a:rPr lang="en-US" dirty="0"/>
                        <a:t>Perils</a:t>
                      </a:r>
                    </a:p>
                  </a:txBody>
                  <a:tcPr marL="83325" marR="83325">
                    <a:solidFill>
                      <a:schemeClr val="accent1"/>
                    </a:solidFill>
                  </a:tcPr>
                </a:tc>
                <a:tc>
                  <a:txBody>
                    <a:bodyPr/>
                    <a:lstStyle/>
                    <a:p>
                      <a:pPr algn="ctr"/>
                      <a:r>
                        <a:rPr lang="en-US" b="1" dirty="0"/>
                        <a:t>Rates</a:t>
                      </a:r>
                    </a:p>
                  </a:txBody>
                  <a:tcPr marL="83325" marR="83325" anchor="ctr">
                    <a:solidFill>
                      <a:schemeClr val="accent1"/>
                    </a:solidFill>
                  </a:tcPr>
                </a:tc>
                <a:extLst>
                  <a:ext uri="{0D108BD9-81ED-4DB2-BD59-A6C34878D82A}">
                    <a16:rowId xmlns:a16="http://schemas.microsoft.com/office/drawing/2014/main" val="10000"/>
                  </a:ext>
                </a:extLst>
              </a:tr>
              <a:tr h="427729">
                <a:tc>
                  <a:txBody>
                    <a:bodyPr/>
                    <a:lstStyle/>
                    <a:p>
                      <a:pPr algn="ctr"/>
                      <a:r>
                        <a:rPr lang="en-US" b="1" dirty="0"/>
                        <a:t>Fire</a:t>
                      </a:r>
                      <a:endParaRPr lang="en-US" b="1" dirty="0">
                        <a:solidFill>
                          <a:srgbClr val="FF0000"/>
                        </a:solidFill>
                      </a:endParaRPr>
                    </a:p>
                  </a:txBody>
                  <a:tcPr marL="83325" marR="83325" anchor="ctr"/>
                </a:tc>
                <a:tc>
                  <a:txBody>
                    <a:bodyPr/>
                    <a:lstStyle/>
                    <a:p>
                      <a:pPr algn="ctr"/>
                      <a:r>
                        <a:rPr lang="en-US" b="1" dirty="0"/>
                        <a:t>0.50%</a:t>
                      </a:r>
                      <a:endParaRPr lang="en-US" b="1" dirty="0">
                        <a:solidFill>
                          <a:srgbClr val="FF0000"/>
                        </a:solidFill>
                      </a:endParaRPr>
                    </a:p>
                  </a:txBody>
                  <a:tcPr marL="83325" marR="83325" anchor="ctr"/>
                </a:tc>
                <a:extLst>
                  <a:ext uri="{0D108BD9-81ED-4DB2-BD59-A6C34878D82A}">
                    <a16:rowId xmlns:a16="http://schemas.microsoft.com/office/drawing/2014/main" val="10001"/>
                  </a:ext>
                </a:extLst>
              </a:tr>
              <a:tr h="427729">
                <a:tc>
                  <a:txBody>
                    <a:bodyPr/>
                    <a:lstStyle/>
                    <a:p>
                      <a:pPr algn="ctr"/>
                      <a:r>
                        <a:rPr lang="en-US" b="1" dirty="0"/>
                        <a:t>Theft</a:t>
                      </a:r>
                      <a:endParaRPr lang="en-US" b="1" dirty="0">
                        <a:solidFill>
                          <a:srgbClr val="FF0000"/>
                        </a:solidFill>
                      </a:endParaRPr>
                    </a:p>
                  </a:txBody>
                  <a:tcPr marL="83325" marR="83325" anchor="ctr"/>
                </a:tc>
                <a:tc>
                  <a:txBody>
                    <a:bodyPr/>
                    <a:lstStyle/>
                    <a:p>
                      <a:pPr algn="ctr"/>
                      <a:r>
                        <a:rPr lang="en-US" b="1" dirty="0"/>
                        <a:t>0.50%</a:t>
                      </a:r>
                      <a:endParaRPr lang="en-US" b="1" dirty="0">
                        <a:solidFill>
                          <a:srgbClr val="FF0000"/>
                        </a:solidFill>
                      </a:endParaRPr>
                    </a:p>
                  </a:txBody>
                  <a:tcPr marL="83325" marR="83325" anchor="ctr"/>
                </a:tc>
                <a:extLst>
                  <a:ext uri="{0D108BD9-81ED-4DB2-BD59-A6C34878D82A}">
                    <a16:rowId xmlns:a16="http://schemas.microsoft.com/office/drawing/2014/main" val="10002"/>
                  </a:ext>
                </a:extLst>
              </a:tr>
              <a:tr h="427729">
                <a:tc>
                  <a:txBody>
                    <a:bodyPr/>
                    <a:lstStyle/>
                    <a:p>
                      <a:pPr algn="ctr"/>
                      <a:r>
                        <a:rPr lang="en-US" b="1" dirty="0">
                          <a:highlight>
                            <a:srgbClr val="FFFF00"/>
                          </a:highlight>
                        </a:rPr>
                        <a:t>Earthquake</a:t>
                      </a:r>
                    </a:p>
                  </a:txBody>
                  <a:tcPr marL="83325" marR="83325" anchor="ctr"/>
                </a:tc>
                <a:tc>
                  <a:txBody>
                    <a:bodyPr/>
                    <a:lstStyle/>
                    <a:p>
                      <a:pPr algn="ctr"/>
                      <a:r>
                        <a:rPr lang="en-US" b="1" dirty="0">
                          <a:highlight>
                            <a:srgbClr val="FFFF00"/>
                          </a:highlight>
                        </a:rPr>
                        <a:t>0.0%</a:t>
                      </a:r>
                    </a:p>
                  </a:txBody>
                  <a:tcPr marL="83325" marR="83325" anchor="ctr"/>
                </a:tc>
                <a:extLst>
                  <a:ext uri="{0D108BD9-81ED-4DB2-BD59-A6C34878D82A}">
                    <a16:rowId xmlns:a16="http://schemas.microsoft.com/office/drawing/2014/main" val="10003"/>
                  </a:ext>
                </a:extLst>
              </a:tr>
              <a:tr h="427729">
                <a:tc>
                  <a:txBody>
                    <a:bodyPr/>
                    <a:lstStyle/>
                    <a:p>
                      <a:pPr algn="ctr"/>
                      <a:r>
                        <a:rPr lang="en-US" b="1" dirty="0">
                          <a:highlight>
                            <a:srgbClr val="FFFF00"/>
                          </a:highlight>
                        </a:rPr>
                        <a:t>Flood &amp; Cyclone </a:t>
                      </a:r>
                    </a:p>
                  </a:txBody>
                  <a:tcPr marL="83325" marR="83325" anchor="ctr"/>
                </a:tc>
                <a:tc>
                  <a:txBody>
                    <a:bodyPr/>
                    <a:lstStyle/>
                    <a:p>
                      <a:pPr algn="ctr"/>
                      <a:r>
                        <a:rPr lang="en-US" b="1" dirty="0">
                          <a:highlight>
                            <a:srgbClr val="FFFF00"/>
                          </a:highlight>
                        </a:rPr>
                        <a:t>0.0%</a:t>
                      </a:r>
                    </a:p>
                  </a:txBody>
                  <a:tcPr marL="83325" marR="83325" anchor="ctr"/>
                </a:tc>
                <a:extLst>
                  <a:ext uri="{0D108BD9-81ED-4DB2-BD59-A6C34878D82A}">
                    <a16:rowId xmlns:a16="http://schemas.microsoft.com/office/drawing/2014/main" val="10004"/>
                  </a:ext>
                </a:extLst>
              </a:tr>
              <a:tr h="427729">
                <a:tc>
                  <a:txBody>
                    <a:bodyPr/>
                    <a:lstStyle/>
                    <a:p>
                      <a:pPr algn="ctr"/>
                      <a:r>
                        <a:rPr lang="en-US" b="1" dirty="0"/>
                        <a:t>Riot</a:t>
                      </a:r>
                      <a:r>
                        <a:rPr lang="en-US" b="1" baseline="0" dirty="0"/>
                        <a:t> and Strike</a:t>
                      </a:r>
                      <a:endParaRPr lang="en-US" b="1" dirty="0"/>
                    </a:p>
                  </a:txBody>
                  <a:tcPr marL="83325" marR="83325" anchor="ctr"/>
                </a:tc>
                <a:tc>
                  <a:txBody>
                    <a:bodyPr/>
                    <a:lstStyle/>
                    <a:p>
                      <a:pPr algn="ctr"/>
                      <a:r>
                        <a:rPr lang="en-US" b="1" dirty="0"/>
                        <a:t>0.50%</a:t>
                      </a:r>
                    </a:p>
                  </a:txBody>
                  <a:tcPr marL="83325" marR="83325" anchor="ctr"/>
                </a:tc>
                <a:extLst>
                  <a:ext uri="{0D108BD9-81ED-4DB2-BD59-A6C34878D82A}">
                    <a16:rowId xmlns:a16="http://schemas.microsoft.com/office/drawing/2014/main" val="10005"/>
                  </a:ext>
                </a:extLst>
              </a:tr>
              <a:tr h="427729">
                <a:tc>
                  <a:txBody>
                    <a:bodyPr/>
                    <a:lstStyle/>
                    <a:p>
                      <a:pPr algn="ctr"/>
                      <a:r>
                        <a:rPr lang="en-US" b="1" dirty="0"/>
                        <a:t>Others</a:t>
                      </a:r>
                      <a:endParaRPr lang="en-US" b="1" dirty="0">
                        <a:solidFill>
                          <a:srgbClr val="FF0000"/>
                        </a:solidFill>
                      </a:endParaRPr>
                    </a:p>
                  </a:txBody>
                  <a:tcPr marL="83325" marR="83325" anchor="ctr"/>
                </a:tc>
                <a:tc>
                  <a:txBody>
                    <a:bodyPr/>
                    <a:lstStyle/>
                    <a:p>
                      <a:pPr algn="ctr"/>
                      <a:r>
                        <a:rPr lang="en-US" b="1" dirty="0"/>
                        <a:t>0.65%</a:t>
                      </a:r>
                      <a:endParaRPr lang="en-US" b="1" dirty="0">
                        <a:solidFill>
                          <a:srgbClr val="FF0000"/>
                        </a:solidFill>
                      </a:endParaRPr>
                    </a:p>
                  </a:txBody>
                  <a:tcPr marL="83325" marR="83325" anchor="ctr"/>
                </a:tc>
                <a:extLst>
                  <a:ext uri="{0D108BD9-81ED-4DB2-BD59-A6C34878D82A}">
                    <a16:rowId xmlns:a16="http://schemas.microsoft.com/office/drawing/2014/main" val="10006"/>
                  </a:ext>
                </a:extLst>
              </a:tr>
              <a:tr h="427729">
                <a:tc>
                  <a:txBody>
                    <a:bodyPr/>
                    <a:lstStyle/>
                    <a:p>
                      <a:pPr algn="ctr"/>
                      <a:r>
                        <a:rPr lang="en-US" b="1" dirty="0"/>
                        <a:t>Total</a:t>
                      </a:r>
                    </a:p>
                  </a:txBody>
                  <a:tcPr marL="83325" marR="83325" anchor="ctr">
                    <a:solidFill>
                      <a:schemeClr val="accent2">
                        <a:lumMod val="60000"/>
                        <a:lumOff val="40000"/>
                      </a:schemeClr>
                    </a:solidFill>
                  </a:tcPr>
                </a:tc>
                <a:tc>
                  <a:txBody>
                    <a:bodyPr/>
                    <a:lstStyle/>
                    <a:p>
                      <a:pPr algn="ctr"/>
                      <a:r>
                        <a:rPr lang="en-US" b="1" dirty="0"/>
                        <a:t>2.15%</a:t>
                      </a:r>
                    </a:p>
                  </a:txBody>
                  <a:tcPr marL="83325" marR="83325" anchor="ctr">
                    <a:solidFill>
                      <a:schemeClr val="accent2">
                        <a:lumMod val="60000"/>
                        <a:lumOff val="40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78194824"/>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48B27-360A-49A2-8C76-971F79A36FED}"/>
              </a:ext>
            </a:extLst>
          </p:cNvPr>
          <p:cNvSpPr>
            <a:spLocks noGrp="1"/>
          </p:cNvSpPr>
          <p:nvPr>
            <p:ph type="title"/>
          </p:nvPr>
        </p:nvSpPr>
        <p:spPr>
          <a:xfrm>
            <a:off x="95250" y="868396"/>
            <a:ext cx="9687942" cy="1101460"/>
          </a:xfrm>
        </p:spPr>
        <p:txBody>
          <a:bodyPr>
            <a:normAutofit fontScale="90000"/>
          </a:bodyPr>
          <a:lstStyle/>
          <a:p>
            <a:pPr algn="ctr"/>
            <a:r>
              <a:rPr lang="en-US" b="1" dirty="0"/>
              <a:t>Claim Loading for Private Vehicle &amp; Commercial Vehicle (Own Damage Section Only):</a:t>
            </a:r>
            <a:endParaRPr lang="en-US" dirty="0"/>
          </a:p>
        </p:txBody>
      </p:sp>
      <p:graphicFrame>
        <p:nvGraphicFramePr>
          <p:cNvPr id="4" name="Table 3">
            <a:extLst>
              <a:ext uri="{FF2B5EF4-FFF2-40B4-BE49-F238E27FC236}">
                <a16:creationId xmlns:a16="http://schemas.microsoft.com/office/drawing/2014/main" id="{8B4EB499-D9D5-4B74-95C2-AA5B15B91076}"/>
              </a:ext>
            </a:extLst>
          </p:cNvPr>
          <p:cNvGraphicFramePr>
            <a:graphicFrameLocks noGrp="1"/>
          </p:cNvGraphicFramePr>
          <p:nvPr>
            <p:extLst>
              <p:ext uri="{D42A27DB-BD31-4B8C-83A1-F6EECF244321}">
                <p14:modId xmlns:p14="http://schemas.microsoft.com/office/powerpoint/2010/main" val="2540924864"/>
              </p:ext>
            </p:extLst>
          </p:nvPr>
        </p:nvGraphicFramePr>
        <p:xfrm>
          <a:off x="397002" y="2057018"/>
          <a:ext cx="9057894" cy="4398552"/>
        </p:xfrm>
        <a:graphic>
          <a:graphicData uri="http://schemas.openxmlformats.org/drawingml/2006/table">
            <a:tbl>
              <a:tblPr firstRow="1" firstCol="1" bandRow="1">
                <a:tableStyleId>{16D9F66E-5EB9-4882-86FB-DCBF35E3C3E4}</a:tableStyleId>
              </a:tblPr>
              <a:tblGrid>
                <a:gridCol w="5594547">
                  <a:extLst>
                    <a:ext uri="{9D8B030D-6E8A-4147-A177-3AD203B41FA5}">
                      <a16:colId xmlns:a16="http://schemas.microsoft.com/office/drawing/2014/main" val="3065596573"/>
                    </a:ext>
                  </a:extLst>
                </a:gridCol>
                <a:gridCol w="1524819">
                  <a:extLst>
                    <a:ext uri="{9D8B030D-6E8A-4147-A177-3AD203B41FA5}">
                      <a16:colId xmlns:a16="http://schemas.microsoft.com/office/drawing/2014/main" val="2535062105"/>
                    </a:ext>
                  </a:extLst>
                </a:gridCol>
                <a:gridCol w="1938528">
                  <a:extLst>
                    <a:ext uri="{9D8B030D-6E8A-4147-A177-3AD203B41FA5}">
                      <a16:colId xmlns:a16="http://schemas.microsoft.com/office/drawing/2014/main" val="3258657108"/>
                    </a:ext>
                  </a:extLst>
                </a:gridCol>
              </a:tblGrid>
              <a:tr h="1088232">
                <a:tc>
                  <a:txBody>
                    <a:bodyPr/>
                    <a:lstStyle/>
                    <a:p>
                      <a:pPr marL="0" marR="0" algn="ctr">
                        <a:lnSpc>
                          <a:spcPct val="200000"/>
                        </a:lnSpc>
                        <a:spcBef>
                          <a:spcPts val="0"/>
                        </a:spcBef>
                        <a:spcAft>
                          <a:spcPts val="0"/>
                        </a:spcAft>
                      </a:pPr>
                      <a:r>
                        <a:rPr lang="en-US" sz="2000" dirty="0">
                          <a:effectLst/>
                        </a:rPr>
                        <a:t>Own Damage Section</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0" marR="0" algn="ctr">
                        <a:lnSpc>
                          <a:spcPct val="200000"/>
                        </a:lnSpc>
                        <a:spcBef>
                          <a:spcPts val="0"/>
                        </a:spcBef>
                        <a:spcAft>
                          <a:spcPts val="0"/>
                        </a:spcAft>
                      </a:pPr>
                      <a:r>
                        <a:rPr lang="en-US" sz="2000">
                          <a:effectLst/>
                        </a:rPr>
                        <a:t>Private Vehicle</a:t>
                      </a:r>
                      <a:endParaRPr lang="en-US" sz="1800" b="1">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0" marR="0" algn="ctr">
                        <a:lnSpc>
                          <a:spcPct val="200000"/>
                        </a:lnSpc>
                        <a:spcBef>
                          <a:spcPts val="0"/>
                        </a:spcBef>
                        <a:spcAft>
                          <a:spcPts val="0"/>
                        </a:spcAft>
                      </a:pPr>
                      <a:r>
                        <a:rPr lang="en-US" sz="2000">
                          <a:effectLst/>
                        </a:rPr>
                        <a:t>Commercial Vehicle</a:t>
                      </a:r>
                      <a:endParaRPr lang="en-US" sz="1800" b="1">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854723415"/>
                  </a:ext>
                </a:extLst>
              </a:tr>
              <a:tr h="1088232">
                <a:tc>
                  <a:txBody>
                    <a:bodyPr/>
                    <a:lstStyle/>
                    <a:p>
                      <a:pPr marL="0" marR="0" algn="ctr">
                        <a:lnSpc>
                          <a:spcPct val="200000"/>
                        </a:lnSpc>
                        <a:spcBef>
                          <a:spcPts val="0"/>
                        </a:spcBef>
                        <a:spcAft>
                          <a:spcPts val="1000"/>
                        </a:spcAft>
                      </a:pPr>
                      <a:r>
                        <a:rPr lang="en-US" sz="2000" dirty="0">
                          <a:effectLst/>
                        </a:rPr>
                        <a:t>One claim in preceding period of Insurance</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0" marR="0" algn="ctr">
                        <a:lnSpc>
                          <a:spcPct val="200000"/>
                        </a:lnSpc>
                        <a:spcBef>
                          <a:spcPts val="0"/>
                        </a:spcBef>
                        <a:spcAft>
                          <a:spcPts val="0"/>
                        </a:spcAft>
                      </a:pPr>
                      <a:r>
                        <a:rPr lang="en-US" sz="2000">
                          <a:effectLst/>
                        </a:rPr>
                        <a:t>30%</a:t>
                      </a:r>
                      <a:endParaRPr lang="en-US" sz="1800" b="1">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0" marR="0" algn="ctr">
                        <a:lnSpc>
                          <a:spcPct val="200000"/>
                        </a:lnSpc>
                        <a:spcBef>
                          <a:spcPts val="0"/>
                        </a:spcBef>
                        <a:spcAft>
                          <a:spcPts val="0"/>
                        </a:spcAft>
                      </a:pPr>
                      <a:r>
                        <a:rPr lang="en-US" sz="2000">
                          <a:effectLst/>
                        </a:rPr>
                        <a:t>30%</a:t>
                      </a:r>
                      <a:endParaRPr lang="en-US" sz="1800" b="1">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56229323"/>
                  </a:ext>
                </a:extLst>
              </a:tr>
              <a:tr h="1088232">
                <a:tc>
                  <a:txBody>
                    <a:bodyPr/>
                    <a:lstStyle/>
                    <a:p>
                      <a:pPr marL="0" marR="0" algn="ctr">
                        <a:lnSpc>
                          <a:spcPct val="200000"/>
                        </a:lnSpc>
                        <a:spcBef>
                          <a:spcPts val="0"/>
                        </a:spcBef>
                        <a:spcAft>
                          <a:spcPts val="1000"/>
                        </a:spcAft>
                      </a:pPr>
                      <a:r>
                        <a:rPr lang="en-US" sz="2000">
                          <a:effectLst/>
                        </a:rPr>
                        <a:t>Two claims in preceding period of Insurance</a:t>
                      </a:r>
                      <a:endParaRPr lang="en-US" sz="1800" b="1">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0" marR="0" algn="ctr">
                        <a:lnSpc>
                          <a:spcPct val="200000"/>
                        </a:lnSpc>
                        <a:spcBef>
                          <a:spcPts val="0"/>
                        </a:spcBef>
                        <a:spcAft>
                          <a:spcPts val="0"/>
                        </a:spcAft>
                      </a:pPr>
                      <a:r>
                        <a:rPr lang="en-US" sz="2000">
                          <a:effectLst/>
                        </a:rPr>
                        <a:t>40%</a:t>
                      </a:r>
                      <a:endParaRPr lang="en-US" sz="1800" b="1">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0" marR="0" algn="ctr">
                        <a:lnSpc>
                          <a:spcPct val="200000"/>
                        </a:lnSpc>
                        <a:spcBef>
                          <a:spcPts val="0"/>
                        </a:spcBef>
                        <a:spcAft>
                          <a:spcPts val="0"/>
                        </a:spcAft>
                      </a:pPr>
                      <a:r>
                        <a:rPr lang="en-US" sz="2000">
                          <a:effectLst/>
                        </a:rPr>
                        <a:t>40%</a:t>
                      </a:r>
                      <a:endParaRPr lang="en-US" sz="1800" b="1">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85240860"/>
                  </a:ext>
                </a:extLst>
              </a:tr>
              <a:tr h="1088232">
                <a:tc>
                  <a:txBody>
                    <a:bodyPr/>
                    <a:lstStyle/>
                    <a:p>
                      <a:pPr marL="0" marR="0" algn="ctr">
                        <a:lnSpc>
                          <a:spcPct val="200000"/>
                        </a:lnSpc>
                        <a:spcBef>
                          <a:spcPts val="0"/>
                        </a:spcBef>
                        <a:spcAft>
                          <a:spcPts val="1000"/>
                        </a:spcAft>
                      </a:pPr>
                      <a:r>
                        <a:rPr lang="en-US" sz="2000">
                          <a:effectLst/>
                        </a:rPr>
                        <a:t>Three claims in preceding period of Insurance</a:t>
                      </a:r>
                      <a:endParaRPr lang="en-US" sz="1800" b="1">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0" marR="0" algn="ctr">
                        <a:lnSpc>
                          <a:spcPct val="200000"/>
                        </a:lnSpc>
                        <a:spcBef>
                          <a:spcPts val="0"/>
                        </a:spcBef>
                        <a:spcAft>
                          <a:spcPts val="0"/>
                        </a:spcAft>
                      </a:pPr>
                      <a:r>
                        <a:rPr lang="en-US" sz="2000">
                          <a:effectLst/>
                        </a:rPr>
                        <a:t>50%</a:t>
                      </a:r>
                      <a:endParaRPr lang="en-US" sz="1800" b="1">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0" marR="0" algn="ctr">
                        <a:lnSpc>
                          <a:spcPct val="200000"/>
                        </a:lnSpc>
                        <a:spcBef>
                          <a:spcPts val="0"/>
                        </a:spcBef>
                        <a:spcAft>
                          <a:spcPts val="0"/>
                        </a:spcAft>
                      </a:pPr>
                      <a:r>
                        <a:rPr lang="en-US" sz="2000" dirty="0">
                          <a:effectLst/>
                        </a:rPr>
                        <a:t>50%</a:t>
                      </a:r>
                      <a:endParaRPr lang="en-US"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4041006039"/>
                  </a:ext>
                </a:extLst>
              </a:tr>
            </a:tbl>
          </a:graphicData>
        </a:graphic>
      </p:graphicFrame>
    </p:spTree>
    <p:extLst>
      <p:ext uri="{BB962C8B-B14F-4D97-AF65-F5344CB8AC3E}">
        <p14:creationId xmlns:p14="http://schemas.microsoft.com/office/powerpoint/2010/main" val="237550534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8C7C7-107A-4516-AB97-D6F6F7168134}"/>
              </a:ext>
            </a:extLst>
          </p:cNvPr>
          <p:cNvSpPr>
            <a:spLocks noGrp="1"/>
          </p:cNvSpPr>
          <p:nvPr>
            <p:ph type="title"/>
          </p:nvPr>
        </p:nvSpPr>
        <p:spPr>
          <a:xfrm>
            <a:off x="630180" y="539069"/>
            <a:ext cx="8596668" cy="890726"/>
          </a:xfrm>
        </p:spPr>
        <p:txBody>
          <a:bodyPr>
            <a:normAutofit fontScale="90000"/>
          </a:bodyPr>
          <a:lstStyle/>
          <a:p>
            <a:pPr algn="ctr"/>
            <a:r>
              <a:rPr lang="en-US" b="1" dirty="0">
                <a:latin typeface="Arial" panose="020B0604020202020204" pitchFamily="34" charset="0"/>
                <a:cs typeface="Arial" panose="020B0604020202020204" pitchFamily="34" charset="0"/>
              </a:rPr>
              <a:t>General Exclusion for Motor Insurance</a:t>
            </a:r>
          </a:p>
        </p:txBody>
      </p:sp>
      <p:sp>
        <p:nvSpPr>
          <p:cNvPr id="6" name="TextBox 5">
            <a:extLst>
              <a:ext uri="{FF2B5EF4-FFF2-40B4-BE49-F238E27FC236}">
                <a16:creationId xmlns:a16="http://schemas.microsoft.com/office/drawing/2014/main" id="{8A35E8D7-045F-4B83-9182-3FA04C353EA3}"/>
              </a:ext>
            </a:extLst>
          </p:cNvPr>
          <p:cNvSpPr txBox="1"/>
          <p:nvPr/>
        </p:nvSpPr>
        <p:spPr>
          <a:xfrm>
            <a:off x="761633" y="1138361"/>
            <a:ext cx="9424586" cy="5478936"/>
          </a:xfrm>
          <a:prstGeom prst="rect">
            <a:avLst/>
          </a:prstGeom>
          <a:noFill/>
        </p:spPr>
        <p:txBody>
          <a:bodyPr wrap="square" rtlCol="0">
            <a:spAutoFit/>
          </a:bodyPr>
          <a:lstStyle/>
          <a:p>
            <a:pPr marL="82296" indent="0" algn="just">
              <a:lnSpc>
                <a:spcPct val="200000"/>
              </a:lnSpc>
              <a:spcBef>
                <a:spcPts val="600"/>
              </a:spcBef>
              <a:buNone/>
            </a:pPr>
            <a:r>
              <a:rPr lang="en-US" sz="1600" b="1" u="sng" dirty="0">
                <a:solidFill>
                  <a:srgbClr val="0070C0"/>
                </a:solidFill>
                <a:latin typeface="Arial" panose="020B0604020202020204" pitchFamily="34" charset="0"/>
                <a:cs typeface="Arial" panose="020B0604020202020204" pitchFamily="34" charset="0"/>
              </a:rPr>
              <a:t>The insurer shall not be liable under this policy in respect of –</a:t>
            </a:r>
          </a:p>
          <a:p>
            <a:pPr marL="368046" indent="-285750" algn="just">
              <a:lnSpc>
                <a:spcPct val="200000"/>
              </a:lnSpc>
              <a:spcBef>
                <a:spcPts val="600"/>
              </a:spcBef>
              <a:buBlip>
                <a:blip r:embed="rId3"/>
              </a:buBlip>
            </a:pPr>
            <a:r>
              <a:rPr lang="en-US" sz="1600" b="1" dirty="0">
                <a:solidFill>
                  <a:srgbClr val="0070C0"/>
                </a:solidFill>
                <a:latin typeface="Arial" panose="020B0604020202020204" pitchFamily="34" charset="0"/>
                <a:cs typeface="Arial" panose="020B0604020202020204" pitchFamily="34" charset="0"/>
              </a:rPr>
              <a:t>Any accident, loss/damage and/or liability incurred outside the Geographical area,</a:t>
            </a:r>
          </a:p>
          <a:p>
            <a:pPr marL="368046" indent="-285750" algn="just">
              <a:lnSpc>
                <a:spcPct val="200000"/>
              </a:lnSpc>
              <a:spcBef>
                <a:spcPts val="600"/>
              </a:spcBef>
              <a:buBlip>
                <a:blip r:embed="rId3"/>
              </a:buBlip>
            </a:pPr>
            <a:r>
              <a:rPr lang="en-US" sz="1600" b="1" dirty="0">
                <a:solidFill>
                  <a:srgbClr val="0070C0"/>
                </a:solidFill>
                <a:latin typeface="Arial" panose="020B0604020202020204" pitchFamily="34" charset="0"/>
                <a:cs typeface="Arial" panose="020B0604020202020204" pitchFamily="34" charset="0"/>
              </a:rPr>
              <a:t>Any claim arising out of any contractual liability.</a:t>
            </a:r>
          </a:p>
          <a:p>
            <a:pPr marL="368046" indent="-285750" algn="just">
              <a:lnSpc>
                <a:spcPct val="200000"/>
              </a:lnSpc>
              <a:spcBef>
                <a:spcPts val="600"/>
              </a:spcBef>
              <a:buBlip>
                <a:blip r:embed="rId3"/>
              </a:buBlip>
            </a:pPr>
            <a:r>
              <a:rPr lang="en-US" sz="1600" b="1" dirty="0">
                <a:solidFill>
                  <a:srgbClr val="0070C0"/>
                </a:solidFill>
                <a:latin typeface="Arial" panose="020B0604020202020204" pitchFamily="34" charset="0"/>
                <a:cs typeface="Arial" panose="020B0604020202020204" pitchFamily="34" charset="0"/>
              </a:rPr>
              <a:t>Any loss damage which arise out for violating of the Limit to as use.</a:t>
            </a:r>
          </a:p>
          <a:p>
            <a:pPr marL="368046" indent="-285750" algn="just">
              <a:lnSpc>
                <a:spcPct val="200000"/>
              </a:lnSpc>
              <a:spcBef>
                <a:spcPts val="600"/>
              </a:spcBef>
              <a:buBlip>
                <a:blip r:embed="rId3"/>
              </a:buBlip>
            </a:pPr>
            <a:r>
              <a:rPr lang="en-US" sz="1600" b="1" dirty="0">
                <a:solidFill>
                  <a:srgbClr val="0070C0"/>
                </a:solidFill>
                <a:latin typeface="Arial" panose="020B0604020202020204" pitchFamily="34" charset="0"/>
                <a:cs typeface="Arial" panose="020B0604020202020204" pitchFamily="34" charset="0"/>
              </a:rPr>
              <a:t>Being driven by any person other than driver as stated in the policy schedule. .</a:t>
            </a:r>
          </a:p>
          <a:p>
            <a:pPr marL="368046" indent="-285750" algn="just">
              <a:lnSpc>
                <a:spcPct val="200000"/>
              </a:lnSpc>
              <a:spcBef>
                <a:spcPts val="600"/>
              </a:spcBef>
              <a:buBlip>
                <a:blip r:embed="rId3"/>
              </a:buBlip>
            </a:pPr>
            <a:r>
              <a:rPr lang="en-US" sz="1600" b="1" dirty="0">
                <a:solidFill>
                  <a:srgbClr val="0070C0"/>
                </a:solidFill>
                <a:latin typeface="Arial" panose="020B0604020202020204" pitchFamily="34" charset="0"/>
                <a:cs typeface="Arial" panose="020B0604020202020204" pitchFamily="34" charset="0"/>
              </a:rPr>
              <a:t>Any damage or loss due to nuclear weapons, war, Invasion, the act of foreign enemy, hostilities, or warlike activity ( whether declare or not), civil war, Mutiny, Rebellion, Military or usurp directly or indirectly. </a:t>
            </a:r>
          </a:p>
          <a:p>
            <a:pPr marL="368046" indent="-285750" algn="just">
              <a:lnSpc>
                <a:spcPct val="200000"/>
              </a:lnSpc>
              <a:spcBef>
                <a:spcPts val="600"/>
              </a:spcBef>
              <a:buBlip>
                <a:blip r:embed="rId3"/>
              </a:buBlip>
            </a:pPr>
            <a:r>
              <a:rPr lang="en-US" sz="1600" b="1" dirty="0">
                <a:solidFill>
                  <a:srgbClr val="0070C0"/>
                </a:solidFill>
                <a:latin typeface="Arial" panose="020B0604020202020204" pitchFamily="34" charset="0"/>
                <a:cs typeface="Arial" panose="020B0604020202020204" pitchFamily="34" charset="0"/>
              </a:rPr>
              <a:t>Any loss or damage arising from ionizing radiation or contamination.</a:t>
            </a:r>
          </a:p>
          <a:p>
            <a:pPr marL="368046" indent="-285750" algn="just">
              <a:lnSpc>
                <a:spcPct val="200000"/>
              </a:lnSpc>
              <a:spcBef>
                <a:spcPts val="600"/>
              </a:spcBef>
              <a:buBlip>
                <a:blip r:embed="rId3"/>
              </a:buBlip>
            </a:pPr>
            <a:r>
              <a:rPr lang="en-US" sz="1600" b="1" dirty="0">
                <a:solidFill>
                  <a:srgbClr val="0070C0"/>
                </a:solidFill>
                <a:latin typeface="Arial" panose="020B0604020202020204" pitchFamily="34" charset="0"/>
                <a:cs typeface="Arial" panose="020B0604020202020204" pitchFamily="34" charset="0"/>
              </a:rPr>
              <a:t>Terrorists Activity ( As per Circular).</a:t>
            </a:r>
          </a:p>
        </p:txBody>
      </p:sp>
    </p:spTree>
    <p:extLst>
      <p:ext uri="{BB962C8B-B14F-4D97-AF65-F5344CB8AC3E}">
        <p14:creationId xmlns:p14="http://schemas.microsoft.com/office/powerpoint/2010/main" val="394698741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811C6-D65A-4A15-B327-A288D043B173}"/>
              </a:ext>
            </a:extLst>
          </p:cNvPr>
          <p:cNvSpPr>
            <a:spLocks noGrp="1"/>
          </p:cNvSpPr>
          <p:nvPr>
            <p:ph type="title"/>
          </p:nvPr>
        </p:nvSpPr>
        <p:spPr>
          <a:xfrm>
            <a:off x="677334" y="609600"/>
            <a:ext cx="8596668" cy="668784"/>
          </a:xfrm>
        </p:spPr>
        <p:txBody>
          <a:bodyPr>
            <a:normAutofit fontScale="90000"/>
          </a:bodyPr>
          <a:lstStyle/>
          <a:p>
            <a:pPr algn="ctr"/>
            <a:r>
              <a:rPr lang="en-US" b="1" dirty="0">
                <a:latin typeface="Arial" panose="020B0604020202020204" pitchFamily="34" charset="0"/>
                <a:cs typeface="Arial" panose="020B0604020202020204" pitchFamily="34" charset="0"/>
              </a:rPr>
              <a:t>Basic Terms &amp; Condition:</a:t>
            </a:r>
          </a:p>
        </p:txBody>
      </p:sp>
      <p:sp>
        <p:nvSpPr>
          <p:cNvPr id="3" name="TextBox 2">
            <a:extLst>
              <a:ext uri="{FF2B5EF4-FFF2-40B4-BE49-F238E27FC236}">
                <a16:creationId xmlns:a16="http://schemas.microsoft.com/office/drawing/2014/main" id="{1CB01FEA-B85E-40CA-88B5-55A6F608C4B3}"/>
              </a:ext>
            </a:extLst>
          </p:cNvPr>
          <p:cNvSpPr txBox="1"/>
          <p:nvPr/>
        </p:nvSpPr>
        <p:spPr>
          <a:xfrm>
            <a:off x="677333" y="1278385"/>
            <a:ext cx="10981267" cy="4651979"/>
          </a:xfrm>
          <a:prstGeom prst="rect">
            <a:avLst/>
          </a:prstGeom>
          <a:noFill/>
        </p:spPr>
        <p:txBody>
          <a:bodyPr wrap="square" rtlCol="0">
            <a:spAutoFit/>
          </a:bodyPr>
          <a:lstStyle/>
          <a:p>
            <a:pPr marL="342900" indent="-342900" algn="just">
              <a:lnSpc>
                <a:spcPct val="150000"/>
              </a:lnSpc>
              <a:spcBef>
                <a:spcPts val="600"/>
              </a:spcBef>
              <a:buBlip>
                <a:blip r:embed="rId3"/>
              </a:buBlip>
            </a:pPr>
            <a:r>
              <a:rPr lang="en-US" sz="2000" dirty="0">
                <a:latin typeface="Arial" panose="020B0604020202020204" pitchFamily="34" charset="0"/>
                <a:cs typeface="Arial" panose="020B0604020202020204" pitchFamily="34" charset="0"/>
              </a:rPr>
              <a:t>Period of Insurance is for </a:t>
            </a:r>
            <a:r>
              <a:rPr lang="en-US" sz="2000" b="1" u="sng" dirty="0">
                <a:latin typeface="Arial" panose="020B0604020202020204" pitchFamily="34" charset="0"/>
                <a:cs typeface="Arial" panose="020B0604020202020204" pitchFamily="34" charset="0"/>
              </a:rPr>
              <a:t>one year (01)</a:t>
            </a:r>
            <a:r>
              <a:rPr lang="en-US" sz="2000" dirty="0">
                <a:latin typeface="Arial" panose="020B0604020202020204" pitchFamily="34" charset="0"/>
                <a:cs typeface="Arial" panose="020B0604020202020204" pitchFamily="34" charset="0"/>
              </a:rPr>
              <a:t> from the date to be advised.</a:t>
            </a:r>
          </a:p>
          <a:p>
            <a:pPr marL="342900" indent="-342900" algn="just">
              <a:lnSpc>
                <a:spcPct val="150000"/>
              </a:lnSpc>
              <a:spcBef>
                <a:spcPts val="600"/>
              </a:spcBef>
              <a:buBlip>
                <a:blip r:embed="rId3"/>
              </a:buBlip>
            </a:pPr>
            <a:r>
              <a:rPr lang="en-US" sz="2000" dirty="0">
                <a:latin typeface="Arial" panose="020B0604020202020204" pitchFamily="34" charset="0"/>
                <a:cs typeface="Arial" panose="020B0604020202020204" pitchFamily="34" charset="0"/>
              </a:rPr>
              <a:t> No Claim Bonus provides to the Insured for non claim for his/her Insured  Vehicle in the previous year of Insurance.</a:t>
            </a:r>
          </a:p>
          <a:p>
            <a:pPr marL="342900" indent="-342900" algn="just">
              <a:lnSpc>
                <a:spcPct val="150000"/>
              </a:lnSpc>
              <a:spcBef>
                <a:spcPts val="600"/>
              </a:spcBef>
              <a:buBlip>
                <a:blip r:embed="rId3"/>
              </a:buBlip>
            </a:pPr>
            <a:r>
              <a:rPr lang="en-US" sz="2000" dirty="0">
                <a:latin typeface="Arial" panose="020B0604020202020204" pitchFamily="34" charset="0"/>
                <a:cs typeface="Arial" panose="020B0604020202020204" pitchFamily="34" charset="0"/>
              </a:rPr>
              <a:t>If insured made any claim during his or her the preceding period of Insurance. Then loading is given on the Total Basic Premium to the Insured Vehicle.</a:t>
            </a:r>
          </a:p>
          <a:p>
            <a:pPr marL="342900" indent="-342900" algn="just">
              <a:lnSpc>
                <a:spcPct val="150000"/>
              </a:lnSpc>
              <a:spcBef>
                <a:spcPts val="600"/>
              </a:spcBef>
              <a:buBlip>
                <a:blip r:embed="rId3"/>
              </a:buBlip>
            </a:pPr>
            <a:r>
              <a:rPr lang="en-US" sz="2000" dirty="0">
                <a:latin typeface="Arial" panose="020B0604020202020204" pitchFamily="34" charset="0"/>
                <a:cs typeface="Arial" panose="020B0604020202020204" pitchFamily="34" charset="0"/>
              </a:rPr>
              <a:t>If Insured entitles the N.C.B, then one loading means two steps backwards of given N.C.B.</a:t>
            </a:r>
          </a:p>
          <a:p>
            <a:pPr marL="342900" indent="-342900" algn="just">
              <a:lnSpc>
                <a:spcPct val="150000"/>
              </a:lnSpc>
              <a:spcBef>
                <a:spcPts val="600"/>
              </a:spcBef>
              <a:buBlip>
                <a:blip r:embed="rId3"/>
              </a:buBlip>
            </a:pPr>
            <a:r>
              <a:rPr lang="en-US" sz="2000" dirty="0">
                <a:latin typeface="Arial" panose="020B0604020202020204" pitchFamily="34" charset="0"/>
                <a:cs typeface="Arial" panose="020B0604020202020204" pitchFamily="34" charset="0"/>
              </a:rPr>
              <a:t>All Motor Vehicle Act will be enforced as per Motor Vehicle Act, 2018.</a:t>
            </a:r>
          </a:p>
          <a:p>
            <a:pPr marL="342900" indent="-342900" algn="just">
              <a:lnSpc>
                <a:spcPct val="150000"/>
              </a:lnSpc>
              <a:spcBef>
                <a:spcPts val="600"/>
              </a:spcBef>
              <a:buBlip>
                <a:blip r:embed="rId3"/>
              </a:buBlip>
            </a:pPr>
            <a:endParaRPr lang="en-US" sz="2000" dirty="0">
              <a:latin typeface="Arial" panose="020B0604020202020204" pitchFamily="34" charset="0"/>
              <a:cs typeface="Arial" panose="020B0604020202020204" pitchFamily="34" charset="0"/>
            </a:endParaRPr>
          </a:p>
          <a:p>
            <a:pPr marL="342900" indent="-342900" algn="just">
              <a:lnSpc>
                <a:spcPct val="150000"/>
              </a:lnSpc>
              <a:spcBef>
                <a:spcPts val="600"/>
              </a:spcBef>
              <a:buBlip>
                <a:blip r:embed="rId3"/>
              </a:buBlip>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628741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C59D6-08A6-4201-A642-45A75FB34E0F}"/>
              </a:ext>
            </a:extLst>
          </p:cNvPr>
          <p:cNvSpPr>
            <a:spLocks noGrp="1"/>
          </p:cNvSpPr>
          <p:nvPr>
            <p:ph type="title"/>
          </p:nvPr>
        </p:nvSpPr>
        <p:spPr>
          <a:xfrm>
            <a:off x="677334" y="609601"/>
            <a:ext cx="8596668" cy="517864"/>
          </a:xfrm>
        </p:spPr>
        <p:txBody>
          <a:bodyPr anchor="ctr">
            <a:normAutofit/>
          </a:bodyPr>
          <a:lstStyle/>
          <a:p>
            <a:r>
              <a:rPr lang="en-US" sz="2800" b="1" dirty="0">
                <a:latin typeface="Arial" panose="020B0604020202020204" pitchFamily="34" charset="0"/>
                <a:cs typeface="Arial" panose="020B0604020202020204" pitchFamily="34" charset="0"/>
              </a:rPr>
              <a:t>Case Study:01</a:t>
            </a:r>
          </a:p>
        </p:txBody>
      </p:sp>
      <p:sp>
        <p:nvSpPr>
          <p:cNvPr id="3" name="TextBox 2">
            <a:extLst>
              <a:ext uri="{FF2B5EF4-FFF2-40B4-BE49-F238E27FC236}">
                <a16:creationId xmlns:a16="http://schemas.microsoft.com/office/drawing/2014/main" id="{FF01CEF1-D675-4055-98D5-B3B44C573A23}"/>
              </a:ext>
            </a:extLst>
          </p:cNvPr>
          <p:cNvSpPr txBox="1"/>
          <p:nvPr/>
        </p:nvSpPr>
        <p:spPr>
          <a:xfrm>
            <a:off x="656948" y="1544715"/>
            <a:ext cx="8469297" cy="2554545"/>
          </a:xfrm>
          <a:prstGeom prst="rect">
            <a:avLst/>
          </a:prstGeom>
          <a:noFill/>
        </p:spPr>
        <p:txBody>
          <a:bodyPr wrap="square" rtlCol="0">
            <a:spAutoFit/>
          </a:bodyPr>
          <a:lstStyle/>
          <a:p>
            <a:pPr algn="just"/>
            <a:r>
              <a:rPr lang="en-US" sz="2000" dirty="0">
                <a:latin typeface="Arial" panose="020B0604020202020204" pitchFamily="34" charset="0"/>
                <a:cs typeface="Arial" panose="020B0604020202020204" pitchFamily="34" charset="0"/>
              </a:rPr>
              <a:t>Mr. Tom Cruise wants to bring his private vehicle under Motor insurance Coverage. Here is the information about his car-</a:t>
            </a:r>
          </a:p>
          <a:p>
            <a:pPr marL="82296" indent="0" algn="just">
              <a:buNone/>
            </a:pPr>
            <a:r>
              <a:rPr lang="en-US" sz="2000" dirty="0">
                <a:latin typeface="Arial" panose="020B0604020202020204" pitchFamily="34" charset="0"/>
                <a:cs typeface="Arial" panose="020B0604020202020204" pitchFamily="34" charset="0"/>
              </a:rPr>
              <a:t>              Model   : Year 2020</a:t>
            </a:r>
          </a:p>
          <a:p>
            <a:pPr marL="82296" indent="0" algn="just">
              <a:buNone/>
            </a:pPr>
            <a:r>
              <a:rPr lang="en-US" sz="2000" dirty="0">
                <a:latin typeface="Arial" panose="020B0604020202020204" pitchFamily="34" charset="0"/>
                <a:cs typeface="Arial" panose="020B0604020202020204" pitchFamily="34" charset="0"/>
              </a:rPr>
              <a:t>              Value    : 25,00,000/-</a:t>
            </a:r>
          </a:p>
          <a:p>
            <a:pPr marL="82296" indent="0" algn="just">
              <a:buNone/>
            </a:pPr>
            <a:r>
              <a:rPr lang="en-US" sz="2000" dirty="0">
                <a:latin typeface="Arial" panose="020B0604020202020204" pitchFamily="34" charset="0"/>
                <a:cs typeface="Arial" panose="020B0604020202020204" pitchFamily="34" charset="0"/>
              </a:rPr>
              <a:t>	       CC   : 1500.</a:t>
            </a:r>
          </a:p>
          <a:p>
            <a:pPr marL="82296" indent="0" algn="just">
              <a:buNone/>
            </a:pPr>
            <a:r>
              <a:rPr lang="en-US" sz="2000" dirty="0">
                <a:latin typeface="Arial" panose="020B0604020202020204" pitchFamily="34" charset="0"/>
                <a:cs typeface="Arial" panose="020B0604020202020204" pitchFamily="34" charset="0"/>
              </a:rPr>
              <a:t>Seating Capacity : 05 (Including Driver)</a:t>
            </a:r>
          </a:p>
          <a:p>
            <a:pPr marL="82296" indent="0" algn="just">
              <a:buNone/>
            </a:pPr>
            <a:r>
              <a:rPr lang="en-US" sz="2000" dirty="0">
                <a:latin typeface="Arial" panose="020B0604020202020204" pitchFamily="34" charset="0"/>
                <a:cs typeface="Arial" panose="020B0604020202020204" pitchFamily="34" charset="0"/>
              </a:rPr>
              <a:t>And he wants to bring his vehicle under the cover of  Comprehensive Motor Insurance in 2021 &amp; he took first time take this coverage. </a:t>
            </a:r>
          </a:p>
        </p:txBody>
      </p:sp>
      <p:pic>
        <p:nvPicPr>
          <p:cNvPr id="5" name="Picture 4">
            <a:extLst>
              <a:ext uri="{FF2B5EF4-FFF2-40B4-BE49-F238E27FC236}">
                <a16:creationId xmlns:a16="http://schemas.microsoft.com/office/drawing/2014/main" id="{030B2C60-5ADC-40FE-BD17-1B56DF3D00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2303" y="4846098"/>
            <a:ext cx="2682536" cy="2011902"/>
          </a:xfrm>
          <a:prstGeom prst="rect">
            <a:avLst/>
          </a:prstGeom>
        </p:spPr>
      </p:pic>
    </p:spTree>
    <p:extLst>
      <p:ext uri="{BB962C8B-B14F-4D97-AF65-F5344CB8AC3E}">
        <p14:creationId xmlns:p14="http://schemas.microsoft.com/office/powerpoint/2010/main" val="2964738930"/>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C59D6-08A6-4201-A642-45A75FB34E0F}"/>
              </a:ext>
            </a:extLst>
          </p:cNvPr>
          <p:cNvSpPr>
            <a:spLocks noGrp="1"/>
          </p:cNvSpPr>
          <p:nvPr>
            <p:ph type="title"/>
          </p:nvPr>
        </p:nvSpPr>
        <p:spPr>
          <a:xfrm>
            <a:off x="677334" y="609601"/>
            <a:ext cx="8596668" cy="517864"/>
          </a:xfrm>
        </p:spPr>
        <p:txBody>
          <a:bodyPr anchor="ctr">
            <a:normAutofit/>
          </a:bodyPr>
          <a:lstStyle/>
          <a:p>
            <a:r>
              <a:rPr lang="en-US" sz="2800" b="1" dirty="0">
                <a:latin typeface="Arial" panose="020B0604020202020204" pitchFamily="34" charset="0"/>
                <a:cs typeface="Arial" panose="020B0604020202020204" pitchFamily="34" charset="0"/>
              </a:rPr>
              <a:t>Case Study:02</a:t>
            </a:r>
          </a:p>
        </p:txBody>
      </p:sp>
      <p:sp>
        <p:nvSpPr>
          <p:cNvPr id="3" name="TextBox 2">
            <a:extLst>
              <a:ext uri="{FF2B5EF4-FFF2-40B4-BE49-F238E27FC236}">
                <a16:creationId xmlns:a16="http://schemas.microsoft.com/office/drawing/2014/main" id="{FF01CEF1-D675-4055-98D5-B3B44C573A23}"/>
              </a:ext>
            </a:extLst>
          </p:cNvPr>
          <p:cNvSpPr txBox="1"/>
          <p:nvPr/>
        </p:nvSpPr>
        <p:spPr>
          <a:xfrm>
            <a:off x="656948" y="1544715"/>
            <a:ext cx="8469297" cy="2862322"/>
          </a:xfrm>
          <a:prstGeom prst="rect">
            <a:avLst/>
          </a:prstGeom>
          <a:noFill/>
        </p:spPr>
        <p:txBody>
          <a:bodyPr wrap="square" rtlCol="0">
            <a:spAutoFit/>
          </a:bodyPr>
          <a:lstStyle/>
          <a:p>
            <a:pPr algn="just"/>
            <a:r>
              <a:rPr lang="en-US" sz="2000" dirty="0">
                <a:latin typeface="Arial" panose="020B0604020202020204" pitchFamily="34" charset="0"/>
                <a:cs typeface="Arial" panose="020B0604020202020204" pitchFamily="34" charset="0"/>
              </a:rPr>
              <a:t>Mr. Tom Cruise wants to bring his private vehicle under Motor insurance Coverage. Here is the information about his car-</a:t>
            </a:r>
          </a:p>
          <a:p>
            <a:pPr marL="82296" indent="0" algn="just">
              <a:buNone/>
            </a:pPr>
            <a:r>
              <a:rPr lang="en-US" sz="2000" dirty="0">
                <a:latin typeface="Arial" panose="020B0604020202020204" pitchFamily="34" charset="0"/>
                <a:cs typeface="Arial" panose="020B0604020202020204" pitchFamily="34" charset="0"/>
              </a:rPr>
              <a:t>              Model   : Year 2020</a:t>
            </a:r>
          </a:p>
          <a:p>
            <a:pPr marL="82296" indent="0" algn="just">
              <a:buNone/>
            </a:pPr>
            <a:r>
              <a:rPr lang="en-US" sz="2000" dirty="0">
                <a:latin typeface="Arial" panose="020B0604020202020204" pitchFamily="34" charset="0"/>
                <a:cs typeface="Arial" panose="020B0604020202020204" pitchFamily="34" charset="0"/>
              </a:rPr>
              <a:t>              Value    : 25,00,000/-</a:t>
            </a:r>
          </a:p>
          <a:p>
            <a:pPr marL="82296" indent="0" algn="just">
              <a:buNone/>
            </a:pPr>
            <a:r>
              <a:rPr lang="en-US" sz="2000" dirty="0">
                <a:latin typeface="Arial" panose="020B0604020202020204" pitchFamily="34" charset="0"/>
                <a:cs typeface="Arial" panose="020B0604020202020204" pitchFamily="34" charset="0"/>
              </a:rPr>
              <a:t>	       CC   : 1500.</a:t>
            </a:r>
          </a:p>
          <a:p>
            <a:pPr marL="82296" indent="0" algn="just">
              <a:buNone/>
            </a:pPr>
            <a:r>
              <a:rPr lang="en-US" sz="2000" dirty="0">
                <a:latin typeface="Arial" panose="020B0604020202020204" pitchFamily="34" charset="0"/>
                <a:cs typeface="Arial" panose="020B0604020202020204" pitchFamily="34" charset="0"/>
              </a:rPr>
              <a:t>Seating Capacity : 05 (Including Driver)</a:t>
            </a:r>
          </a:p>
          <a:p>
            <a:pPr marL="82296" indent="0" algn="just">
              <a:buNone/>
            </a:pPr>
            <a:r>
              <a:rPr lang="en-US" sz="2000" dirty="0">
                <a:latin typeface="Arial" panose="020B0604020202020204" pitchFamily="34" charset="0"/>
                <a:cs typeface="Arial" panose="020B0604020202020204" pitchFamily="34" charset="0"/>
              </a:rPr>
              <a:t>And he wants to bring his vehicle under the cover of  Comprehensive Motor Insurance in 2022 &amp; he took first time take this coverage 2021 &amp; no claim that year. </a:t>
            </a:r>
          </a:p>
        </p:txBody>
      </p:sp>
      <p:pic>
        <p:nvPicPr>
          <p:cNvPr id="4" name="Picture 3">
            <a:extLst>
              <a:ext uri="{FF2B5EF4-FFF2-40B4-BE49-F238E27FC236}">
                <a16:creationId xmlns:a16="http://schemas.microsoft.com/office/drawing/2014/main" id="{E4AC119F-DDD3-439E-84A9-1F1C8EF920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2303" y="4846098"/>
            <a:ext cx="2682536" cy="2011902"/>
          </a:xfrm>
          <a:prstGeom prst="rect">
            <a:avLst/>
          </a:prstGeom>
        </p:spPr>
      </p:pic>
    </p:spTree>
    <p:extLst>
      <p:ext uri="{BB962C8B-B14F-4D97-AF65-F5344CB8AC3E}">
        <p14:creationId xmlns:p14="http://schemas.microsoft.com/office/powerpoint/2010/main" val="40060861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C59D6-08A6-4201-A642-45A75FB34E0F}"/>
              </a:ext>
            </a:extLst>
          </p:cNvPr>
          <p:cNvSpPr>
            <a:spLocks noGrp="1"/>
          </p:cNvSpPr>
          <p:nvPr>
            <p:ph type="title"/>
          </p:nvPr>
        </p:nvSpPr>
        <p:spPr>
          <a:xfrm>
            <a:off x="677334" y="609601"/>
            <a:ext cx="8596668" cy="517864"/>
          </a:xfrm>
        </p:spPr>
        <p:txBody>
          <a:bodyPr anchor="ctr">
            <a:normAutofit/>
          </a:bodyPr>
          <a:lstStyle/>
          <a:p>
            <a:r>
              <a:rPr lang="en-US" sz="2800" b="1" dirty="0">
                <a:latin typeface="Arial" panose="020B0604020202020204" pitchFamily="34" charset="0"/>
                <a:cs typeface="Arial" panose="020B0604020202020204" pitchFamily="34" charset="0"/>
              </a:rPr>
              <a:t>Case Study:03</a:t>
            </a:r>
          </a:p>
        </p:txBody>
      </p:sp>
      <p:sp>
        <p:nvSpPr>
          <p:cNvPr id="3" name="TextBox 2">
            <a:extLst>
              <a:ext uri="{FF2B5EF4-FFF2-40B4-BE49-F238E27FC236}">
                <a16:creationId xmlns:a16="http://schemas.microsoft.com/office/drawing/2014/main" id="{FF01CEF1-D675-4055-98D5-B3B44C573A23}"/>
              </a:ext>
            </a:extLst>
          </p:cNvPr>
          <p:cNvSpPr txBox="1"/>
          <p:nvPr/>
        </p:nvSpPr>
        <p:spPr>
          <a:xfrm>
            <a:off x="656948" y="1544715"/>
            <a:ext cx="8469297" cy="2862322"/>
          </a:xfrm>
          <a:prstGeom prst="rect">
            <a:avLst/>
          </a:prstGeom>
          <a:noFill/>
        </p:spPr>
        <p:txBody>
          <a:bodyPr wrap="square" rtlCol="0">
            <a:spAutoFit/>
          </a:bodyPr>
          <a:lstStyle/>
          <a:p>
            <a:pPr algn="just"/>
            <a:r>
              <a:rPr lang="en-US" sz="2000" dirty="0">
                <a:latin typeface="Arial" panose="020B0604020202020204" pitchFamily="34" charset="0"/>
                <a:cs typeface="Arial" panose="020B0604020202020204" pitchFamily="34" charset="0"/>
              </a:rPr>
              <a:t>Mr. Tom Cruise wants to bring his private vehicle under Motor insurance Coverage. Here is the information about his car-</a:t>
            </a:r>
          </a:p>
          <a:p>
            <a:pPr marL="82296" indent="0" algn="just">
              <a:buNone/>
            </a:pPr>
            <a:r>
              <a:rPr lang="en-US" sz="2000" dirty="0">
                <a:latin typeface="Arial" panose="020B0604020202020204" pitchFamily="34" charset="0"/>
                <a:cs typeface="Arial" panose="020B0604020202020204" pitchFamily="34" charset="0"/>
              </a:rPr>
              <a:t>              Model   : Year 2020</a:t>
            </a:r>
          </a:p>
          <a:p>
            <a:pPr marL="82296" indent="0" algn="just">
              <a:buNone/>
            </a:pPr>
            <a:r>
              <a:rPr lang="en-US" sz="2000" dirty="0">
                <a:latin typeface="Arial" panose="020B0604020202020204" pitchFamily="34" charset="0"/>
                <a:cs typeface="Arial" panose="020B0604020202020204" pitchFamily="34" charset="0"/>
              </a:rPr>
              <a:t>              Value    : 25,00,000/-</a:t>
            </a:r>
          </a:p>
          <a:p>
            <a:pPr marL="82296" indent="0" algn="just">
              <a:buNone/>
            </a:pPr>
            <a:r>
              <a:rPr lang="en-US" sz="2000" dirty="0">
                <a:latin typeface="Arial" panose="020B0604020202020204" pitchFamily="34" charset="0"/>
                <a:cs typeface="Arial" panose="020B0604020202020204" pitchFamily="34" charset="0"/>
              </a:rPr>
              <a:t>	       CC   : 1500.</a:t>
            </a:r>
          </a:p>
          <a:p>
            <a:pPr marL="82296" indent="0" algn="just">
              <a:buNone/>
            </a:pPr>
            <a:r>
              <a:rPr lang="en-US" sz="2000" dirty="0">
                <a:latin typeface="Arial" panose="020B0604020202020204" pitchFamily="34" charset="0"/>
                <a:cs typeface="Arial" panose="020B0604020202020204" pitchFamily="34" charset="0"/>
              </a:rPr>
              <a:t>Seating Capacity : 05 (Including Driver)</a:t>
            </a:r>
          </a:p>
          <a:p>
            <a:pPr marL="82296" indent="0" algn="just">
              <a:buNone/>
            </a:pPr>
            <a:r>
              <a:rPr lang="en-US" sz="2000" dirty="0">
                <a:latin typeface="Arial" panose="020B0604020202020204" pitchFamily="34" charset="0"/>
                <a:cs typeface="Arial" panose="020B0604020202020204" pitchFamily="34" charset="0"/>
              </a:rPr>
              <a:t>And he wants to Continue his vehicle under the cover of  Comprehensive Motor Insurance in 2023 &amp; he took first time take this coverage 2021 &amp; no claim that last two years. </a:t>
            </a:r>
          </a:p>
        </p:txBody>
      </p:sp>
      <p:pic>
        <p:nvPicPr>
          <p:cNvPr id="4" name="Picture 3">
            <a:extLst>
              <a:ext uri="{FF2B5EF4-FFF2-40B4-BE49-F238E27FC236}">
                <a16:creationId xmlns:a16="http://schemas.microsoft.com/office/drawing/2014/main" id="{8FC40530-2FDC-4F50-A42C-695D639290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2303" y="4846098"/>
            <a:ext cx="2682536" cy="2011902"/>
          </a:xfrm>
          <a:prstGeom prst="rect">
            <a:avLst/>
          </a:prstGeom>
        </p:spPr>
      </p:pic>
    </p:spTree>
    <p:extLst>
      <p:ext uri="{BB962C8B-B14F-4D97-AF65-F5344CB8AC3E}">
        <p14:creationId xmlns:p14="http://schemas.microsoft.com/office/powerpoint/2010/main" val="332879442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C59D6-08A6-4201-A642-45A75FB34E0F}"/>
              </a:ext>
            </a:extLst>
          </p:cNvPr>
          <p:cNvSpPr>
            <a:spLocks noGrp="1"/>
          </p:cNvSpPr>
          <p:nvPr>
            <p:ph type="title"/>
          </p:nvPr>
        </p:nvSpPr>
        <p:spPr>
          <a:xfrm>
            <a:off x="677334" y="609601"/>
            <a:ext cx="8596668" cy="517864"/>
          </a:xfrm>
        </p:spPr>
        <p:txBody>
          <a:bodyPr anchor="ctr">
            <a:normAutofit/>
          </a:bodyPr>
          <a:lstStyle/>
          <a:p>
            <a:r>
              <a:rPr lang="en-US" sz="2800" b="1" dirty="0">
                <a:latin typeface="Arial" panose="020B0604020202020204" pitchFamily="34" charset="0"/>
                <a:cs typeface="Arial" panose="020B0604020202020204" pitchFamily="34" charset="0"/>
              </a:rPr>
              <a:t>Case Study:04</a:t>
            </a:r>
          </a:p>
        </p:txBody>
      </p:sp>
      <p:sp>
        <p:nvSpPr>
          <p:cNvPr id="3" name="TextBox 2">
            <a:extLst>
              <a:ext uri="{FF2B5EF4-FFF2-40B4-BE49-F238E27FC236}">
                <a16:creationId xmlns:a16="http://schemas.microsoft.com/office/drawing/2014/main" id="{FF01CEF1-D675-4055-98D5-B3B44C573A23}"/>
              </a:ext>
            </a:extLst>
          </p:cNvPr>
          <p:cNvSpPr txBox="1"/>
          <p:nvPr/>
        </p:nvSpPr>
        <p:spPr>
          <a:xfrm>
            <a:off x="656948" y="1544715"/>
            <a:ext cx="8469297" cy="2862322"/>
          </a:xfrm>
          <a:prstGeom prst="rect">
            <a:avLst/>
          </a:prstGeom>
          <a:noFill/>
        </p:spPr>
        <p:txBody>
          <a:bodyPr wrap="square" rtlCol="0">
            <a:spAutoFit/>
          </a:bodyPr>
          <a:lstStyle/>
          <a:p>
            <a:pPr algn="just"/>
            <a:r>
              <a:rPr lang="en-US" sz="2000" dirty="0">
                <a:latin typeface="Arial" panose="020B0604020202020204" pitchFamily="34" charset="0"/>
                <a:cs typeface="Arial" panose="020B0604020202020204" pitchFamily="34" charset="0"/>
              </a:rPr>
              <a:t>Mr. David </a:t>
            </a:r>
            <a:r>
              <a:rPr lang="en-US" sz="2000" dirty="0" err="1">
                <a:latin typeface="Arial" panose="020B0604020202020204" pitchFamily="34" charset="0"/>
                <a:cs typeface="Arial" panose="020B0604020202020204" pitchFamily="34" charset="0"/>
              </a:rPr>
              <a:t>Bekham</a:t>
            </a:r>
            <a:r>
              <a:rPr lang="en-US" sz="2000" dirty="0">
                <a:latin typeface="Arial" panose="020B0604020202020204" pitchFamily="34" charset="0"/>
                <a:cs typeface="Arial" panose="020B0604020202020204" pitchFamily="34" charset="0"/>
              </a:rPr>
              <a:t> wants to bring his new private vehicle under Motor insurance Coverage. Here is the information about his car-</a:t>
            </a:r>
          </a:p>
          <a:p>
            <a:pPr marL="82296" indent="0" algn="just">
              <a:buNone/>
            </a:pPr>
            <a:r>
              <a:rPr lang="en-US" sz="2000" dirty="0">
                <a:latin typeface="Arial" panose="020B0604020202020204" pitchFamily="34" charset="0"/>
                <a:cs typeface="Arial" panose="020B0604020202020204" pitchFamily="34" charset="0"/>
              </a:rPr>
              <a:t>              Model   : Year 2021</a:t>
            </a:r>
          </a:p>
          <a:p>
            <a:pPr marL="82296" indent="0" algn="just">
              <a:buNone/>
            </a:pPr>
            <a:r>
              <a:rPr lang="en-US" sz="2000" dirty="0">
                <a:latin typeface="Arial" panose="020B0604020202020204" pitchFamily="34" charset="0"/>
                <a:cs typeface="Arial" panose="020B0604020202020204" pitchFamily="34" charset="0"/>
              </a:rPr>
              <a:t>              Value    : 35,00,000/-</a:t>
            </a:r>
          </a:p>
          <a:p>
            <a:pPr marL="82296" indent="0" algn="just">
              <a:buNone/>
            </a:pPr>
            <a:r>
              <a:rPr lang="en-US" sz="2000" dirty="0">
                <a:latin typeface="Arial" panose="020B0604020202020204" pitchFamily="34" charset="0"/>
                <a:cs typeface="Arial" panose="020B0604020202020204" pitchFamily="34" charset="0"/>
              </a:rPr>
              <a:t>	       CC   : 2000.</a:t>
            </a:r>
          </a:p>
          <a:p>
            <a:pPr marL="82296" indent="0" algn="just">
              <a:buNone/>
            </a:pPr>
            <a:r>
              <a:rPr lang="en-US" sz="2000" dirty="0">
                <a:latin typeface="Arial" panose="020B0604020202020204" pitchFamily="34" charset="0"/>
                <a:cs typeface="Arial" panose="020B0604020202020204" pitchFamily="34" charset="0"/>
              </a:rPr>
              <a:t>Seating Capacity : 05 (Including Driver)</a:t>
            </a:r>
          </a:p>
          <a:p>
            <a:pPr marL="82296" indent="0" algn="just">
              <a:buNone/>
            </a:pPr>
            <a:r>
              <a:rPr lang="en-US" sz="2000" dirty="0">
                <a:latin typeface="Arial" panose="020B0604020202020204" pitchFamily="34" charset="0"/>
                <a:cs typeface="Arial" panose="020B0604020202020204" pitchFamily="34" charset="0"/>
              </a:rPr>
              <a:t>And he wants to his vehicle under the cover of  Comprehensive Motor Insurance in 2023 &amp; he took first time take this coverage. He Installed AVLS in this vehicle.  </a:t>
            </a:r>
          </a:p>
        </p:txBody>
      </p:sp>
      <p:pic>
        <p:nvPicPr>
          <p:cNvPr id="4" name="Picture 3">
            <a:extLst>
              <a:ext uri="{FF2B5EF4-FFF2-40B4-BE49-F238E27FC236}">
                <a16:creationId xmlns:a16="http://schemas.microsoft.com/office/drawing/2014/main" id="{F925D0A5-5ABA-4FA3-89B9-0EF93BCD83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2303" y="4846098"/>
            <a:ext cx="2682536" cy="2011902"/>
          </a:xfrm>
          <a:prstGeom prst="rect">
            <a:avLst/>
          </a:prstGeom>
        </p:spPr>
      </p:pic>
    </p:spTree>
    <p:extLst>
      <p:ext uri="{BB962C8B-B14F-4D97-AF65-F5344CB8AC3E}">
        <p14:creationId xmlns:p14="http://schemas.microsoft.com/office/powerpoint/2010/main" val="4050027351"/>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C59D6-08A6-4201-A642-45A75FB34E0F}"/>
              </a:ext>
            </a:extLst>
          </p:cNvPr>
          <p:cNvSpPr>
            <a:spLocks noGrp="1"/>
          </p:cNvSpPr>
          <p:nvPr>
            <p:ph type="title"/>
          </p:nvPr>
        </p:nvSpPr>
        <p:spPr>
          <a:xfrm>
            <a:off x="677334" y="609601"/>
            <a:ext cx="8596668" cy="517864"/>
          </a:xfrm>
        </p:spPr>
        <p:txBody>
          <a:bodyPr anchor="ctr">
            <a:normAutofit/>
          </a:bodyPr>
          <a:lstStyle/>
          <a:p>
            <a:r>
              <a:rPr lang="en-US" sz="2800" b="1" dirty="0">
                <a:latin typeface="Arial" panose="020B0604020202020204" pitchFamily="34" charset="0"/>
                <a:cs typeface="Arial" panose="020B0604020202020204" pitchFamily="34" charset="0"/>
              </a:rPr>
              <a:t>Case Study:05</a:t>
            </a:r>
          </a:p>
        </p:txBody>
      </p:sp>
      <p:sp>
        <p:nvSpPr>
          <p:cNvPr id="3" name="TextBox 2">
            <a:extLst>
              <a:ext uri="{FF2B5EF4-FFF2-40B4-BE49-F238E27FC236}">
                <a16:creationId xmlns:a16="http://schemas.microsoft.com/office/drawing/2014/main" id="{FF01CEF1-D675-4055-98D5-B3B44C573A23}"/>
              </a:ext>
            </a:extLst>
          </p:cNvPr>
          <p:cNvSpPr txBox="1"/>
          <p:nvPr/>
        </p:nvSpPr>
        <p:spPr>
          <a:xfrm>
            <a:off x="656948" y="1544715"/>
            <a:ext cx="8469297" cy="2862322"/>
          </a:xfrm>
          <a:prstGeom prst="rect">
            <a:avLst/>
          </a:prstGeom>
          <a:noFill/>
        </p:spPr>
        <p:txBody>
          <a:bodyPr wrap="square" rtlCol="0">
            <a:spAutoFit/>
          </a:bodyPr>
          <a:lstStyle/>
          <a:p>
            <a:pPr algn="just"/>
            <a:r>
              <a:rPr lang="en-US" sz="2000" dirty="0">
                <a:latin typeface="Arial" panose="020B0604020202020204" pitchFamily="34" charset="0"/>
                <a:cs typeface="Arial" panose="020B0604020202020204" pitchFamily="34" charset="0"/>
              </a:rPr>
              <a:t>Mr. Tom Cruise wants to bring his private vehicle under Motor insurance Coverage. Here is the information about his car-</a:t>
            </a:r>
          </a:p>
          <a:p>
            <a:pPr marL="82296" indent="0" algn="just">
              <a:buNone/>
            </a:pPr>
            <a:r>
              <a:rPr lang="en-US" sz="2000" dirty="0">
                <a:latin typeface="Arial" panose="020B0604020202020204" pitchFamily="34" charset="0"/>
                <a:cs typeface="Arial" panose="020B0604020202020204" pitchFamily="34" charset="0"/>
              </a:rPr>
              <a:t>              Model   : Year 2020</a:t>
            </a:r>
          </a:p>
          <a:p>
            <a:pPr marL="82296" indent="0" algn="just">
              <a:buNone/>
            </a:pPr>
            <a:r>
              <a:rPr lang="en-US" sz="2000" dirty="0">
                <a:latin typeface="Arial" panose="020B0604020202020204" pitchFamily="34" charset="0"/>
                <a:cs typeface="Arial" panose="020B0604020202020204" pitchFamily="34" charset="0"/>
              </a:rPr>
              <a:t>              Value    : 25,00,000/-</a:t>
            </a:r>
          </a:p>
          <a:p>
            <a:pPr marL="82296" indent="0" algn="just">
              <a:buNone/>
            </a:pPr>
            <a:r>
              <a:rPr lang="en-US" sz="2000" dirty="0">
                <a:latin typeface="Arial" panose="020B0604020202020204" pitchFamily="34" charset="0"/>
                <a:cs typeface="Arial" panose="020B0604020202020204" pitchFamily="34" charset="0"/>
              </a:rPr>
              <a:t>	       CC   : 1500.</a:t>
            </a:r>
          </a:p>
          <a:p>
            <a:pPr marL="82296" indent="0" algn="just">
              <a:buNone/>
            </a:pPr>
            <a:r>
              <a:rPr lang="en-US" sz="2000" dirty="0">
                <a:latin typeface="Arial" panose="020B0604020202020204" pitchFamily="34" charset="0"/>
                <a:cs typeface="Arial" panose="020B0604020202020204" pitchFamily="34" charset="0"/>
              </a:rPr>
              <a:t>Seating Capacity : 05 (Including Driver)</a:t>
            </a:r>
          </a:p>
          <a:p>
            <a:pPr marL="82296" indent="0" algn="just">
              <a:buNone/>
            </a:pPr>
            <a:r>
              <a:rPr lang="en-US" sz="2000" dirty="0">
                <a:latin typeface="Arial" panose="020B0604020202020204" pitchFamily="34" charset="0"/>
                <a:cs typeface="Arial" panose="020B0604020202020204" pitchFamily="34" charset="0"/>
              </a:rPr>
              <a:t>And he wants to bring his vehicle under the cover of  Comprehensive Motor Insurance in 2021 &amp; he took first time take this coverage WITHOUT </a:t>
            </a:r>
            <a:r>
              <a:rPr lang="en-US" sz="2000" dirty="0">
                <a:highlight>
                  <a:srgbClr val="FFFF00"/>
                </a:highlight>
                <a:latin typeface="Arial" panose="020B0604020202020204" pitchFamily="34" charset="0"/>
                <a:cs typeface="Arial" panose="020B0604020202020204" pitchFamily="34" charset="0"/>
              </a:rPr>
              <a:t>Flood, Cyclone &amp; Earthquake</a:t>
            </a:r>
          </a:p>
        </p:txBody>
      </p:sp>
      <p:pic>
        <p:nvPicPr>
          <p:cNvPr id="5" name="Picture 4">
            <a:extLst>
              <a:ext uri="{FF2B5EF4-FFF2-40B4-BE49-F238E27FC236}">
                <a16:creationId xmlns:a16="http://schemas.microsoft.com/office/drawing/2014/main" id="{030B2C60-5ADC-40FE-BD17-1B56DF3D00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2303" y="4881268"/>
            <a:ext cx="2682536" cy="2011902"/>
          </a:xfrm>
          <a:prstGeom prst="rect">
            <a:avLst/>
          </a:prstGeom>
        </p:spPr>
      </p:pic>
    </p:spTree>
    <p:extLst>
      <p:ext uri="{BB962C8B-B14F-4D97-AF65-F5344CB8AC3E}">
        <p14:creationId xmlns:p14="http://schemas.microsoft.com/office/powerpoint/2010/main" val="2225251557"/>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6000" b="-6000"/>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83D91D1-083D-47EC-9969-5AEDF6F003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9703" y="1928483"/>
            <a:ext cx="5224536" cy="3918402"/>
          </a:xfrm>
          <a:prstGeom prst="rect">
            <a:avLst/>
          </a:prstGeom>
        </p:spPr>
      </p:pic>
    </p:spTree>
    <p:extLst>
      <p:ext uri="{BB962C8B-B14F-4D97-AF65-F5344CB8AC3E}">
        <p14:creationId xmlns:p14="http://schemas.microsoft.com/office/powerpoint/2010/main" val="3040469696"/>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tile tx="0" ty="0" sx="100000" sy="100000" flip="none" algn="tl"/>
        </a:blipFill>
        <a:effectLst/>
      </p:bgPr>
    </p:bg>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20D568AE-BD2D-46E5-889B-55E85B7C7A48}"/>
              </a:ext>
            </a:extLst>
          </p:cNvPr>
          <p:cNvGraphicFramePr/>
          <p:nvPr>
            <p:extLst/>
          </p:nvPr>
        </p:nvGraphicFramePr>
        <p:xfrm>
          <a:off x="1931517" y="187103"/>
          <a:ext cx="8128000" cy="64001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1476423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E5E1-B8DB-4578-8045-D54CE9D790E9}"/>
              </a:ext>
            </a:extLst>
          </p:cNvPr>
          <p:cNvSpPr>
            <a:spLocks noGrp="1"/>
          </p:cNvSpPr>
          <p:nvPr>
            <p:ph type="title"/>
          </p:nvPr>
        </p:nvSpPr>
        <p:spPr>
          <a:xfrm>
            <a:off x="1572768" y="1569720"/>
            <a:ext cx="7562088" cy="880872"/>
          </a:xfrm>
        </p:spPr>
        <p:txBody>
          <a:bodyPr/>
          <a:lstStyle/>
          <a:p>
            <a:pPr algn="ctr"/>
            <a:r>
              <a:rPr lang="en-US" b="1" dirty="0"/>
              <a:t>Motor Insurance Claims</a:t>
            </a:r>
          </a:p>
        </p:txBody>
      </p:sp>
      <p:pic>
        <p:nvPicPr>
          <p:cNvPr id="6" name="Picture 5">
            <a:extLst>
              <a:ext uri="{FF2B5EF4-FFF2-40B4-BE49-F238E27FC236}">
                <a16:creationId xmlns:a16="http://schemas.microsoft.com/office/drawing/2014/main" id="{AC39B748-782C-4149-BDEA-553EEA60E2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5269" y="2452583"/>
            <a:ext cx="7831853" cy="4405417"/>
          </a:xfrm>
          <a:prstGeom prst="rect">
            <a:avLst/>
          </a:prstGeom>
        </p:spPr>
      </p:pic>
    </p:spTree>
    <p:extLst>
      <p:ext uri="{BB962C8B-B14F-4D97-AF65-F5344CB8AC3E}">
        <p14:creationId xmlns:p14="http://schemas.microsoft.com/office/powerpoint/2010/main" val="232189359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56659-6710-421A-AE0E-9831C8D957E6}"/>
              </a:ext>
            </a:extLst>
          </p:cNvPr>
          <p:cNvSpPr>
            <a:spLocks noGrp="1"/>
          </p:cNvSpPr>
          <p:nvPr>
            <p:ph type="title"/>
          </p:nvPr>
        </p:nvSpPr>
        <p:spPr>
          <a:xfrm>
            <a:off x="208726" y="875598"/>
            <a:ext cx="3845505" cy="747252"/>
          </a:xfrm>
        </p:spPr>
        <p:txBody>
          <a:bodyPr>
            <a:normAutofit fontScale="90000"/>
          </a:bodyPr>
          <a:lstStyle/>
          <a:p>
            <a:r>
              <a:rPr lang="en-US" dirty="0"/>
              <a:t>Claims Procedure</a:t>
            </a:r>
          </a:p>
        </p:txBody>
      </p:sp>
      <p:graphicFrame>
        <p:nvGraphicFramePr>
          <p:cNvPr id="4" name="Diagram 3">
            <a:extLst>
              <a:ext uri="{FF2B5EF4-FFF2-40B4-BE49-F238E27FC236}">
                <a16:creationId xmlns:a16="http://schemas.microsoft.com/office/drawing/2014/main" id="{9BB35490-3394-49B5-82A0-1EC5854A2916}"/>
              </a:ext>
            </a:extLst>
          </p:cNvPr>
          <p:cNvGraphicFramePr/>
          <p:nvPr>
            <p:extLst/>
          </p:nvPr>
        </p:nvGraphicFramePr>
        <p:xfrm>
          <a:off x="0" y="719666"/>
          <a:ext cx="12192000" cy="59367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3594841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2D00-1D7A-4FE2-B5B3-9FC09E9132BD}"/>
              </a:ext>
            </a:extLst>
          </p:cNvPr>
          <p:cNvSpPr>
            <a:spLocks noGrp="1"/>
          </p:cNvSpPr>
          <p:nvPr>
            <p:ph type="title"/>
          </p:nvPr>
        </p:nvSpPr>
        <p:spPr/>
        <p:txBody>
          <a:bodyPr/>
          <a:lstStyle/>
          <a:p>
            <a:r>
              <a:rPr lang="en-US" dirty="0"/>
              <a:t>Claims Procedure</a:t>
            </a:r>
          </a:p>
        </p:txBody>
      </p:sp>
      <p:graphicFrame>
        <p:nvGraphicFramePr>
          <p:cNvPr id="4" name="Diagram 3">
            <a:extLst>
              <a:ext uri="{FF2B5EF4-FFF2-40B4-BE49-F238E27FC236}">
                <a16:creationId xmlns:a16="http://schemas.microsoft.com/office/drawing/2014/main" id="{B9588F6D-6810-45B7-9E37-3C2CF58FB9F7}"/>
              </a:ext>
            </a:extLst>
          </p:cNvPr>
          <p:cNvGraphicFramePr/>
          <p:nvPr>
            <p:extLst/>
          </p:nvPr>
        </p:nvGraphicFramePr>
        <p:xfrm>
          <a:off x="408373" y="227296"/>
          <a:ext cx="11454108" cy="5873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096227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0" fill="hold"/>
                                        <p:tgtEl>
                                          <p:spTgt spid="4"/>
                                        </p:tgtEl>
                                        <p:attrNameLst>
                                          <p:attrName>ppt_w</p:attrName>
                                        </p:attrNameLst>
                                      </p:cBhvr>
                                      <p:tavLst>
                                        <p:tav tm="0">
                                          <p:val>
                                            <p:fltVal val="0"/>
                                          </p:val>
                                        </p:tav>
                                        <p:tav tm="100000">
                                          <p:val>
                                            <p:strVal val="#ppt_w"/>
                                          </p:val>
                                        </p:tav>
                                      </p:tavLst>
                                    </p:anim>
                                    <p:anim calcmode="lin" valueType="num">
                                      <p:cBhvr>
                                        <p:cTn id="8" dur="2000" fill="hold"/>
                                        <p:tgtEl>
                                          <p:spTgt spid="4"/>
                                        </p:tgtEl>
                                        <p:attrNameLst>
                                          <p:attrName>ppt_h</p:attrName>
                                        </p:attrNameLst>
                                      </p:cBhvr>
                                      <p:tavLst>
                                        <p:tav tm="0">
                                          <p:val>
                                            <p:fltVal val="0"/>
                                          </p:val>
                                        </p:tav>
                                        <p:tav tm="100000">
                                          <p:val>
                                            <p:strVal val="#ppt_h"/>
                                          </p:val>
                                        </p:tav>
                                      </p:tavLst>
                                    </p:anim>
                                    <p:animEffect transition="in" filter="fade">
                                      <p:cBhvr>
                                        <p:cTn id="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0D3C9-FEDA-495A-AC07-D7DC88B11967}"/>
              </a:ext>
            </a:extLst>
          </p:cNvPr>
          <p:cNvSpPr>
            <a:spLocks noGrp="1"/>
          </p:cNvSpPr>
          <p:nvPr>
            <p:ph type="title"/>
          </p:nvPr>
        </p:nvSpPr>
        <p:spPr>
          <a:xfrm>
            <a:off x="1565357" y="609600"/>
            <a:ext cx="8596668" cy="643128"/>
          </a:xfrm>
        </p:spPr>
        <p:txBody>
          <a:bodyPr>
            <a:normAutofit fontScale="90000"/>
          </a:bodyPr>
          <a:lstStyle/>
          <a:p>
            <a:r>
              <a:rPr lang="en-US" b="1" dirty="0"/>
              <a:t>Claims Procedure (Document)</a:t>
            </a:r>
          </a:p>
        </p:txBody>
      </p:sp>
      <p:sp>
        <p:nvSpPr>
          <p:cNvPr id="3" name="TextBox 2">
            <a:extLst>
              <a:ext uri="{FF2B5EF4-FFF2-40B4-BE49-F238E27FC236}">
                <a16:creationId xmlns:a16="http://schemas.microsoft.com/office/drawing/2014/main" id="{345DBEC5-B45E-4DB9-8B7D-731773D4B6AC}"/>
              </a:ext>
            </a:extLst>
          </p:cNvPr>
          <p:cNvSpPr txBox="1"/>
          <p:nvPr/>
        </p:nvSpPr>
        <p:spPr>
          <a:xfrm>
            <a:off x="1510284" y="1464780"/>
            <a:ext cx="8154924" cy="5027467"/>
          </a:xfrm>
          <a:prstGeom prst="rect">
            <a:avLst/>
          </a:prstGeom>
          <a:gradFill>
            <a:gsLst>
              <a:gs pos="0">
                <a:schemeClr val="accent5">
                  <a:lumMod val="20000"/>
                  <a:lumOff val="80000"/>
                </a:schemeClr>
              </a:gs>
              <a:gs pos="33000">
                <a:schemeClr val="accent1">
                  <a:lumMod val="45000"/>
                  <a:lumOff val="55000"/>
                </a:schemeClr>
              </a:gs>
              <a:gs pos="62000">
                <a:schemeClr val="accent4">
                  <a:lumMod val="20000"/>
                  <a:lumOff val="80000"/>
                </a:schemeClr>
              </a:gs>
              <a:gs pos="100000">
                <a:schemeClr val="accent1">
                  <a:lumMod val="40000"/>
                  <a:lumOff val="60000"/>
                </a:schemeClr>
              </a:gs>
            </a:gsLst>
            <a:lin ang="5400000" scaled="1"/>
          </a:gradFill>
        </p:spPr>
        <p:txBody>
          <a:bodyPr wrap="square" rtlCol="0" anchor="ctr">
            <a:spAutoFit/>
          </a:bodyPr>
          <a:lstStyle/>
          <a:p>
            <a:pPr marL="285750" indent="-285750">
              <a:lnSpc>
                <a:spcPct val="150000"/>
              </a:lnSpc>
              <a:buBlip>
                <a:blip r:embed="rId3"/>
              </a:buBlip>
            </a:pPr>
            <a:r>
              <a:rPr lang="en-US" b="1" dirty="0">
                <a:solidFill>
                  <a:schemeClr val="accent2">
                    <a:lumMod val="75000"/>
                  </a:schemeClr>
                </a:solidFill>
              </a:rPr>
              <a:t> Claims Form duly filled &amp; Signed by the insured &amp; concern Bank</a:t>
            </a:r>
          </a:p>
          <a:p>
            <a:pPr marL="285750" indent="-285750">
              <a:lnSpc>
                <a:spcPct val="150000"/>
              </a:lnSpc>
              <a:buBlip>
                <a:blip r:embed="rId3"/>
              </a:buBlip>
            </a:pPr>
            <a:r>
              <a:rPr lang="en-US" b="1" dirty="0">
                <a:solidFill>
                  <a:schemeClr val="accent2">
                    <a:lumMod val="75000"/>
                  </a:schemeClr>
                </a:solidFill>
              </a:rPr>
              <a:t> Registration Certificate</a:t>
            </a:r>
          </a:p>
          <a:p>
            <a:pPr marL="285750" indent="-285750">
              <a:lnSpc>
                <a:spcPct val="150000"/>
              </a:lnSpc>
              <a:buBlip>
                <a:blip r:embed="rId3"/>
              </a:buBlip>
            </a:pPr>
            <a:r>
              <a:rPr lang="en-US" b="1" dirty="0">
                <a:solidFill>
                  <a:schemeClr val="accent2">
                    <a:lumMod val="75000"/>
                  </a:schemeClr>
                </a:solidFill>
              </a:rPr>
              <a:t> Fitness Certificate</a:t>
            </a:r>
          </a:p>
          <a:p>
            <a:pPr marL="285750" indent="-285750">
              <a:lnSpc>
                <a:spcPct val="150000"/>
              </a:lnSpc>
              <a:buBlip>
                <a:blip r:embed="rId3"/>
              </a:buBlip>
            </a:pPr>
            <a:r>
              <a:rPr lang="en-US" b="1" dirty="0">
                <a:solidFill>
                  <a:schemeClr val="accent2">
                    <a:lumMod val="75000"/>
                  </a:schemeClr>
                </a:solidFill>
              </a:rPr>
              <a:t> Driver’s statement</a:t>
            </a:r>
          </a:p>
          <a:p>
            <a:pPr marL="285750" indent="-285750">
              <a:lnSpc>
                <a:spcPct val="150000"/>
              </a:lnSpc>
              <a:buBlip>
                <a:blip r:embed="rId3"/>
              </a:buBlip>
            </a:pPr>
            <a:r>
              <a:rPr lang="en-US" b="1" dirty="0">
                <a:solidFill>
                  <a:schemeClr val="accent2">
                    <a:lumMod val="75000"/>
                  </a:schemeClr>
                </a:solidFill>
              </a:rPr>
              <a:t>Tax Token</a:t>
            </a:r>
          </a:p>
          <a:p>
            <a:pPr marL="285750" indent="-285750">
              <a:lnSpc>
                <a:spcPct val="150000"/>
              </a:lnSpc>
              <a:buBlip>
                <a:blip r:embed="rId3"/>
              </a:buBlip>
            </a:pPr>
            <a:r>
              <a:rPr lang="en-US" b="1" dirty="0">
                <a:solidFill>
                  <a:schemeClr val="accent2">
                    <a:lumMod val="75000"/>
                  </a:schemeClr>
                </a:solidFill>
              </a:rPr>
              <a:t> Driver’s Statement &amp; Driven license.</a:t>
            </a:r>
          </a:p>
          <a:p>
            <a:pPr marL="285750" indent="-285750">
              <a:lnSpc>
                <a:spcPct val="150000"/>
              </a:lnSpc>
              <a:buBlip>
                <a:blip r:embed="rId3"/>
              </a:buBlip>
            </a:pPr>
            <a:r>
              <a:rPr lang="en-US" b="1" dirty="0">
                <a:solidFill>
                  <a:schemeClr val="accent2">
                    <a:lumMod val="75000"/>
                  </a:schemeClr>
                </a:solidFill>
              </a:rPr>
              <a:t> G.D. Entry to the Police Station.</a:t>
            </a:r>
          </a:p>
          <a:p>
            <a:pPr marL="285750" indent="-285750">
              <a:lnSpc>
                <a:spcPct val="150000"/>
              </a:lnSpc>
              <a:buBlip>
                <a:blip r:embed="rId3"/>
              </a:buBlip>
            </a:pPr>
            <a:r>
              <a:rPr lang="en-US" b="1" dirty="0">
                <a:solidFill>
                  <a:schemeClr val="accent2">
                    <a:lumMod val="75000"/>
                  </a:schemeClr>
                </a:solidFill>
              </a:rPr>
              <a:t> FIR to the Police in case of theft.</a:t>
            </a:r>
          </a:p>
          <a:p>
            <a:pPr marL="285750" indent="-285750">
              <a:lnSpc>
                <a:spcPct val="150000"/>
              </a:lnSpc>
              <a:buBlip>
                <a:blip r:embed="rId3"/>
              </a:buBlip>
            </a:pPr>
            <a:r>
              <a:rPr lang="en-US" b="1" dirty="0">
                <a:solidFill>
                  <a:schemeClr val="accent2">
                    <a:lumMod val="75000"/>
                  </a:schemeClr>
                </a:solidFill>
              </a:rPr>
              <a:t> Police Final Investigation Report duly certified by the Court in case of theft.</a:t>
            </a:r>
          </a:p>
          <a:p>
            <a:pPr marL="285750" indent="-285750">
              <a:lnSpc>
                <a:spcPct val="150000"/>
              </a:lnSpc>
              <a:buBlip>
                <a:blip r:embed="rId3"/>
              </a:buBlip>
            </a:pPr>
            <a:r>
              <a:rPr lang="en-US" b="1" dirty="0">
                <a:solidFill>
                  <a:schemeClr val="accent2">
                    <a:lumMod val="75000"/>
                  </a:schemeClr>
                </a:solidFill>
              </a:rPr>
              <a:t> Survey Report (Original). </a:t>
            </a:r>
          </a:p>
          <a:p>
            <a:pPr marL="285750" indent="-285750">
              <a:lnSpc>
                <a:spcPct val="150000"/>
              </a:lnSpc>
              <a:buBlip>
                <a:blip r:embed="rId3"/>
              </a:buBlip>
            </a:pPr>
            <a:r>
              <a:rPr lang="en-US" b="1" dirty="0">
                <a:solidFill>
                  <a:schemeClr val="accent2">
                    <a:lumMod val="75000"/>
                  </a:schemeClr>
                </a:solidFill>
              </a:rPr>
              <a:t> 03 (Three) repair estimates</a:t>
            </a:r>
          </a:p>
        </p:txBody>
      </p:sp>
    </p:spTree>
    <p:extLst>
      <p:ext uri="{BB962C8B-B14F-4D97-AF65-F5344CB8AC3E}">
        <p14:creationId xmlns:p14="http://schemas.microsoft.com/office/powerpoint/2010/main" val="20168064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5557A-34D6-476C-8C37-D1CA9AEB2D6D}"/>
              </a:ext>
            </a:extLst>
          </p:cNvPr>
          <p:cNvSpPr>
            <a:spLocks noGrp="1"/>
          </p:cNvSpPr>
          <p:nvPr>
            <p:ph type="title"/>
          </p:nvPr>
        </p:nvSpPr>
        <p:spPr>
          <a:xfrm>
            <a:off x="961289" y="365125"/>
            <a:ext cx="7505703" cy="1325563"/>
          </a:xfrm>
        </p:spPr>
        <p:txBody>
          <a:bodyPr/>
          <a:lstStyle/>
          <a:p>
            <a:r>
              <a:rPr lang="en-US" b="1" dirty="0"/>
              <a:t>Claims Settlement Way</a:t>
            </a:r>
          </a:p>
        </p:txBody>
      </p:sp>
      <p:graphicFrame>
        <p:nvGraphicFramePr>
          <p:cNvPr id="4" name="Diagram 3">
            <a:extLst>
              <a:ext uri="{FF2B5EF4-FFF2-40B4-BE49-F238E27FC236}">
                <a16:creationId xmlns:a16="http://schemas.microsoft.com/office/drawing/2014/main" id="{6295BE88-29E8-4F9F-9713-82E6B3281B81}"/>
              </a:ext>
            </a:extLst>
          </p:cNvPr>
          <p:cNvGraphicFramePr/>
          <p:nvPr>
            <p:extLst>
              <p:ext uri="{D42A27DB-BD31-4B8C-83A1-F6EECF244321}">
                <p14:modId xmlns:p14="http://schemas.microsoft.com/office/powerpoint/2010/main" val="3878981807"/>
              </p:ext>
            </p:extLst>
          </p:nvPr>
        </p:nvGraphicFramePr>
        <p:xfrm>
          <a:off x="1189608" y="1930400"/>
          <a:ext cx="9168649" cy="4505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057299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graphicEl>
                                              <a:dgm id="{8BBFC179-3C84-43D5-A2C1-52D9B77F522B}"/>
                                            </p:graphicEl>
                                          </p:spTgt>
                                        </p:tgtEl>
                                        <p:attrNameLst>
                                          <p:attrName>style.visibility</p:attrName>
                                        </p:attrNameLst>
                                      </p:cBhvr>
                                      <p:to>
                                        <p:strVal val="visible"/>
                                      </p:to>
                                    </p:set>
                                    <p:anim calcmode="lin" valueType="num">
                                      <p:cBhvr>
                                        <p:cTn id="7" dur="1000" fill="hold"/>
                                        <p:tgtEl>
                                          <p:spTgt spid="4">
                                            <p:graphicEl>
                                              <a:dgm id="{8BBFC179-3C84-43D5-A2C1-52D9B77F522B}"/>
                                            </p:graphicEl>
                                          </p:spTgt>
                                        </p:tgtEl>
                                        <p:attrNameLst>
                                          <p:attrName>ppt_w</p:attrName>
                                        </p:attrNameLst>
                                      </p:cBhvr>
                                      <p:tavLst>
                                        <p:tav tm="0">
                                          <p:val>
                                            <p:fltVal val="0"/>
                                          </p:val>
                                        </p:tav>
                                        <p:tav tm="100000">
                                          <p:val>
                                            <p:strVal val="#ppt_w"/>
                                          </p:val>
                                        </p:tav>
                                      </p:tavLst>
                                    </p:anim>
                                    <p:anim calcmode="lin" valueType="num">
                                      <p:cBhvr>
                                        <p:cTn id="8" dur="1000" fill="hold"/>
                                        <p:tgtEl>
                                          <p:spTgt spid="4">
                                            <p:graphicEl>
                                              <a:dgm id="{8BBFC179-3C84-43D5-A2C1-52D9B77F522B}"/>
                                            </p:graphicEl>
                                          </p:spTgt>
                                        </p:tgtEl>
                                        <p:attrNameLst>
                                          <p:attrName>ppt_h</p:attrName>
                                        </p:attrNameLst>
                                      </p:cBhvr>
                                      <p:tavLst>
                                        <p:tav tm="0">
                                          <p:val>
                                            <p:fltVal val="0"/>
                                          </p:val>
                                        </p:tav>
                                        <p:tav tm="100000">
                                          <p:val>
                                            <p:strVal val="#ppt_h"/>
                                          </p:val>
                                        </p:tav>
                                      </p:tavLst>
                                    </p:anim>
                                    <p:anim calcmode="lin" valueType="num">
                                      <p:cBhvr>
                                        <p:cTn id="9" dur="1000" fill="hold"/>
                                        <p:tgtEl>
                                          <p:spTgt spid="4">
                                            <p:graphicEl>
                                              <a:dgm id="{8BBFC179-3C84-43D5-A2C1-52D9B77F522B}"/>
                                            </p:graphicEl>
                                          </p:spTgt>
                                        </p:tgtEl>
                                        <p:attrNameLst>
                                          <p:attrName>style.rotation</p:attrName>
                                        </p:attrNameLst>
                                      </p:cBhvr>
                                      <p:tavLst>
                                        <p:tav tm="0">
                                          <p:val>
                                            <p:fltVal val="90"/>
                                          </p:val>
                                        </p:tav>
                                        <p:tav tm="100000">
                                          <p:val>
                                            <p:fltVal val="0"/>
                                          </p:val>
                                        </p:tav>
                                      </p:tavLst>
                                    </p:anim>
                                    <p:animEffect transition="in" filter="fade">
                                      <p:cBhvr>
                                        <p:cTn id="10" dur="1000"/>
                                        <p:tgtEl>
                                          <p:spTgt spid="4">
                                            <p:graphicEl>
                                              <a:dgm id="{8BBFC179-3C84-43D5-A2C1-52D9B77F522B}"/>
                                            </p:graphicEl>
                                          </p:spTgt>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4">
                                            <p:graphicEl>
                                              <a:dgm id="{A6795B95-AA0B-443A-8F7A-0A223804D34A}"/>
                                            </p:graphicEl>
                                          </p:spTgt>
                                        </p:tgtEl>
                                        <p:attrNameLst>
                                          <p:attrName>style.visibility</p:attrName>
                                        </p:attrNameLst>
                                      </p:cBhvr>
                                      <p:to>
                                        <p:strVal val="visible"/>
                                      </p:to>
                                    </p:set>
                                    <p:anim calcmode="lin" valueType="num">
                                      <p:cBhvr>
                                        <p:cTn id="13" dur="1000" fill="hold"/>
                                        <p:tgtEl>
                                          <p:spTgt spid="4">
                                            <p:graphicEl>
                                              <a:dgm id="{A6795B95-AA0B-443A-8F7A-0A223804D34A}"/>
                                            </p:graphicEl>
                                          </p:spTgt>
                                        </p:tgtEl>
                                        <p:attrNameLst>
                                          <p:attrName>ppt_w</p:attrName>
                                        </p:attrNameLst>
                                      </p:cBhvr>
                                      <p:tavLst>
                                        <p:tav tm="0">
                                          <p:val>
                                            <p:fltVal val="0"/>
                                          </p:val>
                                        </p:tav>
                                        <p:tav tm="100000">
                                          <p:val>
                                            <p:strVal val="#ppt_w"/>
                                          </p:val>
                                        </p:tav>
                                      </p:tavLst>
                                    </p:anim>
                                    <p:anim calcmode="lin" valueType="num">
                                      <p:cBhvr>
                                        <p:cTn id="14" dur="1000" fill="hold"/>
                                        <p:tgtEl>
                                          <p:spTgt spid="4">
                                            <p:graphicEl>
                                              <a:dgm id="{A6795B95-AA0B-443A-8F7A-0A223804D34A}"/>
                                            </p:graphicEl>
                                          </p:spTgt>
                                        </p:tgtEl>
                                        <p:attrNameLst>
                                          <p:attrName>ppt_h</p:attrName>
                                        </p:attrNameLst>
                                      </p:cBhvr>
                                      <p:tavLst>
                                        <p:tav tm="0">
                                          <p:val>
                                            <p:fltVal val="0"/>
                                          </p:val>
                                        </p:tav>
                                        <p:tav tm="100000">
                                          <p:val>
                                            <p:strVal val="#ppt_h"/>
                                          </p:val>
                                        </p:tav>
                                      </p:tavLst>
                                    </p:anim>
                                    <p:anim calcmode="lin" valueType="num">
                                      <p:cBhvr>
                                        <p:cTn id="15" dur="1000" fill="hold"/>
                                        <p:tgtEl>
                                          <p:spTgt spid="4">
                                            <p:graphicEl>
                                              <a:dgm id="{A6795B95-AA0B-443A-8F7A-0A223804D34A}"/>
                                            </p:graphicEl>
                                          </p:spTgt>
                                        </p:tgtEl>
                                        <p:attrNameLst>
                                          <p:attrName>style.rotation</p:attrName>
                                        </p:attrNameLst>
                                      </p:cBhvr>
                                      <p:tavLst>
                                        <p:tav tm="0">
                                          <p:val>
                                            <p:fltVal val="90"/>
                                          </p:val>
                                        </p:tav>
                                        <p:tav tm="100000">
                                          <p:val>
                                            <p:fltVal val="0"/>
                                          </p:val>
                                        </p:tav>
                                      </p:tavLst>
                                    </p:anim>
                                    <p:animEffect transition="in" filter="fade">
                                      <p:cBhvr>
                                        <p:cTn id="16" dur="1000"/>
                                        <p:tgtEl>
                                          <p:spTgt spid="4">
                                            <p:graphicEl>
                                              <a:dgm id="{A6795B95-AA0B-443A-8F7A-0A223804D34A}"/>
                                            </p:graphicEl>
                                          </p:spTgt>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4">
                                            <p:graphicEl>
                                              <a:dgm id="{C689765B-47A7-49DB-8795-BAB5709AE21A}"/>
                                            </p:graphicEl>
                                          </p:spTgt>
                                        </p:tgtEl>
                                        <p:attrNameLst>
                                          <p:attrName>style.visibility</p:attrName>
                                        </p:attrNameLst>
                                      </p:cBhvr>
                                      <p:to>
                                        <p:strVal val="visible"/>
                                      </p:to>
                                    </p:set>
                                    <p:anim calcmode="lin" valueType="num">
                                      <p:cBhvr>
                                        <p:cTn id="21" dur="1000" fill="hold"/>
                                        <p:tgtEl>
                                          <p:spTgt spid="4">
                                            <p:graphicEl>
                                              <a:dgm id="{C689765B-47A7-49DB-8795-BAB5709AE21A}"/>
                                            </p:graphicEl>
                                          </p:spTgt>
                                        </p:tgtEl>
                                        <p:attrNameLst>
                                          <p:attrName>ppt_w</p:attrName>
                                        </p:attrNameLst>
                                      </p:cBhvr>
                                      <p:tavLst>
                                        <p:tav tm="0">
                                          <p:val>
                                            <p:fltVal val="0"/>
                                          </p:val>
                                        </p:tav>
                                        <p:tav tm="100000">
                                          <p:val>
                                            <p:strVal val="#ppt_w"/>
                                          </p:val>
                                        </p:tav>
                                      </p:tavLst>
                                    </p:anim>
                                    <p:anim calcmode="lin" valueType="num">
                                      <p:cBhvr>
                                        <p:cTn id="22" dur="1000" fill="hold"/>
                                        <p:tgtEl>
                                          <p:spTgt spid="4">
                                            <p:graphicEl>
                                              <a:dgm id="{C689765B-47A7-49DB-8795-BAB5709AE21A}"/>
                                            </p:graphicEl>
                                          </p:spTgt>
                                        </p:tgtEl>
                                        <p:attrNameLst>
                                          <p:attrName>ppt_h</p:attrName>
                                        </p:attrNameLst>
                                      </p:cBhvr>
                                      <p:tavLst>
                                        <p:tav tm="0">
                                          <p:val>
                                            <p:fltVal val="0"/>
                                          </p:val>
                                        </p:tav>
                                        <p:tav tm="100000">
                                          <p:val>
                                            <p:strVal val="#ppt_h"/>
                                          </p:val>
                                        </p:tav>
                                      </p:tavLst>
                                    </p:anim>
                                    <p:anim calcmode="lin" valueType="num">
                                      <p:cBhvr>
                                        <p:cTn id="23" dur="1000" fill="hold"/>
                                        <p:tgtEl>
                                          <p:spTgt spid="4">
                                            <p:graphicEl>
                                              <a:dgm id="{C689765B-47A7-49DB-8795-BAB5709AE21A}"/>
                                            </p:graphicEl>
                                          </p:spTgt>
                                        </p:tgtEl>
                                        <p:attrNameLst>
                                          <p:attrName>style.rotation</p:attrName>
                                        </p:attrNameLst>
                                      </p:cBhvr>
                                      <p:tavLst>
                                        <p:tav tm="0">
                                          <p:val>
                                            <p:fltVal val="90"/>
                                          </p:val>
                                        </p:tav>
                                        <p:tav tm="100000">
                                          <p:val>
                                            <p:fltVal val="0"/>
                                          </p:val>
                                        </p:tav>
                                      </p:tavLst>
                                    </p:anim>
                                    <p:animEffect transition="in" filter="fade">
                                      <p:cBhvr>
                                        <p:cTn id="24" dur="1000"/>
                                        <p:tgtEl>
                                          <p:spTgt spid="4">
                                            <p:graphicEl>
                                              <a:dgm id="{C689765B-47A7-49DB-8795-BAB5709AE21A}"/>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4">
                                            <p:graphicEl>
                                              <a:dgm id="{77CAD22E-424F-40C1-952E-92452F9EEF6C}"/>
                                            </p:graphicEl>
                                          </p:spTgt>
                                        </p:tgtEl>
                                        <p:attrNameLst>
                                          <p:attrName>style.visibility</p:attrName>
                                        </p:attrNameLst>
                                      </p:cBhvr>
                                      <p:to>
                                        <p:strVal val="visible"/>
                                      </p:to>
                                    </p:set>
                                    <p:anim calcmode="lin" valueType="num">
                                      <p:cBhvr>
                                        <p:cTn id="29" dur="1000" fill="hold"/>
                                        <p:tgtEl>
                                          <p:spTgt spid="4">
                                            <p:graphicEl>
                                              <a:dgm id="{77CAD22E-424F-40C1-952E-92452F9EEF6C}"/>
                                            </p:graphicEl>
                                          </p:spTgt>
                                        </p:tgtEl>
                                        <p:attrNameLst>
                                          <p:attrName>ppt_w</p:attrName>
                                        </p:attrNameLst>
                                      </p:cBhvr>
                                      <p:tavLst>
                                        <p:tav tm="0">
                                          <p:val>
                                            <p:fltVal val="0"/>
                                          </p:val>
                                        </p:tav>
                                        <p:tav tm="100000">
                                          <p:val>
                                            <p:strVal val="#ppt_w"/>
                                          </p:val>
                                        </p:tav>
                                      </p:tavLst>
                                    </p:anim>
                                    <p:anim calcmode="lin" valueType="num">
                                      <p:cBhvr>
                                        <p:cTn id="30" dur="1000" fill="hold"/>
                                        <p:tgtEl>
                                          <p:spTgt spid="4">
                                            <p:graphicEl>
                                              <a:dgm id="{77CAD22E-424F-40C1-952E-92452F9EEF6C}"/>
                                            </p:graphicEl>
                                          </p:spTgt>
                                        </p:tgtEl>
                                        <p:attrNameLst>
                                          <p:attrName>ppt_h</p:attrName>
                                        </p:attrNameLst>
                                      </p:cBhvr>
                                      <p:tavLst>
                                        <p:tav tm="0">
                                          <p:val>
                                            <p:fltVal val="0"/>
                                          </p:val>
                                        </p:tav>
                                        <p:tav tm="100000">
                                          <p:val>
                                            <p:strVal val="#ppt_h"/>
                                          </p:val>
                                        </p:tav>
                                      </p:tavLst>
                                    </p:anim>
                                    <p:anim calcmode="lin" valueType="num">
                                      <p:cBhvr>
                                        <p:cTn id="31" dur="1000" fill="hold"/>
                                        <p:tgtEl>
                                          <p:spTgt spid="4">
                                            <p:graphicEl>
                                              <a:dgm id="{77CAD22E-424F-40C1-952E-92452F9EEF6C}"/>
                                            </p:graphicEl>
                                          </p:spTgt>
                                        </p:tgtEl>
                                        <p:attrNameLst>
                                          <p:attrName>style.rotation</p:attrName>
                                        </p:attrNameLst>
                                      </p:cBhvr>
                                      <p:tavLst>
                                        <p:tav tm="0">
                                          <p:val>
                                            <p:fltVal val="90"/>
                                          </p:val>
                                        </p:tav>
                                        <p:tav tm="100000">
                                          <p:val>
                                            <p:fltVal val="0"/>
                                          </p:val>
                                        </p:tav>
                                      </p:tavLst>
                                    </p:anim>
                                    <p:animEffect transition="in" filter="fade">
                                      <p:cBhvr>
                                        <p:cTn id="32" dur="1000"/>
                                        <p:tgtEl>
                                          <p:spTgt spid="4">
                                            <p:graphicEl>
                                              <a:dgm id="{77CAD22E-424F-40C1-952E-92452F9EEF6C}"/>
                                            </p:graphicEl>
                                          </p:spTgt>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4">
                                            <p:graphicEl>
                                              <a:dgm id="{D9DB0742-1E3C-44A3-9BC6-25C2F5E12D11}"/>
                                            </p:graphicEl>
                                          </p:spTgt>
                                        </p:tgtEl>
                                        <p:attrNameLst>
                                          <p:attrName>style.visibility</p:attrName>
                                        </p:attrNameLst>
                                      </p:cBhvr>
                                      <p:to>
                                        <p:strVal val="visible"/>
                                      </p:to>
                                    </p:set>
                                    <p:anim calcmode="lin" valueType="num">
                                      <p:cBhvr>
                                        <p:cTn id="35" dur="1000" fill="hold"/>
                                        <p:tgtEl>
                                          <p:spTgt spid="4">
                                            <p:graphicEl>
                                              <a:dgm id="{D9DB0742-1E3C-44A3-9BC6-25C2F5E12D11}"/>
                                            </p:graphicEl>
                                          </p:spTgt>
                                        </p:tgtEl>
                                        <p:attrNameLst>
                                          <p:attrName>ppt_w</p:attrName>
                                        </p:attrNameLst>
                                      </p:cBhvr>
                                      <p:tavLst>
                                        <p:tav tm="0">
                                          <p:val>
                                            <p:fltVal val="0"/>
                                          </p:val>
                                        </p:tav>
                                        <p:tav tm="100000">
                                          <p:val>
                                            <p:strVal val="#ppt_w"/>
                                          </p:val>
                                        </p:tav>
                                      </p:tavLst>
                                    </p:anim>
                                    <p:anim calcmode="lin" valueType="num">
                                      <p:cBhvr>
                                        <p:cTn id="36" dur="1000" fill="hold"/>
                                        <p:tgtEl>
                                          <p:spTgt spid="4">
                                            <p:graphicEl>
                                              <a:dgm id="{D9DB0742-1E3C-44A3-9BC6-25C2F5E12D11}"/>
                                            </p:graphicEl>
                                          </p:spTgt>
                                        </p:tgtEl>
                                        <p:attrNameLst>
                                          <p:attrName>ppt_h</p:attrName>
                                        </p:attrNameLst>
                                      </p:cBhvr>
                                      <p:tavLst>
                                        <p:tav tm="0">
                                          <p:val>
                                            <p:fltVal val="0"/>
                                          </p:val>
                                        </p:tav>
                                        <p:tav tm="100000">
                                          <p:val>
                                            <p:strVal val="#ppt_h"/>
                                          </p:val>
                                        </p:tav>
                                      </p:tavLst>
                                    </p:anim>
                                    <p:anim calcmode="lin" valueType="num">
                                      <p:cBhvr>
                                        <p:cTn id="37" dur="1000" fill="hold"/>
                                        <p:tgtEl>
                                          <p:spTgt spid="4">
                                            <p:graphicEl>
                                              <a:dgm id="{D9DB0742-1E3C-44A3-9BC6-25C2F5E12D11}"/>
                                            </p:graphicEl>
                                          </p:spTgt>
                                        </p:tgtEl>
                                        <p:attrNameLst>
                                          <p:attrName>style.rotation</p:attrName>
                                        </p:attrNameLst>
                                      </p:cBhvr>
                                      <p:tavLst>
                                        <p:tav tm="0">
                                          <p:val>
                                            <p:fltVal val="90"/>
                                          </p:val>
                                        </p:tav>
                                        <p:tav tm="100000">
                                          <p:val>
                                            <p:fltVal val="0"/>
                                          </p:val>
                                        </p:tav>
                                      </p:tavLst>
                                    </p:anim>
                                    <p:animEffect transition="in" filter="fade">
                                      <p:cBhvr>
                                        <p:cTn id="38" dur="1000"/>
                                        <p:tgtEl>
                                          <p:spTgt spid="4">
                                            <p:graphicEl>
                                              <a:dgm id="{D9DB0742-1E3C-44A3-9BC6-25C2F5E12D11}"/>
                                            </p:graphicEl>
                                          </p:spTgt>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4">
                                            <p:graphicEl>
                                              <a:dgm id="{1E489432-A4EF-483F-932E-1514C00366E9}"/>
                                            </p:graphicEl>
                                          </p:spTgt>
                                        </p:tgtEl>
                                        <p:attrNameLst>
                                          <p:attrName>style.visibility</p:attrName>
                                        </p:attrNameLst>
                                      </p:cBhvr>
                                      <p:to>
                                        <p:strVal val="visible"/>
                                      </p:to>
                                    </p:set>
                                    <p:anim calcmode="lin" valueType="num">
                                      <p:cBhvr>
                                        <p:cTn id="43" dur="1000" fill="hold"/>
                                        <p:tgtEl>
                                          <p:spTgt spid="4">
                                            <p:graphicEl>
                                              <a:dgm id="{1E489432-A4EF-483F-932E-1514C00366E9}"/>
                                            </p:graphicEl>
                                          </p:spTgt>
                                        </p:tgtEl>
                                        <p:attrNameLst>
                                          <p:attrName>ppt_w</p:attrName>
                                        </p:attrNameLst>
                                      </p:cBhvr>
                                      <p:tavLst>
                                        <p:tav tm="0">
                                          <p:val>
                                            <p:fltVal val="0"/>
                                          </p:val>
                                        </p:tav>
                                        <p:tav tm="100000">
                                          <p:val>
                                            <p:strVal val="#ppt_w"/>
                                          </p:val>
                                        </p:tav>
                                      </p:tavLst>
                                    </p:anim>
                                    <p:anim calcmode="lin" valueType="num">
                                      <p:cBhvr>
                                        <p:cTn id="44" dur="1000" fill="hold"/>
                                        <p:tgtEl>
                                          <p:spTgt spid="4">
                                            <p:graphicEl>
                                              <a:dgm id="{1E489432-A4EF-483F-932E-1514C00366E9}"/>
                                            </p:graphicEl>
                                          </p:spTgt>
                                        </p:tgtEl>
                                        <p:attrNameLst>
                                          <p:attrName>ppt_h</p:attrName>
                                        </p:attrNameLst>
                                      </p:cBhvr>
                                      <p:tavLst>
                                        <p:tav tm="0">
                                          <p:val>
                                            <p:fltVal val="0"/>
                                          </p:val>
                                        </p:tav>
                                        <p:tav tm="100000">
                                          <p:val>
                                            <p:strVal val="#ppt_h"/>
                                          </p:val>
                                        </p:tav>
                                      </p:tavLst>
                                    </p:anim>
                                    <p:anim calcmode="lin" valueType="num">
                                      <p:cBhvr>
                                        <p:cTn id="45" dur="1000" fill="hold"/>
                                        <p:tgtEl>
                                          <p:spTgt spid="4">
                                            <p:graphicEl>
                                              <a:dgm id="{1E489432-A4EF-483F-932E-1514C00366E9}"/>
                                            </p:graphicEl>
                                          </p:spTgt>
                                        </p:tgtEl>
                                        <p:attrNameLst>
                                          <p:attrName>style.rotation</p:attrName>
                                        </p:attrNameLst>
                                      </p:cBhvr>
                                      <p:tavLst>
                                        <p:tav tm="0">
                                          <p:val>
                                            <p:fltVal val="90"/>
                                          </p:val>
                                        </p:tav>
                                        <p:tav tm="100000">
                                          <p:val>
                                            <p:fltVal val="0"/>
                                          </p:val>
                                        </p:tav>
                                      </p:tavLst>
                                    </p:anim>
                                    <p:animEffect transition="in" filter="fade">
                                      <p:cBhvr>
                                        <p:cTn id="46" dur="1000"/>
                                        <p:tgtEl>
                                          <p:spTgt spid="4">
                                            <p:graphicEl>
                                              <a:dgm id="{1E489432-A4EF-483F-932E-1514C00366E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2787</TotalTime>
  <Words>1892</Words>
  <Application>Microsoft Office PowerPoint</Application>
  <PresentationFormat>Widescreen</PresentationFormat>
  <Paragraphs>263</Paragraphs>
  <Slides>33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Segoe Script</vt:lpstr>
      <vt:lpstr>Times New Roman</vt:lpstr>
      <vt:lpstr>Vrinda</vt:lpstr>
      <vt:lpstr>Office Theme</vt:lpstr>
      <vt:lpstr>PowerPoint Presentation</vt:lpstr>
      <vt:lpstr>Training on Motor Insurance </vt:lpstr>
      <vt:lpstr>PowerPoint Presentation</vt:lpstr>
      <vt:lpstr>Why Needs Motor Insurance?!  </vt:lpstr>
      <vt:lpstr>Document Required for Comprehensive  Motor Insurance</vt:lpstr>
      <vt:lpstr>Major Types of Motor Insurance</vt:lpstr>
      <vt:lpstr>Comprehensive Motor Insurance Policies</vt:lpstr>
      <vt:lpstr>Act Liability Insurance</vt:lpstr>
      <vt:lpstr>PowerPoint Presentation</vt:lpstr>
      <vt:lpstr>Comprehensive (Own Damage) Motor Insurance</vt:lpstr>
      <vt:lpstr>Comprehensive (Own Damage) Motor Insurance Covered </vt:lpstr>
      <vt:lpstr>Premium Calculation (Tariff rate for Comprehensive-Four Wheelers-Private) </vt:lpstr>
      <vt:lpstr>Premium Calculation (Tariff rate for Comprehensive-Four Wheelers-Private) </vt:lpstr>
      <vt:lpstr>Premium Calculation (Tariff rate for Comprehensive-Two Wheelers) </vt:lpstr>
      <vt:lpstr>Premium Calculation (Tariff rate for Comprehensive-Two Wheelers) </vt:lpstr>
      <vt:lpstr>NCB (No Claim Bonus-Comprehensive)</vt:lpstr>
      <vt:lpstr>NCB Process (Comprehensive)</vt:lpstr>
      <vt:lpstr>Automatic Vehicle Location System(AVLS) / Flood, Cyclone &amp; Earthquake Deductible </vt:lpstr>
      <vt:lpstr>Claim Loading for Private Vehicle &amp; Commercial Vehicle (Own Damage Section Only):</vt:lpstr>
      <vt:lpstr>General Exclusion for Motor Insurance</vt:lpstr>
      <vt:lpstr>Basic Terms &amp; Condition:</vt:lpstr>
      <vt:lpstr>Case Study:01</vt:lpstr>
      <vt:lpstr>Case Study:02</vt:lpstr>
      <vt:lpstr>Case Study:03</vt:lpstr>
      <vt:lpstr>Case Study:04</vt:lpstr>
      <vt:lpstr>Case Study:05</vt:lpstr>
      <vt:lpstr>PowerPoint Presentation</vt:lpstr>
      <vt:lpstr>PowerPoint Presentation</vt:lpstr>
      <vt:lpstr>Motor Insurance Claims</vt:lpstr>
      <vt:lpstr>Claims Procedure</vt:lpstr>
      <vt:lpstr>Claims Procedure</vt:lpstr>
      <vt:lpstr>Claims Procedure (Document)</vt:lpstr>
      <vt:lpstr>Claims Settlement Way</vt:lpstr>
    </vt:vector>
  </TitlesOfParts>
  <Manager>S. M. Solaiman (Microsoft Office Specialist)</Manager>
  <Company>Pragati Insurance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Motor insurance policy.</dc:title>
  <dc:creator>S. M. Solaiman</dc:creator>
  <cp:lastModifiedBy>S.M.  Solaiman</cp:lastModifiedBy>
  <cp:revision>192</cp:revision>
  <dcterms:created xsi:type="dcterms:W3CDTF">2023-08-30T05:22:26Z</dcterms:created>
  <dcterms:modified xsi:type="dcterms:W3CDTF">2026-03-01T05:35:55Z</dcterms:modified>
</cp:coreProperties>
</file>